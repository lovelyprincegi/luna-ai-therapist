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Montserrat"/>
      <p:regular r:id="rId37"/>
      <p:bold r:id="rId38"/>
      <p:italic r:id="rId39"/>
      <p:boldItalic r:id="rId40"/>
    </p:embeddedFont>
    <p:embeddedFont>
      <p:font typeface="Oswal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OTAKEMARU"/>
  <p:cmAuthor clrIdx="1" id="1" initials="" lastIdx="1"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5.xml"/><Relationship Id="rId42" Type="http://schemas.openxmlformats.org/officeDocument/2006/relationships/font" Target="fonts/Oswald-bold.fntdata"/><Relationship Id="rId41" Type="http://schemas.openxmlformats.org/officeDocument/2006/relationships/font" Target="fonts/Oswald-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ontserrat-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Montserrat-italic.fntdata"/><Relationship Id="rId16" Type="http://schemas.openxmlformats.org/officeDocument/2006/relationships/slide" Target="slides/slide11.xml"/><Relationship Id="rId38" Type="http://schemas.openxmlformats.org/officeDocument/2006/relationships/font" Target="fonts/Montserrat-bold.fntdata"/><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15T04:54:42.843">
    <p:pos x="6000" y="0"/>
    <p:text>แก้ RQ ไหม่
RQ1: Dissonance framework มันจะดีกว่า method baseline, emotion, multimodal
RQ2: Dissonance framework รันกับ model backbone หลายตัวก็ยังได้ผลลัพธ์ที่ดีกว่า (gpt-4o mini, deepseekv4 pro)</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5-15T07:29:01.039">
    <p:pos x="6000" y="0"/>
    <p:text>ย่อให้สั้นลง</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5-15T07:28:53.653">
    <p:pos x="6000" y="0"/>
    <p:text>ย่อให้สั้นลง</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5-15T06:43:21.753">
    <p:pos x="6000" y="0"/>
    <p:text>บอกความต่างของ Vocal Prosodic Descriptor Extraction จาก libosra ว่าต่างจาก  Vocal Prosodic Descriptor Extraction ยังไง</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5-13T10:30:49.076">
    <p:pos x="6000" y="0"/>
    <p:text>Add baseline on the left to compare how improvement from the dissonance on the right.
Aslo, highlight the word that should express more emphapethic for the model of dissonance in the cha context.
-OTAKEMARU</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Text based cbt → too directive → leads to bad therapeutic alliance</a:t>
            </a:r>
            <a:endParaRPr/>
          </a:p>
          <a:p>
            <a:pPr indent="0" lvl="0" marL="0" rtl="0" algn="l">
              <a:lnSpc>
                <a:spcPct val="100000"/>
              </a:lnSpc>
              <a:spcBef>
                <a:spcPts val="0"/>
              </a:spcBef>
              <a:spcAft>
                <a:spcPts val="0"/>
              </a:spcAft>
              <a:buSzPts val="1100"/>
              <a:buNone/>
            </a:pPr>
            <a:r>
              <a:rPr lang="en"/>
              <a:t>เอา</a:t>
            </a:r>
            <a:endParaRPr/>
          </a:p>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br>
              <a:rPr lang="en">
                <a:solidFill>
                  <a:schemeClr val="dk1"/>
                </a:solidFill>
              </a:rPr>
            </a:br>
            <a:br>
              <a:rPr lang="en">
                <a:solidFill>
                  <a:schemeClr val="dk1"/>
                </a:solidFill>
              </a:rPr>
            </a:br>
            <a:r>
              <a:rPr lang="en">
                <a:solidFill>
                  <a:schemeClr val="dk1"/>
                </a:solidFill>
              </a:rPr>
              <a:t>ทำ Baclgroyund ถึง problem-statement และสรุป MEthtodology ส่าจะทำอะไรบ้าง</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Note: แก้ RQ ให้ดูง่ายขึ้น (ใส่วิธีประมินเข้าไปด้วย แบบ เทียบเป็น average change rate กับ baseline model (context only)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ลูกค้าใช้เวลากี่ turn (utterance) ถึงจะเริ่มเปลี่ยน </a:t>
            </a:r>
            <a:r>
              <a:rPr lang="en">
                <a:solidFill>
                  <a:srgbClr val="252827"/>
                </a:solidFill>
                <a:latin typeface="Montserrat"/>
                <a:ea typeface="Montserrat"/>
                <a:cs typeface="Montserrat"/>
                <a:sym typeface="Montserrat"/>
              </a:rPr>
              <a:t> vocal–affective state in the user (for example, [sadness, slow] → [mixed, slow]) following each therapist reply?</a:t>
            </a:r>
            <a:endParaRPr>
              <a:solidFill>
                <a:srgbClr val="252827"/>
              </a:solidFill>
              <a:latin typeface="Montserrat"/>
              <a:ea typeface="Montserrat"/>
              <a:cs typeface="Montserrat"/>
              <a:sym typeface="Montserrat"/>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เทียบเป็น average change rate กับ baseline model (context only)</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เอา</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91873f42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e91873f420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91873f42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e91873f420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91873f42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e91873f420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91873f42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e91873f420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223f1816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e223f1816a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223f1816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e223f1816a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omments" Target="../comments/commen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omments" Target="../comments/comment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omments" Target="../comments/comment4.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comments" Target="../comments/comment5.xml"/><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23800" y="238125"/>
            <a:ext cx="80964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PROPOSAL PRESENTATION</a:t>
            </a:r>
            <a:endParaRPr b="1" i="0" sz="1100" u="none" cap="none" strike="noStrike">
              <a:solidFill>
                <a:srgbClr val="252827"/>
              </a:solidFill>
              <a:latin typeface="Montserrat"/>
              <a:ea typeface="Montserrat"/>
              <a:cs typeface="Montserrat"/>
              <a:sym typeface="Montserrat"/>
            </a:endParaRPr>
          </a:p>
        </p:txBody>
      </p:sp>
      <p:sp>
        <p:nvSpPr>
          <p:cNvPr id="55" name="Google Shape;55;p13"/>
          <p:cNvSpPr txBox="1"/>
          <p:nvPr/>
        </p:nvSpPr>
        <p:spPr>
          <a:xfrm>
            <a:off x="523800" y="2867500"/>
            <a:ext cx="80964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252827"/>
                </a:solidFill>
                <a:latin typeface="Montserrat"/>
                <a:ea typeface="Montserrat"/>
                <a:cs typeface="Montserrat"/>
                <a:sym typeface="Montserrat"/>
              </a:rPr>
              <a:t>Name Student ID: </a:t>
            </a:r>
            <a:endParaRPr b="0" i="0" sz="1100" u="none" cap="none" strike="noStrike">
              <a:solidFill>
                <a:srgbClr val="252827"/>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Patsakorn Tangkachaiyanunt st124876</a:t>
            </a:r>
            <a:endParaRPr b="1" i="0" sz="1100" u="none" cap="none" strike="noStrike">
              <a:solidFill>
                <a:srgbClr val="252827"/>
              </a:solidFill>
              <a:latin typeface="Montserrat"/>
              <a:ea typeface="Montserrat"/>
              <a:cs typeface="Montserrat"/>
              <a:sym typeface="Montserrat"/>
            </a:endParaRPr>
          </a:p>
        </p:txBody>
      </p:sp>
      <p:sp>
        <p:nvSpPr>
          <p:cNvPr id="56" name="Google Shape;56;p13"/>
          <p:cNvSpPr txBox="1"/>
          <p:nvPr/>
        </p:nvSpPr>
        <p:spPr>
          <a:xfrm>
            <a:off x="523799" y="3562025"/>
            <a:ext cx="8096400" cy="9975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COMMITTEE MEMBERS</a:t>
            </a:r>
            <a:endParaRPr b="1" i="0" sz="1100" u="none" cap="none" strike="noStrike">
              <a:solidFill>
                <a:srgbClr val="252827"/>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rPr b="0" i="0" lang="en" sz="1100" u="none" cap="none" strike="noStrike">
                <a:solidFill>
                  <a:srgbClr val="252827"/>
                </a:solidFill>
                <a:latin typeface="Montserrat"/>
                <a:ea typeface="Montserrat"/>
                <a:cs typeface="Montserrat"/>
                <a:sym typeface="Montserrat"/>
              </a:rPr>
              <a:t>Committee Member (Chairperson)</a:t>
            </a:r>
            <a:endParaRPr b="0" i="0" sz="1100" u="none" cap="none" strike="noStrike">
              <a:solidFill>
                <a:srgbClr val="252827"/>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rPr b="0" i="0" lang="en" sz="1100" u="none" cap="none" strike="noStrike">
                <a:solidFill>
                  <a:srgbClr val="252827"/>
                </a:solidFill>
                <a:latin typeface="Montserrat"/>
                <a:ea typeface="Montserrat"/>
                <a:cs typeface="Montserrat"/>
                <a:sym typeface="Montserrat"/>
              </a:rPr>
              <a:t>Committee Member (Member)</a:t>
            </a:r>
            <a:endParaRPr b="0" i="0" sz="1100" u="none" cap="none" strike="noStrike">
              <a:solidFill>
                <a:srgbClr val="252827"/>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rPr b="0" i="0" lang="en" sz="1100" u="none" cap="none" strike="noStrike">
                <a:solidFill>
                  <a:srgbClr val="252827"/>
                </a:solidFill>
                <a:latin typeface="Montserrat"/>
                <a:ea typeface="Montserrat"/>
                <a:cs typeface="Montserrat"/>
                <a:sym typeface="Montserrat"/>
              </a:rPr>
              <a:t>Committee Member (Member)</a:t>
            </a:r>
            <a:endParaRPr b="0" i="0" sz="1100" u="none" cap="none" strike="noStrike">
              <a:solidFill>
                <a:srgbClr val="252827"/>
              </a:solidFill>
              <a:latin typeface="Montserrat"/>
              <a:ea typeface="Montserrat"/>
              <a:cs typeface="Montserrat"/>
              <a:sym typeface="Montserrat"/>
            </a:endParaRPr>
          </a:p>
        </p:txBody>
      </p:sp>
      <p:sp>
        <p:nvSpPr>
          <p:cNvPr id="57" name="Google Shape;57;p13"/>
          <p:cNvSpPr txBox="1"/>
          <p:nvPr/>
        </p:nvSpPr>
        <p:spPr>
          <a:xfrm>
            <a:off x="523800" y="1277113"/>
            <a:ext cx="80964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252827"/>
                </a:solidFill>
                <a:latin typeface="Montserrat"/>
                <a:ea typeface="Montserrat"/>
                <a:cs typeface="Montserrat"/>
                <a:sym typeface="Montserrat"/>
              </a:rPr>
              <a:t>Luna AI Therapist: Leveraging Vocal Cues and CBT for Advanced Emotional Detection and Intervention</a:t>
            </a:r>
            <a:endParaRPr b="1" i="0" sz="2000" u="none" cap="none" strike="noStrike">
              <a:solidFill>
                <a:schemeClr val="accen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t/>
            </a:r>
            <a:endParaRPr b="1" i="0" sz="2000" u="none" cap="none" strike="noStrike">
              <a:solidFill>
                <a:srgbClr val="252827"/>
              </a:solidFill>
              <a:latin typeface="Oswald"/>
              <a:ea typeface="Oswald"/>
              <a:cs typeface="Oswald"/>
              <a:sym typeface="Oswald"/>
            </a:endParaRPr>
          </a:p>
        </p:txBody>
      </p:sp>
      <p:sp>
        <p:nvSpPr>
          <p:cNvPr id="58" name="Google Shape;58;p13"/>
          <p:cNvSpPr/>
          <p:nvPr/>
        </p:nvSpPr>
        <p:spPr>
          <a:xfrm>
            <a:off x="4066350" y="652400"/>
            <a:ext cx="1011300" cy="480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60" name="Google Shape;60;p13"/>
          <p:cNvPicPr preferRelativeResize="0"/>
          <p:nvPr/>
        </p:nvPicPr>
        <p:blipFill rotWithShape="1">
          <a:blip r:embed="rId3">
            <a:alphaModFix/>
          </a:blip>
          <a:srcRect b="0" l="0" r="0" t="0"/>
          <a:stretch/>
        </p:blipFill>
        <p:spPr>
          <a:xfrm>
            <a:off x="8396600" y="64925"/>
            <a:ext cx="700399" cy="7003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4" name="Shape 64"/>
        <p:cNvGrpSpPr/>
        <p:nvPr/>
      </p:nvGrpSpPr>
      <p:grpSpPr>
        <a:xfrm>
          <a:off x="0" y="0"/>
          <a:ext cx="0" cy="0"/>
          <a:chOff x="0" y="0"/>
          <a:chExt cx="0" cy="0"/>
        </a:xfrm>
      </p:grpSpPr>
      <p:sp>
        <p:nvSpPr>
          <p:cNvPr id="65" name="Google Shape;65;p14"/>
          <p:cNvSpPr/>
          <p:nvPr/>
        </p:nvSpPr>
        <p:spPr>
          <a:xfrm>
            <a:off x="0" y="4852500"/>
            <a:ext cx="9144000" cy="291000"/>
          </a:xfrm>
          <a:prstGeom prst="rect">
            <a:avLst/>
          </a:prstGeom>
          <a:solidFill>
            <a:srgbClr val="25282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4"/>
          <p:cNvSpPr txBox="1"/>
          <p:nvPr/>
        </p:nvSpPr>
        <p:spPr>
          <a:xfrm>
            <a:off x="579275" y="2117375"/>
            <a:ext cx="30948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rgbClr val="252827"/>
                </a:solidFill>
                <a:latin typeface="Oswald"/>
                <a:ea typeface="Oswald"/>
                <a:cs typeface="Oswald"/>
                <a:sym typeface="Oswald"/>
              </a:rPr>
              <a:t>TABLE OF</a:t>
            </a:r>
            <a:r>
              <a:rPr b="1" i="0" lang="en" sz="2800" u="none" cap="none" strike="noStrike">
                <a:solidFill>
                  <a:srgbClr val="252827"/>
                </a:solidFill>
                <a:latin typeface="Oswald"/>
                <a:ea typeface="Oswald"/>
                <a:cs typeface="Oswald"/>
                <a:sym typeface="Oswald"/>
              </a:rPr>
              <a:t> CONTENTS</a:t>
            </a:r>
            <a:endParaRPr b="1" i="0" sz="2800" u="none" cap="none" strike="noStrike">
              <a:solidFill>
                <a:srgbClr val="F8CF2C"/>
              </a:solidFill>
              <a:latin typeface="Oswald"/>
              <a:ea typeface="Oswald"/>
              <a:cs typeface="Oswald"/>
              <a:sym typeface="Oswald"/>
            </a:endParaRPr>
          </a:p>
        </p:txBody>
      </p:sp>
      <p:sp>
        <p:nvSpPr>
          <p:cNvPr id="67" name="Google Shape;67;p14"/>
          <p:cNvSpPr txBox="1"/>
          <p:nvPr/>
        </p:nvSpPr>
        <p:spPr>
          <a:xfrm>
            <a:off x="5667125" y="564550"/>
            <a:ext cx="2692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252827"/>
                </a:solidFill>
                <a:latin typeface="Oswald"/>
                <a:ea typeface="Oswald"/>
                <a:cs typeface="Oswald"/>
                <a:sym typeface="Oswald"/>
              </a:rPr>
              <a:t>BACKGROUND</a:t>
            </a:r>
            <a:endParaRPr b="1" i="0" sz="1900" u="none" cap="none" strike="noStrike">
              <a:solidFill>
                <a:srgbClr val="F8CF2C"/>
              </a:solidFill>
              <a:latin typeface="Oswald"/>
              <a:ea typeface="Oswald"/>
              <a:cs typeface="Oswald"/>
              <a:sym typeface="Oswald"/>
            </a:endParaRPr>
          </a:p>
        </p:txBody>
      </p:sp>
      <p:sp>
        <p:nvSpPr>
          <p:cNvPr id="68" name="Google Shape;68;p14"/>
          <p:cNvSpPr txBox="1"/>
          <p:nvPr/>
        </p:nvSpPr>
        <p:spPr>
          <a:xfrm>
            <a:off x="5667125" y="1259375"/>
            <a:ext cx="2692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252827"/>
                </a:solidFill>
                <a:latin typeface="Oswald"/>
                <a:ea typeface="Oswald"/>
                <a:cs typeface="Oswald"/>
                <a:sym typeface="Oswald"/>
              </a:rPr>
              <a:t>RELATED WORK</a:t>
            </a:r>
            <a:endParaRPr b="1" i="0" sz="1900" u="none" cap="none" strike="noStrike">
              <a:solidFill>
                <a:srgbClr val="F8CF2C"/>
              </a:solidFill>
              <a:latin typeface="Oswald"/>
              <a:ea typeface="Oswald"/>
              <a:cs typeface="Oswald"/>
              <a:sym typeface="Oswald"/>
            </a:endParaRPr>
          </a:p>
        </p:txBody>
      </p:sp>
      <p:sp>
        <p:nvSpPr>
          <p:cNvPr id="69" name="Google Shape;69;p14"/>
          <p:cNvSpPr txBox="1"/>
          <p:nvPr/>
        </p:nvSpPr>
        <p:spPr>
          <a:xfrm>
            <a:off x="5667125" y="1970975"/>
            <a:ext cx="30573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252827"/>
                </a:solidFill>
                <a:latin typeface="Oswald"/>
                <a:ea typeface="Oswald"/>
                <a:cs typeface="Oswald"/>
                <a:sym typeface="Oswald"/>
              </a:rPr>
              <a:t>METHODOLOGY</a:t>
            </a:r>
            <a:endParaRPr b="1" i="0" sz="1900" u="none" cap="none" strike="noStrike">
              <a:solidFill>
                <a:srgbClr val="F8CF2C"/>
              </a:solidFill>
              <a:latin typeface="Oswald"/>
              <a:ea typeface="Oswald"/>
              <a:cs typeface="Oswald"/>
              <a:sym typeface="Oswald"/>
            </a:endParaRPr>
          </a:p>
        </p:txBody>
      </p:sp>
      <p:sp>
        <p:nvSpPr>
          <p:cNvPr id="70" name="Google Shape;70;p14"/>
          <p:cNvSpPr txBox="1"/>
          <p:nvPr/>
        </p:nvSpPr>
        <p:spPr>
          <a:xfrm>
            <a:off x="5667125" y="2725938"/>
            <a:ext cx="2692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252827"/>
                </a:solidFill>
                <a:latin typeface="Oswald"/>
                <a:ea typeface="Oswald"/>
                <a:cs typeface="Oswald"/>
                <a:sym typeface="Oswald"/>
              </a:rPr>
              <a:t>EXPERIMENT</a:t>
            </a:r>
            <a:endParaRPr b="1" i="0" sz="1900" u="none" cap="none" strike="noStrike">
              <a:solidFill>
                <a:srgbClr val="F8CF2C"/>
              </a:solidFill>
              <a:latin typeface="Oswald"/>
              <a:ea typeface="Oswald"/>
              <a:cs typeface="Oswald"/>
              <a:sym typeface="Oswald"/>
            </a:endParaRPr>
          </a:p>
        </p:txBody>
      </p:sp>
      <p:sp>
        <p:nvSpPr>
          <p:cNvPr id="71" name="Google Shape;71;p14"/>
          <p:cNvSpPr txBox="1"/>
          <p:nvPr/>
        </p:nvSpPr>
        <p:spPr>
          <a:xfrm>
            <a:off x="4734800" y="479800"/>
            <a:ext cx="67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252827"/>
                </a:solidFill>
                <a:latin typeface="Oswald"/>
                <a:ea typeface="Oswald"/>
                <a:cs typeface="Oswald"/>
                <a:sym typeface="Oswald"/>
              </a:rPr>
              <a:t>01</a:t>
            </a:r>
            <a:endParaRPr b="1" i="0" sz="3000" u="none" cap="none" strike="noStrike">
              <a:solidFill>
                <a:srgbClr val="F8CF2C"/>
              </a:solidFill>
              <a:latin typeface="Oswald"/>
              <a:ea typeface="Oswald"/>
              <a:cs typeface="Oswald"/>
              <a:sym typeface="Oswald"/>
            </a:endParaRPr>
          </a:p>
        </p:txBody>
      </p:sp>
      <p:sp>
        <p:nvSpPr>
          <p:cNvPr id="72" name="Google Shape;72;p14"/>
          <p:cNvSpPr txBox="1"/>
          <p:nvPr/>
        </p:nvSpPr>
        <p:spPr>
          <a:xfrm>
            <a:off x="4734800" y="1174625"/>
            <a:ext cx="67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252827"/>
                </a:solidFill>
                <a:latin typeface="Oswald"/>
                <a:ea typeface="Oswald"/>
                <a:cs typeface="Oswald"/>
                <a:sym typeface="Oswald"/>
              </a:rPr>
              <a:t>02</a:t>
            </a:r>
            <a:endParaRPr b="1" i="0" sz="3000" u="none" cap="none" strike="noStrike">
              <a:solidFill>
                <a:srgbClr val="F8CF2C"/>
              </a:solidFill>
              <a:latin typeface="Oswald"/>
              <a:ea typeface="Oswald"/>
              <a:cs typeface="Oswald"/>
              <a:sym typeface="Oswald"/>
            </a:endParaRPr>
          </a:p>
        </p:txBody>
      </p:sp>
      <p:sp>
        <p:nvSpPr>
          <p:cNvPr id="73" name="Google Shape;73;p14"/>
          <p:cNvSpPr txBox="1"/>
          <p:nvPr/>
        </p:nvSpPr>
        <p:spPr>
          <a:xfrm>
            <a:off x="4734800" y="1904150"/>
            <a:ext cx="67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252827"/>
                </a:solidFill>
                <a:latin typeface="Oswald"/>
                <a:ea typeface="Oswald"/>
                <a:cs typeface="Oswald"/>
                <a:sym typeface="Oswald"/>
              </a:rPr>
              <a:t>03</a:t>
            </a:r>
            <a:endParaRPr b="1" i="0" sz="3000" u="none" cap="none" strike="noStrike">
              <a:solidFill>
                <a:srgbClr val="F8CF2C"/>
              </a:solidFill>
              <a:latin typeface="Oswald"/>
              <a:ea typeface="Oswald"/>
              <a:cs typeface="Oswald"/>
              <a:sym typeface="Oswald"/>
            </a:endParaRPr>
          </a:p>
        </p:txBody>
      </p:sp>
      <p:sp>
        <p:nvSpPr>
          <p:cNvPr id="74" name="Google Shape;74;p14"/>
          <p:cNvSpPr txBox="1"/>
          <p:nvPr/>
        </p:nvSpPr>
        <p:spPr>
          <a:xfrm>
            <a:off x="4734800" y="2616325"/>
            <a:ext cx="67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252827"/>
                </a:solidFill>
                <a:latin typeface="Oswald"/>
                <a:ea typeface="Oswald"/>
                <a:cs typeface="Oswald"/>
                <a:sym typeface="Oswald"/>
              </a:rPr>
              <a:t>04</a:t>
            </a:r>
            <a:endParaRPr b="1" i="0" sz="3000" u="none" cap="none" strike="noStrike">
              <a:solidFill>
                <a:srgbClr val="F8CF2C"/>
              </a:solidFill>
              <a:latin typeface="Oswald"/>
              <a:ea typeface="Oswald"/>
              <a:cs typeface="Oswald"/>
              <a:sym typeface="Oswald"/>
            </a:endParaRPr>
          </a:p>
        </p:txBody>
      </p:sp>
      <p:sp>
        <p:nvSpPr>
          <p:cNvPr id="75" name="Google Shape;75;p14"/>
          <p:cNvSpPr/>
          <p:nvPr/>
        </p:nvSpPr>
        <p:spPr>
          <a:xfrm>
            <a:off x="4839575" y="1022175"/>
            <a:ext cx="3094800" cy="480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76" name="Google Shape;76;p14"/>
          <p:cNvSpPr/>
          <p:nvPr/>
        </p:nvSpPr>
        <p:spPr>
          <a:xfrm>
            <a:off x="4839575" y="1808000"/>
            <a:ext cx="3094800" cy="480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77" name="Google Shape;77;p14"/>
          <p:cNvSpPr/>
          <p:nvPr/>
        </p:nvSpPr>
        <p:spPr>
          <a:xfrm>
            <a:off x="4839575" y="2546250"/>
            <a:ext cx="3094800" cy="480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78" name="Google Shape;78;p14"/>
          <p:cNvSpPr/>
          <p:nvPr/>
        </p:nvSpPr>
        <p:spPr>
          <a:xfrm>
            <a:off x="4839575" y="3327300"/>
            <a:ext cx="3094800" cy="480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79" name="Google Shape;79;p14"/>
          <p:cNvSpPr txBox="1"/>
          <p:nvPr/>
        </p:nvSpPr>
        <p:spPr>
          <a:xfrm>
            <a:off x="5667125" y="3564138"/>
            <a:ext cx="2692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252827"/>
                </a:solidFill>
                <a:latin typeface="Oswald"/>
                <a:ea typeface="Oswald"/>
                <a:cs typeface="Oswald"/>
                <a:sym typeface="Oswald"/>
              </a:rPr>
              <a:t>EXPECTED RESULT</a:t>
            </a:r>
            <a:endParaRPr b="1" i="0" sz="1900" u="none" cap="none" strike="noStrike">
              <a:solidFill>
                <a:srgbClr val="F8CF2C"/>
              </a:solidFill>
              <a:latin typeface="Oswald"/>
              <a:ea typeface="Oswald"/>
              <a:cs typeface="Oswald"/>
              <a:sym typeface="Oswald"/>
            </a:endParaRPr>
          </a:p>
        </p:txBody>
      </p:sp>
      <p:sp>
        <p:nvSpPr>
          <p:cNvPr id="80" name="Google Shape;80;p14"/>
          <p:cNvSpPr txBox="1"/>
          <p:nvPr/>
        </p:nvSpPr>
        <p:spPr>
          <a:xfrm>
            <a:off x="4734800" y="3454525"/>
            <a:ext cx="67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252827"/>
                </a:solidFill>
                <a:latin typeface="Oswald"/>
                <a:ea typeface="Oswald"/>
                <a:cs typeface="Oswald"/>
                <a:sym typeface="Oswald"/>
              </a:rPr>
              <a:t>05</a:t>
            </a:r>
            <a:endParaRPr b="1" i="0" sz="3000" u="none" cap="none" strike="noStrike">
              <a:solidFill>
                <a:srgbClr val="F8CF2C"/>
              </a:solidFill>
              <a:latin typeface="Oswald"/>
              <a:ea typeface="Oswald"/>
              <a:cs typeface="Oswald"/>
              <a:sym typeface="Oswald"/>
            </a:endParaRPr>
          </a:p>
        </p:txBody>
      </p:sp>
      <p:sp>
        <p:nvSpPr>
          <p:cNvPr id="81" name="Google Shape;81;p14"/>
          <p:cNvSpPr/>
          <p:nvPr/>
        </p:nvSpPr>
        <p:spPr>
          <a:xfrm>
            <a:off x="4839575" y="4165500"/>
            <a:ext cx="3094800" cy="480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82" name="Google Shape;8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6" name="Shape 86"/>
        <p:cNvGrpSpPr/>
        <p:nvPr/>
      </p:nvGrpSpPr>
      <p:grpSpPr>
        <a:xfrm>
          <a:off x="0" y="0"/>
          <a:ext cx="0" cy="0"/>
          <a:chOff x="0" y="0"/>
          <a:chExt cx="0" cy="0"/>
        </a:xfrm>
      </p:grpSpPr>
      <p:sp>
        <p:nvSpPr>
          <p:cNvPr id="87" name="Google Shape;87;p15"/>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00000"/>
              </a:lnSpc>
              <a:spcBef>
                <a:spcPts val="0"/>
              </a:spcBef>
              <a:spcAft>
                <a:spcPts val="0"/>
              </a:spcAft>
              <a:buClr>
                <a:srgbClr val="252827"/>
              </a:buClr>
              <a:buSzPts val="2300"/>
              <a:buFont typeface="Oswald"/>
              <a:buAutoNum type="arabicPeriod"/>
            </a:pPr>
            <a:r>
              <a:rPr b="1" i="0" lang="en" sz="2300" u="none" cap="none" strike="noStrike">
                <a:solidFill>
                  <a:srgbClr val="252827"/>
                </a:solidFill>
                <a:latin typeface="Oswald"/>
                <a:ea typeface="Oswald"/>
                <a:cs typeface="Oswald"/>
                <a:sym typeface="Oswald"/>
              </a:rPr>
              <a:t>INTRODUCTION</a:t>
            </a:r>
            <a:endParaRPr b="1" i="0" sz="2300" u="none" cap="none" strike="noStrike">
              <a:solidFill>
                <a:srgbClr val="F8CF2C"/>
              </a:solidFill>
              <a:latin typeface="Oswald"/>
              <a:ea typeface="Oswald"/>
              <a:cs typeface="Oswald"/>
              <a:sym typeface="Oswald"/>
            </a:endParaRPr>
          </a:p>
        </p:txBody>
      </p:sp>
      <p:sp>
        <p:nvSpPr>
          <p:cNvPr id="88" name="Google Shape;88;p15"/>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89" name="Google Shape;8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90" name="Google Shape;90;p15"/>
          <p:cNvSpPr txBox="1"/>
          <p:nvPr/>
        </p:nvSpPr>
        <p:spPr>
          <a:xfrm>
            <a:off x="510450" y="1194900"/>
            <a:ext cx="7566300" cy="1031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t>In recent years, growing public awareness of mental health has sharply increased the demand for accessible psychological support, accelerating efforts to use LLMs as synthetic counseling agents. Cognitive Behavioral Therapy (CBT) stands out as one of the most effective non-pharmacological methods, proven to enhance well-being and reduce stress. Research such as CACTUS (Lee et al., 2024) demonstrates that LLMs can successfully generate structured, multi-turn CBT counseling dialogues.</a:t>
            </a:r>
            <a:endParaRPr sz="1100"/>
          </a:p>
        </p:txBody>
      </p:sp>
      <p:sp>
        <p:nvSpPr>
          <p:cNvPr id="91" name="Google Shape;91;p15"/>
          <p:cNvSpPr txBox="1"/>
          <p:nvPr/>
        </p:nvSpPr>
        <p:spPr>
          <a:xfrm>
            <a:off x="510450" y="2217208"/>
            <a:ext cx="75663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t>However, most CBT-oriented LLM systems remain fundamentally text-only. They excel at understanding what a client says—but fail to perceive how they say it. Clinicians have long recognized that vocal cues such as pitch, loudness, and speaking rate are powerful indicators of a person's emotional and cognitive state. The human voice is a highly sensitive output system, affected by conditions like depression, anxiety, and emotional distress.</a:t>
            </a:r>
            <a:endParaRPr sz="1100"/>
          </a:p>
        </p:txBody>
      </p:sp>
      <p:sp>
        <p:nvSpPr>
          <p:cNvPr id="92" name="Google Shape;92;p15"/>
          <p:cNvSpPr txBox="1"/>
          <p:nvPr/>
        </p:nvSpPr>
        <p:spPr>
          <a:xfrm>
            <a:off x="510450" y="3064819"/>
            <a:ext cx="7566300" cy="1200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t>This limitation leaves a critical gap in therapeutic AI. A client may say "I'm fine" while their voice sounds flat, tense, or on the verge of tears. When such emotional subtext is missed, opportunities for deeper empathy and therapeutic intervention are lost. Recent work in other domains (Sun et al., 2024) shows that vocal cues significantly improve LLM decision-making in ambiguous situations. The urgent challenge is applying this principle to therapy: building a framework that integrates vocal cue analysis into an interactive AI therapist capable of detecting hidden emotional states and responding with appropriate CBT-based guidance.</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6" name="Shape 96"/>
        <p:cNvGrpSpPr/>
        <p:nvPr/>
      </p:nvGrpSpPr>
      <p:grpSpPr>
        <a:xfrm>
          <a:off x="0" y="0"/>
          <a:ext cx="0" cy="0"/>
          <a:chOff x="0" y="0"/>
          <a:chExt cx="0" cy="0"/>
        </a:xfrm>
      </p:grpSpPr>
      <p:sp>
        <p:nvSpPr>
          <p:cNvPr id="97" name="Google Shape;97;p16"/>
          <p:cNvSpPr txBox="1"/>
          <p:nvPr/>
        </p:nvSpPr>
        <p:spPr>
          <a:xfrm>
            <a:off x="418025" y="468350"/>
            <a:ext cx="4936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1.1 RESEARCH QUESTIONS</a:t>
            </a:r>
            <a:endParaRPr b="1" i="0" sz="2300" u="none" cap="none" strike="noStrike">
              <a:solidFill>
                <a:srgbClr val="F8CF2C"/>
              </a:solidFill>
              <a:latin typeface="Oswald"/>
              <a:ea typeface="Oswald"/>
              <a:cs typeface="Oswald"/>
              <a:sym typeface="Oswald"/>
            </a:endParaRPr>
          </a:p>
        </p:txBody>
      </p:sp>
      <p:sp>
        <p:nvSpPr>
          <p:cNvPr id="98" name="Google Shape;98;p16"/>
          <p:cNvSpPr txBox="1"/>
          <p:nvPr/>
        </p:nvSpPr>
        <p:spPr>
          <a:xfrm>
            <a:off x="510450" y="1508500"/>
            <a:ext cx="8367300" cy="938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100"/>
              <a:buFont typeface="Arial"/>
              <a:buNone/>
            </a:pPr>
            <a:r>
              <a:rPr b="1" lang="en" sz="1100">
                <a:solidFill>
                  <a:srgbClr val="252827"/>
                </a:solidFill>
                <a:latin typeface="Montserrat"/>
                <a:ea typeface="Montserrat"/>
                <a:cs typeface="Montserrat"/>
                <a:sym typeface="Montserrat"/>
              </a:rPr>
              <a:t>RQ1 -- Dissonance Advantage:</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0"/>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Does the Dissonance-Aware therapist framework, which computes emotional mismatch (VA delta) between text and speech, consistently outperform Baseline (text-only), Emotion (text+VA), and Multimodal (text+speech+VA, without dissonance) methods on measurable therapeutic quality metrics?</a:t>
            </a:r>
            <a:endParaRPr b="0" i="0" sz="1100" u="none" cap="none" strike="noStrike">
              <a:solidFill>
                <a:srgbClr val="252827"/>
              </a:solidFill>
              <a:latin typeface="Montserrat"/>
              <a:ea typeface="Montserrat"/>
              <a:cs typeface="Montserrat"/>
              <a:sym typeface="Montserrat"/>
            </a:endParaRPr>
          </a:p>
        </p:txBody>
      </p:sp>
      <p:sp>
        <p:nvSpPr>
          <p:cNvPr id="99" name="Google Shape;9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0" name="Google Shape;100;p16"/>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01" name="Google Shape;101;p16"/>
          <p:cNvSpPr txBox="1"/>
          <p:nvPr/>
        </p:nvSpPr>
        <p:spPr>
          <a:xfrm>
            <a:off x="510450" y="2859725"/>
            <a:ext cx="8367300" cy="938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100"/>
              <a:buFont typeface="Arial"/>
              <a:buNone/>
            </a:pPr>
            <a:r>
              <a:rPr b="1" lang="en" sz="1100">
                <a:solidFill>
                  <a:srgbClr val="252827"/>
                </a:solidFill>
                <a:latin typeface="Montserrat"/>
                <a:ea typeface="Montserrat"/>
                <a:cs typeface="Montserrat"/>
                <a:sym typeface="Montserrat"/>
              </a:rPr>
              <a:t>RQ2 -- Backbone Robustness:</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0"/>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Is the advantage of the Dissonance-Aware framework robust across different LLM backbones? Specifically, does the dissonance signal provide consistent performance gains when the underlying therapist LLM is changed (e.g., GPT-4o mini vs.\ DeepSeek V4 Pro vs.\ other models)?</a:t>
            </a:r>
            <a:endParaRPr b="0" i="0" sz="1100" u="none" cap="none" strike="noStrike">
              <a:solidFill>
                <a:srgbClr val="252827"/>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5" name="Shape 105"/>
        <p:cNvGrpSpPr/>
        <p:nvPr/>
      </p:nvGrpSpPr>
      <p:grpSpPr>
        <a:xfrm>
          <a:off x="0" y="0"/>
          <a:ext cx="0" cy="0"/>
          <a:chOff x="0" y="0"/>
          <a:chExt cx="0" cy="0"/>
        </a:xfrm>
      </p:grpSpPr>
      <p:sp>
        <p:nvSpPr>
          <p:cNvPr id="106" name="Google Shape;106;p17"/>
          <p:cNvSpPr txBox="1"/>
          <p:nvPr/>
        </p:nvSpPr>
        <p:spPr>
          <a:xfrm>
            <a:off x="418025" y="468350"/>
            <a:ext cx="4936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1.2 HYPOTHESIS</a:t>
            </a:r>
            <a:endParaRPr b="1" i="0" sz="2300" u="none" cap="none" strike="noStrike">
              <a:solidFill>
                <a:srgbClr val="F8CF2C"/>
              </a:solidFill>
              <a:latin typeface="Oswald"/>
              <a:ea typeface="Oswald"/>
              <a:cs typeface="Oswald"/>
              <a:sym typeface="Oswald"/>
            </a:endParaRPr>
          </a:p>
        </p:txBody>
      </p:sp>
      <p:sp>
        <p:nvSpPr>
          <p:cNvPr id="107" name="Google Shape;107;p17"/>
          <p:cNvSpPr txBox="1"/>
          <p:nvPr/>
        </p:nvSpPr>
        <p:spPr>
          <a:xfrm>
            <a:off x="510450" y="1449000"/>
            <a:ext cx="8367300" cy="1143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lang="en" sz="1100">
                <a:solidFill>
                  <a:srgbClr val="252827"/>
                </a:solidFill>
                <a:latin typeface="Montserrat"/>
                <a:ea typeface="Montserrat"/>
                <a:cs typeface="Montserrat"/>
                <a:sym typeface="Montserrat"/>
              </a:rPr>
              <a:t>H1 (Dissonance Advantage -- RQ1):</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The Dissonance-Aware therapist will achieve the highest (or tied-highest) scores on all seven evaluation metrics---Understanding, Interpersonal Effectiveness, Affective Bond, CTRS Collaboration, Guided Discovery, Focus, and Strategy---compared to Baseline, Emotion (Text-Only), and Multimodal (Vocal-Aware) conditions.</a:t>
            </a:r>
            <a:endParaRPr sz="1100">
              <a:solidFill>
                <a:srgbClr val="252827"/>
              </a:solidFill>
              <a:latin typeface="Montserrat"/>
              <a:ea typeface="Montserrat"/>
              <a:cs typeface="Montserrat"/>
              <a:sym typeface="Montserrat"/>
            </a:endParaRPr>
          </a:p>
        </p:txBody>
      </p:sp>
      <p:sp>
        <p:nvSpPr>
          <p:cNvPr id="108" name="Google Shape;10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9" name="Google Shape;109;p17"/>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10" name="Google Shape;110;p17"/>
          <p:cNvSpPr txBox="1"/>
          <p:nvPr/>
        </p:nvSpPr>
        <p:spPr>
          <a:xfrm>
            <a:off x="510450" y="2829450"/>
            <a:ext cx="8367300" cy="1143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lang="en" sz="1100">
                <a:solidFill>
                  <a:srgbClr val="252827"/>
                </a:solidFill>
                <a:latin typeface="Montserrat"/>
                <a:ea typeface="Montserrat"/>
                <a:cs typeface="Montserrat"/>
                <a:sym typeface="Montserrat"/>
              </a:rPr>
              <a:t>H2 (Backbone Robustness -- RQ2):</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The performance advantage of the Dissonance-Aware framework over the other three conditions will persist across different LLM backbones, with the delta-driven dissonance signal providing a consistent, architecture-independent improvement.</a:t>
            </a:r>
            <a:endParaRPr b="0" i="0" sz="1100" u="none" cap="none" strike="noStrike">
              <a:solidFill>
                <a:srgbClr val="252827"/>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4" name="Shape 114"/>
        <p:cNvGrpSpPr/>
        <p:nvPr/>
      </p:nvGrpSpPr>
      <p:grpSpPr>
        <a:xfrm>
          <a:off x="0" y="0"/>
          <a:ext cx="0" cy="0"/>
          <a:chOff x="0" y="0"/>
          <a:chExt cx="0" cy="0"/>
        </a:xfrm>
      </p:grpSpPr>
      <p:sp>
        <p:nvSpPr>
          <p:cNvPr id="115" name="Google Shape;115;p18"/>
          <p:cNvSpPr txBox="1"/>
          <p:nvPr/>
        </p:nvSpPr>
        <p:spPr>
          <a:xfrm>
            <a:off x="418025" y="468350"/>
            <a:ext cx="49368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1.3 OBJECTIVES </a:t>
            </a:r>
            <a:endParaRPr b="1" i="0" sz="2300" u="none" cap="none" strike="noStrike">
              <a:solidFill>
                <a:srgbClr val="F8CF2C"/>
              </a:solidFill>
              <a:latin typeface="Oswald"/>
              <a:ea typeface="Oswald"/>
              <a:cs typeface="Oswald"/>
              <a:sym typeface="Oswald"/>
            </a:endParaRPr>
          </a:p>
        </p:txBody>
      </p:sp>
      <p:sp>
        <p:nvSpPr>
          <p:cNvPr id="116" name="Google Shape;116;p18"/>
          <p:cNvSpPr txBox="1"/>
          <p:nvPr/>
        </p:nvSpPr>
        <p:spPr>
          <a:xfrm>
            <a:off x="510450" y="1406475"/>
            <a:ext cx="8367300" cy="1543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Objective </a:t>
            </a:r>
            <a:r>
              <a:rPr b="1" lang="en" sz="1100">
                <a:solidFill>
                  <a:srgbClr val="252827"/>
                </a:solidFill>
                <a:latin typeface="Montserrat"/>
                <a:ea typeface="Montserrat"/>
                <a:cs typeface="Montserrat"/>
                <a:sym typeface="Montserrat"/>
              </a:rPr>
              <a:t>1</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To construct a multimodal emotional analysis pipeline that independently extracts Valence-Arousal from text (via vad-bert) and speech (via WavLM), computes emotional dissonance as the VA delta between modalities, and injects that signal into therapist LLM prompts alongside vocal prosodic descriptors.</a:t>
            </a:r>
            <a:endParaRPr b="0" i="0" sz="1100" u="none" cap="none" strike="noStrike">
              <a:solidFill>
                <a:srgbClr val="252827"/>
              </a:solidFill>
              <a:latin typeface="Montserrat"/>
              <a:ea typeface="Montserrat"/>
              <a:cs typeface="Montserrat"/>
              <a:sym typeface="Montserrat"/>
            </a:endParaRPr>
          </a:p>
          <a:p>
            <a:pPr indent="0" lvl="0" marL="0" marR="0" rtl="0" algn="just">
              <a:lnSpc>
                <a:spcPct val="115000"/>
              </a:lnSpc>
              <a:spcBef>
                <a:spcPts val="1599"/>
              </a:spcBef>
              <a:spcAft>
                <a:spcPts val="0"/>
              </a:spcAft>
              <a:buClr>
                <a:srgbClr val="000000"/>
              </a:buClr>
              <a:buSzPts val="1100"/>
              <a:buFont typeface="Arial"/>
              <a:buNone/>
            </a:pPr>
            <a:r>
              <a:t/>
            </a:r>
            <a:endParaRPr b="0" i="0" sz="1100" u="none" cap="none" strike="noStrike">
              <a:solidFill>
                <a:srgbClr val="252827"/>
              </a:solidFill>
              <a:latin typeface="Montserrat"/>
              <a:ea typeface="Montserrat"/>
              <a:cs typeface="Montserrat"/>
              <a:sym typeface="Montserrat"/>
            </a:endParaRPr>
          </a:p>
        </p:txBody>
      </p:sp>
      <p:sp>
        <p:nvSpPr>
          <p:cNvPr id="117" name="Google Shape;11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8" name="Google Shape;118;p18"/>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19" name="Google Shape;119;p18"/>
          <p:cNvSpPr txBox="1"/>
          <p:nvPr/>
        </p:nvSpPr>
        <p:spPr>
          <a:xfrm>
            <a:off x="510450" y="3022625"/>
            <a:ext cx="8367300" cy="1348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599"/>
              </a:spcBef>
              <a:spcAft>
                <a:spcPts val="0"/>
              </a:spcAft>
              <a:buClr>
                <a:srgbClr val="000000"/>
              </a:buClr>
              <a:buSzPts val="1100"/>
              <a:buFont typeface="Arial"/>
              <a:buNone/>
            </a:pPr>
            <a:r>
              <a:rPr b="1" i="0" lang="en" sz="1100" u="none" cap="none" strike="noStrike">
                <a:solidFill>
                  <a:srgbClr val="252827"/>
                </a:solidFill>
                <a:latin typeface="Montserrat"/>
                <a:ea typeface="Montserrat"/>
                <a:cs typeface="Montserrat"/>
                <a:sym typeface="Montserrat"/>
              </a:rPr>
              <a:t>Objective </a:t>
            </a:r>
            <a:r>
              <a:rPr b="1" lang="en" sz="1100">
                <a:solidFill>
                  <a:srgbClr val="252827"/>
                </a:solidFill>
                <a:latin typeface="Montserrat"/>
                <a:ea typeface="Montserrat"/>
                <a:cs typeface="Montserrat"/>
                <a:sym typeface="Montserrat"/>
              </a:rPr>
              <a:t>2:</a:t>
            </a:r>
            <a:endParaRPr b="1" i="0" sz="1100" u="none" cap="none" strike="noStrike">
              <a:solidFill>
                <a:srgbClr val="252827"/>
              </a:solidFill>
              <a:latin typeface="Montserrat"/>
              <a:ea typeface="Montserrat"/>
              <a:cs typeface="Montserrat"/>
              <a:sym typeface="Montserrat"/>
            </a:endParaRPr>
          </a:p>
          <a:p>
            <a:pPr indent="-298450" lvl="0" marL="457200" marR="0" rtl="0" algn="just">
              <a:lnSpc>
                <a:spcPct val="115000"/>
              </a:lnSpc>
              <a:spcBef>
                <a:spcPts val="1599"/>
              </a:spcBef>
              <a:spcAft>
                <a:spcPts val="0"/>
              </a:spcAft>
              <a:buClr>
                <a:srgbClr val="252827"/>
              </a:buClr>
              <a:buSzPts val="1100"/>
              <a:buFont typeface="Montserrat"/>
              <a:buChar char="●"/>
            </a:pPr>
            <a:r>
              <a:rPr lang="en" sz="1100">
                <a:solidFill>
                  <a:srgbClr val="252827"/>
                </a:solidFill>
                <a:latin typeface="Montserrat"/>
                <a:ea typeface="Montserrat"/>
                <a:cs typeface="Montserrat"/>
                <a:sym typeface="Montserrat"/>
              </a:rPr>
              <a:t>To implement and compare four therapist generation conditions across multiple LLM backbones, isolating whether the dissonance signal's therapeutic benefit is model-dependent or architecture-agnostic.</a:t>
            </a:r>
            <a:endParaRPr b="0" i="0" sz="1100" u="none" cap="none" strike="noStrike">
              <a:solidFill>
                <a:srgbClr val="252827"/>
              </a:solidFill>
              <a:latin typeface="Montserrat"/>
              <a:ea typeface="Montserrat"/>
              <a:cs typeface="Montserrat"/>
              <a:sym typeface="Montserrat"/>
            </a:endParaRPr>
          </a:p>
          <a:p>
            <a:pPr indent="0" lvl="0" marL="0" marR="0" rtl="0" algn="just">
              <a:lnSpc>
                <a:spcPct val="115000"/>
              </a:lnSpc>
              <a:spcBef>
                <a:spcPts val="1599"/>
              </a:spcBef>
              <a:spcAft>
                <a:spcPts val="0"/>
              </a:spcAft>
              <a:buClr>
                <a:srgbClr val="000000"/>
              </a:buClr>
              <a:buSzPts val="1100"/>
              <a:buFont typeface="Arial"/>
              <a:buNone/>
            </a:pPr>
            <a:r>
              <a:t/>
            </a:r>
            <a:endParaRPr b="0" i="0" sz="1100" u="none" cap="none" strike="noStrike">
              <a:solidFill>
                <a:srgbClr val="252827"/>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123" name="Shape 123"/>
        <p:cNvGrpSpPr/>
        <p:nvPr/>
      </p:nvGrpSpPr>
      <p:grpSpPr>
        <a:xfrm>
          <a:off x="0" y="0"/>
          <a:ext cx="0" cy="0"/>
          <a:chOff x="0" y="0"/>
          <a:chExt cx="0" cy="0"/>
        </a:xfrm>
      </p:grpSpPr>
      <p:sp>
        <p:nvSpPr>
          <p:cNvPr id="124" name="Google Shape;124;p19"/>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1.4 SCOPE</a:t>
            </a:r>
            <a:endParaRPr b="1" i="0" sz="2300" u="none" cap="none" strike="noStrike">
              <a:solidFill>
                <a:srgbClr val="F8CF2C"/>
              </a:solidFill>
              <a:latin typeface="Oswald"/>
              <a:ea typeface="Oswald"/>
              <a:cs typeface="Oswald"/>
              <a:sym typeface="Oswald"/>
            </a:endParaRPr>
          </a:p>
        </p:txBody>
      </p:sp>
      <p:sp>
        <p:nvSpPr>
          <p:cNvPr id="125" name="Google Shape;125;p19"/>
          <p:cNvSpPr txBox="1"/>
          <p:nvPr/>
        </p:nvSpPr>
        <p:spPr>
          <a:xfrm>
            <a:off x="510450" y="1095375"/>
            <a:ext cx="8367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In Scope (What This Research Will Do):</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Develop a Framework:</a:t>
            </a:r>
            <a:r>
              <a:rPr b="0" i="0" lang="en" sz="1000" u="none" cap="none" strike="noStrike">
                <a:solidFill>
                  <a:schemeClr val="dk1"/>
                </a:solidFill>
                <a:latin typeface="Arial"/>
                <a:ea typeface="Arial"/>
                <a:cs typeface="Arial"/>
                <a:sym typeface="Arial"/>
              </a:rPr>
              <a:t> Propose and build a multimodal therapist framework that integrates text and speech emotional signals to detect and respond to emotional dissonance in CBT-style dialogue.</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Synthetic Dataset:</a:t>
            </a:r>
            <a:r>
              <a:rPr b="0" i="0" lang="en" sz="1000" u="none" cap="none" strike="noStrike">
                <a:solidFill>
                  <a:schemeClr val="dk1"/>
                </a:solidFill>
                <a:latin typeface="Arial"/>
                <a:ea typeface="Arial"/>
                <a:cs typeface="Arial"/>
                <a:sym typeface="Arial"/>
              </a:rPr>
              <a:t> Create and utilize a synthetically generated dataset of 10 multi-turn CBT counseling dialogues produced via CACTUS-style script generation and Zonos TTS synthesis with state-controlled prosody.</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Multimodal Condition Comparison:</a:t>
            </a:r>
            <a:r>
              <a:rPr b="0" i="0" lang="en" sz="1000" u="none" cap="none" strike="noStrike">
                <a:solidFill>
                  <a:schemeClr val="dk1"/>
                </a:solidFill>
                <a:latin typeface="Arial"/>
                <a:ea typeface="Arial"/>
                <a:cs typeface="Arial"/>
                <a:sym typeface="Arial"/>
              </a:rPr>
              <a:t> Compare four therapist generation conditions---Baseline, Emotion (Text-Only), Multimodal (Vocal-Aware), and Dissonance-Aware---to quantify the contribution of each emotional signal type.</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Automated Evaluation:</a:t>
            </a:r>
            <a:r>
              <a:rPr b="0" i="0" lang="en" sz="1000" u="none" cap="none" strike="noStrike">
                <a:solidFill>
                  <a:schemeClr val="dk1"/>
                </a:solidFill>
                <a:latin typeface="Arial"/>
                <a:ea typeface="Arial"/>
                <a:cs typeface="Arial"/>
                <a:sym typeface="Arial"/>
              </a:rPr>
              <a:t> Assess therapist response quality using GPT-4o as a zero-shot evaluator across seven metrics spanning Therapist Skills, Client Alliance, and the Cognitive Therapy Rating Scale.</a:t>
            </a:r>
            <a:endParaRPr b="0" i="0" sz="900" u="none" cap="none" strike="noStrike">
              <a:solidFill>
                <a:schemeClr val="dk1"/>
              </a:solidFill>
              <a:latin typeface="Montserrat"/>
              <a:ea typeface="Montserrat"/>
              <a:cs typeface="Montserrat"/>
              <a:sym typeface="Montserrat"/>
            </a:endParaRPr>
          </a:p>
        </p:txBody>
      </p:sp>
      <p:sp>
        <p:nvSpPr>
          <p:cNvPr id="126" name="Google Shape;12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7" name="Google Shape;127;p19"/>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28" name="Google Shape;128;p19"/>
          <p:cNvSpPr txBox="1"/>
          <p:nvPr/>
        </p:nvSpPr>
        <p:spPr>
          <a:xfrm>
            <a:off x="548875" y="2971225"/>
            <a:ext cx="8367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Out of Scope (What This Research Will NOT Do):</a:t>
            </a:r>
            <a:endParaRPr b="1" i="0" sz="10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Not a Clinical Tool:</a:t>
            </a:r>
            <a:r>
              <a:rPr b="0" i="0" lang="en" sz="1000" u="none" cap="none" strike="noStrike">
                <a:solidFill>
                  <a:schemeClr val="dk1"/>
                </a:solidFill>
                <a:latin typeface="Arial"/>
                <a:ea typeface="Arial"/>
                <a:cs typeface="Arial"/>
                <a:sym typeface="Arial"/>
              </a:rPr>
              <a:t> This project is a computer science exploration. The resulting AI is not a medical device and is not intended to replace professional human therapists or provide clinical diagnoses.</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No Real Patient Data:</a:t>
            </a:r>
            <a:r>
              <a:rPr b="0" i="0" lang="en" sz="1000" u="none" cap="none" strike="noStrike">
                <a:solidFill>
                  <a:schemeClr val="dk1"/>
                </a:solidFill>
                <a:latin typeface="Arial"/>
                <a:ea typeface="Arial"/>
                <a:cs typeface="Arial"/>
                <a:sym typeface="Arial"/>
              </a:rPr>
              <a:t> For ethical and privacy reasons, this research will not use any real-world patient or clinical data. All training and testing will be performed on the synthetically generated dataset.</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Limited to English:</a:t>
            </a:r>
            <a:r>
              <a:rPr b="0" i="0" lang="en" sz="1000" u="none" cap="none" strike="noStrike">
                <a:solidFill>
                  <a:schemeClr val="dk1"/>
                </a:solidFill>
                <a:latin typeface="Arial"/>
                <a:ea typeface="Arial"/>
                <a:cs typeface="Arial"/>
                <a:sym typeface="Arial"/>
              </a:rPr>
              <a:t> The current scope is limited to processing and generating English-language speech based on the available datasets (CACTUS, Zonos).</a:t>
            </a: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 sz="1000" u="none" cap="none" strike="noStrike">
                <a:solidFill>
                  <a:schemeClr val="dk1"/>
                </a:solidFill>
                <a:latin typeface="Arial"/>
                <a:ea typeface="Arial"/>
                <a:cs typeface="Arial"/>
                <a:sym typeface="Arial"/>
              </a:rPr>
              <a:t>No Other Modalities:</a:t>
            </a:r>
            <a:r>
              <a:rPr b="0" i="0" lang="en" sz="1000" u="none" cap="none" strike="noStrike">
                <a:solidFill>
                  <a:schemeClr val="dk1"/>
                </a:solidFill>
                <a:latin typeface="Arial"/>
                <a:ea typeface="Arial"/>
                <a:cs typeface="Arial"/>
                <a:sym typeface="Arial"/>
              </a:rPr>
              <a:t> The analysis is strictly focused on vocal and textual information. We will not analyze other cues such as facial expressions or body language.</a:t>
            </a:r>
            <a:endParaRPr b="1" i="0" sz="10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132" name="Shape 132"/>
        <p:cNvGrpSpPr/>
        <p:nvPr/>
      </p:nvGrpSpPr>
      <p:grpSpPr>
        <a:xfrm>
          <a:off x="0" y="0"/>
          <a:ext cx="0" cy="0"/>
          <a:chOff x="0" y="0"/>
          <a:chExt cx="0" cy="0"/>
        </a:xfrm>
      </p:grpSpPr>
      <p:sp>
        <p:nvSpPr>
          <p:cNvPr id="133" name="Google Shape;133;p20"/>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34" name="Google Shape;134;p20"/>
          <p:cNvSpPr txBox="1"/>
          <p:nvPr/>
        </p:nvSpPr>
        <p:spPr>
          <a:xfrm>
            <a:off x="510450" y="1287400"/>
            <a:ext cx="8367300" cy="362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lang="en" sz="1100">
                <a:solidFill>
                  <a:schemeClr val="dk1"/>
                </a:solidFill>
              </a:rPr>
              <a:t>Speech &amp; Text Emotion Recognition</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A critical prerequisite for any multimodal therapy system is the ability to extract emotional representations from both text and speech channels independently.</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On the text side, Valence-Arousal (VA) regression models such as vad-bert (Mitsios et al., 2024) predict continuous emotional scores from words—capturing how positive (valence) and how activated (arousal) the content is—without requiring rigid discrete emotion labels.</a:t>
            </a:r>
            <a:endParaRPr i="0" sz="1100" u="none" cap="none" strike="noStrike">
              <a:solidFill>
                <a:schemeClr val="dk1"/>
              </a:solidFil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On the speech side, WavLM-based models extract VA values directly from raw audio waveforms, learning prosodic patterns such as pitch contour, energy dynamics, and temporal structure from large-scale emotional speech corpora.</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Existing work applies these VA extraction models primarily for standalone emotion classification or sentiment analysis tasks.</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To our knowledge, no prior study has used independently extracted text VA and speech VA as parallel emotional channels injected into a therapist LLM prompt, enabling the model to cross-reference what was said with how it was said.</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Our framework operationalizes this dual-channel VA representation as the foundational emotional metadata layer for all therapist generation conditions, providing the basis for downstream dissonance computation.</a:t>
            </a:r>
            <a:endParaRPr sz="1100">
              <a:solidFill>
                <a:schemeClr val="dk1"/>
              </a:solidFill>
            </a:endParaRPr>
          </a:p>
        </p:txBody>
      </p:sp>
      <p:sp>
        <p:nvSpPr>
          <p:cNvPr id="135" name="Google Shape;13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6" name="Google Shape;136;p20"/>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140" name="Shape 140"/>
        <p:cNvGrpSpPr/>
        <p:nvPr/>
      </p:nvGrpSpPr>
      <p:grpSpPr>
        <a:xfrm>
          <a:off x="0" y="0"/>
          <a:ext cx="0" cy="0"/>
          <a:chOff x="0" y="0"/>
          <a:chExt cx="0" cy="0"/>
        </a:xfrm>
      </p:grpSpPr>
      <p:sp>
        <p:nvSpPr>
          <p:cNvPr id="141" name="Google Shape;141;p21"/>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42" name="Google Shape;142;p21"/>
          <p:cNvSpPr txBox="1"/>
          <p:nvPr/>
        </p:nvSpPr>
        <p:spPr>
          <a:xfrm>
            <a:off x="510450" y="1130700"/>
            <a:ext cx="8367300" cy="381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lang="en" sz="1100">
                <a:solidFill>
                  <a:schemeClr val="dk1"/>
                </a:solidFill>
              </a:rPr>
              <a:t>AI and CBT-Based Interventions</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The application of AI to deliver CBT-based interventions is an emerging and promising frontier. Lee et al. (2024) introduced the CACTUS dataset and demonstrated that LLMs can generate structured, multi-turn CBT counseling dialogues with high coherence.</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Extending this line of work, Kim et al. (2025) proposed the MIRROR framework, which incorporates non-verbal cues—specifically facial expressions—to help an AI therapist detect and respond to client resistance.</a:t>
            </a:r>
            <a:endParaRPr i="0" sz="1100" u="none" cap="none" strike="noStrike">
              <a:solidFill>
                <a:schemeClr val="dk1"/>
              </a:solidFil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Their results showed that integrating visual signals significantly improves therapeutic alliance and resistance handling compared to text-only approaches. In parallel, Yan et al. (2024) developed PerceptiveAgent, a multimodal dialogue system that integrates speech perception for more empathetic response generation, though not in a therapeutic context.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While MIRROR validates the importance of non-verbal cues for managing resistance, its multimodal scope is limited to visual information (facial expressions)—a modality that requires camera access and may raise privacy concerns.</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Vocal cues are arguably more accessible, less intrusive, and available in any voice-based interaction.</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Our framework pioneers the use of vocal (speech emotion) and textual channels in a multimodal CBT therapist, explicitly modeling client resistance through a resist persona to stress-test the system's ability to handle emotionally difficult moments where words and voice may disagree.</a:t>
            </a:r>
            <a:endParaRPr sz="1100">
              <a:solidFill>
                <a:schemeClr val="dk1"/>
              </a:solidFill>
            </a:endParaRPr>
          </a:p>
        </p:txBody>
      </p:sp>
      <p:sp>
        <p:nvSpPr>
          <p:cNvPr id="143" name="Google Shape;14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4" name="Google Shape;144;p21"/>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148" name="Shape 148"/>
        <p:cNvGrpSpPr/>
        <p:nvPr/>
      </p:nvGrpSpPr>
      <p:grpSpPr>
        <a:xfrm>
          <a:off x="0" y="0"/>
          <a:ext cx="0" cy="0"/>
          <a:chOff x="0" y="0"/>
          <a:chExt cx="0" cy="0"/>
        </a:xfrm>
      </p:grpSpPr>
      <p:sp>
        <p:nvSpPr>
          <p:cNvPr id="149" name="Google Shape;149;p22"/>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50" name="Google Shape;150;p22"/>
          <p:cNvSpPr txBox="1"/>
          <p:nvPr/>
        </p:nvSpPr>
        <p:spPr>
          <a:xfrm>
            <a:off x="510450" y="1130700"/>
            <a:ext cx="8367300" cy="381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lang="en" sz="1100">
                <a:solidFill>
                  <a:schemeClr val="dk1"/>
                </a:solidFill>
              </a:rPr>
              <a:t>Emotional Dissonance &amp; Multimodal Inconsistency</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A fundamental challenge in multimodal emotion analysis is that different modalities often carry conflicting emotional information. Wang &amp; Wu (2024) systematically investigated this phenomenon—termed emotion semantic inconsistency—and demonstrated that both traditional sentiment analysis models and multi-modal large language models suffer significant performance drops when text and audio express contradictory sentiment. This finding reveals a structural weakness: current multimodal systems struggle to reason about why modalities disagree, treating inconsistency as noise rather than signal.</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Separately, Haydarov et al. (2025) proposed a method for quantifying emotional mismatch between text and speech by computing the delta between their VA representations and applying a fixed threshold (τ = 0.5) to flag dissonant utterances.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Wang &amp; Wu identified inconsistency as a system weakness; Haydarov et al. provided a detection method but applied it only to sentiment analysis. No prior work has used emotional dissonance—computed as a VA delta between text and speech—as a prompt-level therapeutic feature for guiding therapist LLM responses.</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Our Dissonance-Aware condition reframes inconsistency as a clinically meaningful signal: rather than classifying mismatch as an error, we treat it as hidden affect—moments where a client may be minimizing distress or masking emotion—and use it to trigger gentle, non-judgmental therapeutic exploration.</a:t>
            </a:r>
            <a:endParaRPr sz="1100">
              <a:solidFill>
                <a:schemeClr val="dk1"/>
              </a:solidFill>
            </a:endParaRPr>
          </a:p>
        </p:txBody>
      </p:sp>
      <p:sp>
        <p:nvSpPr>
          <p:cNvPr id="151" name="Google Shape;1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2" name="Google Shape;152;p22"/>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156" name="Shape 156"/>
        <p:cNvGrpSpPr/>
        <p:nvPr/>
      </p:nvGrpSpPr>
      <p:grpSpPr>
        <a:xfrm>
          <a:off x="0" y="0"/>
          <a:ext cx="0" cy="0"/>
          <a:chOff x="0" y="0"/>
          <a:chExt cx="0" cy="0"/>
        </a:xfrm>
      </p:grpSpPr>
      <p:sp>
        <p:nvSpPr>
          <p:cNvPr id="157" name="Google Shape;157;p23"/>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58" name="Google Shape;158;p23"/>
          <p:cNvSpPr txBox="1"/>
          <p:nvPr/>
        </p:nvSpPr>
        <p:spPr>
          <a:xfrm>
            <a:off x="510450" y="1130700"/>
            <a:ext cx="8367300" cy="342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lang="en" sz="1100">
                <a:solidFill>
                  <a:schemeClr val="dk1"/>
                </a:solidFill>
              </a:rPr>
              <a:t>Voice Synthesis for Therapeutic Applications</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Delivering voice-based therapeutic interventions requires a speech synthesis engine capable of generating emotionally appropriate and controllable prosody.</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Zonos-v0.1-transformer represents a state-of-the-art TTS model with fine-grained control over vocal parameters including pitch variation, speaking rate, and emotional vector values (e.g., happiness, sadness, fear).</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These capabilities enable the synthesis of speech whose prosodic delivery is aligned with a specified emotional and psychological context rather than sounding emotionally flat or generic.</a:t>
            </a:r>
            <a:endParaRPr sz="1100">
              <a:solidFill>
                <a:schemeClr val="dk1"/>
              </a:solidFil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Despite the maturity of controllable TTS technology, its application in a therapeutic context remains largely unexplored. It is unclear whether state-controlled prosody—driven by CBT-informed emotional state labels—can produce synthesized client speech whose vocal cues are sufficiently realistic and nuanced to serve as meaningful input for a downstream dissonance detection pipeline.</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Our work investigates this integration: using Zonos to synthesize client utterances whose vocal delivery reflects the intended CBT emotional state, then feeding that audio through WavLM-based VA extraction to close the loop between therapeutic content and acoustic realization.</a:t>
            </a:r>
            <a:endParaRPr sz="1100">
              <a:solidFill>
                <a:schemeClr val="dk1"/>
              </a:solidFill>
            </a:endParaRPr>
          </a:p>
        </p:txBody>
      </p:sp>
      <p:sp>
        <p:nvSpPr>
          <p:cNvPr id="159" name="Google Shape;15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0" name="Google Shape;160;p23"/>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164" name="Shape 164"/>
        <p:cNvGrpSpPr/>
        <p:nvPr/>
      </p:nvGrpSpPr>
      <p:grpSpPr>
        <a:xfrm>
          <a:off x="0" y="0"/>
          <a:ext cx="0" cy="0"/>
          <a:chOff x="0" y="0"/>
          <a:chExt cx="0" cy="0"/>
        </a:xfrm>
      </p:grpSpPr>
      <p:sp>
        <p:nvSpPr>
          <p:cNvPr id="165" name="Google Shape;165;p24"/>
          <p:cNvSpPr txBox="1"/>
          <p:nvPr/>
        </p:nvSpPr>
        <p:spPr>
          <a:xfrm>
            <a:off x="418025" y="468350"/>
            <a:ext cx="2900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2. RELATED WORK</a:t>
            </a:r>
            <a:endParaRPr b="1" i="0" sz="2300" u="none" cap="none" strike="noStrike">
              <a:solidFill>
                <a:srgbClr val="F8CF2C"/>
              </a:solidFill>
              <a:latin typeface="Oswald"/>
              <a:ea typeface="Oswald"/>
              <a:cs typeface="Oswald"/>
              <a:sym typeface="Oswald"/>
            </a:endParaRPr>
          </a:p>
        </p:txBody>
      </p:sp>
      <p:sp>
        <p:nvSpPr>
          <p:cNvPr id="166" name="Google Shape;166;p24"/>
          <p:cNvSpPr txBox="1"/>
          <p:nvPr/>
        </p:nvSpPr>
        <p:spPr>
          <a:xfrm>
            <a:off x="510450" y="1130700"/>
            <a:ext cx="8367300" cy="342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lang="en" sz="1100">
                <a:solidFill>
                  <a:schemeClr val="dk1"/>
                </a:solidFill>
              </a:rPr>
              <a:t>LLM-Based Evaluation of Therapeutic Quality</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Existing Work:</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Evaluating therapist response quality is inherently subjective, yet recent studies show that large language models can function as reliable zero-shot evaluators when equipped with structured scoring rubrics.</a:t>
            </a: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The MIRROR framework (Kim et al., 2025) employed GPT-4o to assess AI therapist performance on dimensions including Understanding, Interpersonal Effectiveness, and Collaboration, demonstrating that automated evaluation can meaningfully approximate human judgments of therapeutic quality.</a:t>
            </a:r>
            <a:endParaRPr sz="1100">
              <a:solidFill>
                <a:schemeClr val="dk1"/>
              </a:solidFil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Research Gap &amp; Our Contribution:</a:t>
            </a: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lang="en" sz="1100">
                <a:solidFill>
                  <a:schemeClr val="dk1"/>
                </a:solidFill>
              </a:rPr>
              <a:t>While LLM-based evaluation is gaining adoption in general NLP, its application to automated therapist quality benchmarking—particularly for systematically comparing multiple multimodal generation conditions—remains novel.</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We extend the MIRROR evaluation paradigm into a comprehensive seven-metric framework spanning three dimensions: Therapist Skills (Understanding 0–6, Interpersonal Effectiveness 0–6), Client Alliance (Affective Bond 1–5), and the Cognitive Therapy Rating Scale (Collaboration, Guided Discovery, Focus, Strategy; each 0–6).</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All metrics are scored by GPT-4o at temperature 0.0 across 10 dialogues × 4 conditions = 40 evaluation sessions, producing a reproducible benchmark for quantifying how specific emotional metadata—especially the dissonance signal—impacts therapeutic response quality.</a:t>
            </a:r>
            <a:endParaRPr sz="1100">
              <a:solidFill>
                <a:schemeClr val="dk1"/>
              </a:solidFill>
            </a:endParaRPr>
          </a:p>
        </p:txBody>
      </p:sp>
      <p:sp>
        <p:nvSpPr>
          <p:cNvPr id="167" name="Google Shape;16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8" name="Google Shape;168;p24"/>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nvSpPr>
        <p:spPr>
          <a:xfrm>
            <a:off x="418025" y="468350"/>
            <a:ext cx="78423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2300" u="none" cap="none" strike="noStrike">
                <a:solidFill>
                  <a:srgbClr val="252827"/>
                </a:solidFill>
                <a:latin typeface="Oswald"/>
                <a:ea typeface="Oswald"/>
                <a:cs typeface="Oswald"/>
                <a:sym typeface="Oswald"/>
              </a:rPr>
              <a:t>3 DATASET: </a:t>
            </a:r>
            <a:r>
              <a:rPr b="1" i="0" lang="en" sz="2300" u="none" cap="none" strike="noStrike">
                <a:solidFill>
                  <a:schemeClr val="dk1"/>
                </a:solidFill>
                <a:latin typeface="Oswald"/>
                <a:ea typeface="Oswald"/>
                <a:cs typeface="Oswald"/>
                <a:sym typeface="Oswald"/>
              </a:rPr>
              <a:t>How We Built the Dataset For Dissonance Framework</a:t>
            </a:r>
            <a:endParaRPr b="1" i="0" sz="33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252827"/>
              </a:solidFill>
              <a:latin typeface="Oswald"/>
              <a:ea typeface="Oswald"/>
              <a:cs typeface="Oswald"/>
              <a:sym typeface="Oswald"/>
            </a:endParaRPr>
          </a:p>
        </p:txBody>
      </p:sp>
      <p:sp>
        <p:nvSpPr>
          <p:cNvPr id="174" name="Google Shape;174;p25"/>
          <p:cNvSpPr/>
          <p:nvPr/>
        </p:nvSpPr>
        <p:spPr>
          <a:xfrm>
            <a:off x="510450" y="1300500"/>
            <a:ext cx="8069700" cy="3843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None/>
            </a:pPr>
            <a:r>
              <a:rPr b="1" lang="en" sz="1300">
                <a:solidFill>
                  <a:schemeClr val="dk1"/>
                </a:solidFill>
              </a:rPr>
              <a:t>Phase 1: Dialogue Generation and Audio Synthesis</a:t>
            </a:r>
            <a:endParaRPr b="1" i="0" sz="1300" u="none" cap="none" strike="noStrike">
              <a:solidFill>
                <a:schemeClr val="dk1"/>
              </a:solidFill>
              <a:latin typeface="Arial"/>
              <a:ea typeface="Arial"/>
              <a:cs typeface="Arial"/>
              <a:sym typeface="Arial"/>
            </a:endParaRPr>
          </a:p>
          <a:p>
            <a:pPr indent="-311150" lvl="0" marL="457200" marR="0" rtl="0" algn="l">
              <a:lnSpc>
                <a:spcPct val="115000"/>
              </a:lnSpc>
              <a:spcBef>
                <a:spcPts val="0"/>
              </a:spcBef>
              <a:spcAft>
                <a:spcPts val="0"/>
              </a:spcAft>
              <a:buClr>
                <a:schemeClr val="dk1"/>
              </a:buClr>
              <a:buSzPts val="1300"/>
              <a:buChar char="●"/>
            </a:pPr>
            <a:r>
              <a:rPr b="1" lang="en" sz="1300">
                <a:solidFill>
                  <a:schemeClr val="dk1"/>
                </a:solidFill>
              </a:rPr>
              <a:t>Turn-by-Turn Dialogue Generation:</a:t>
            </a:r>
            <a:r>
              <a:rPr lang="en" sz="1300">
                <a:solidFill>
                  <a:schemeClr val="dk1"/>
                </a:solidFill>
              </a:rPr>
              <a:t> Dataset is a collection of 10 multi-turn CBT counseling dialogues, each consisting of approximately 10 client therapist exchanges.</a:t>
            </a:r>
            <a:endParaRPr b="0" i="0" sz="1300" u="none" cap="none" strike="noStrike">
              <a:solidFill>
                <a:schemeClr val="dk1"/>
              </a:solidFill>
              <a:latin typeface="Arial"/>
              <a:ea typeface="Arial"/>
              <a:cs typeface="Arial"/>
              <a:sym typeface="Arial"/>
            </a:endParaRPr>
          </a:p>
          <a:p>
            <a:pPr indent="-311150" lvl="0" marL="457200" marR="0" rtl="0" algn="l">
              <a:lnSpc>
                <a:spcPct val="115000"/>
              </a:lnSpc>
              <a:spcBef>
                <a:spcPts val="0"/>
              </a:spcBef>
              <a:spcAft>
                <a:spcPts val="0"/>
              </a:spcAft>
              <a:buClr>
                <a:schemeClr val="dk1"/>
              </a:buClr>
              <a:buSzPts val="1300"/>
              <a:buFont typeface="Arial"/>
              <a:buChar char="●"/>
            </a:pPr>
            <a:r>
              <a:rPr b="1" lang="en" sz="1300">
                <a:solidFill>
                  <a:schemeClr val="dk1"/>
                </a:solidFill>
              </a:rPr>
              <a:t>Vocal Parameter Assignment via Zonos Director LLM</a:t>
            </a:r>
            <a:r>
              <a:rPr b="1" i="0" lang="en" sz="1300" u="none" cap="none" strike="noStrike">
                <a:solidFill>
                  <a:schemeClr val="dk1"/>
                </a:solidFill>
                <a:latin typeface="Arial"/>
                <a:ea typeface="Arial"/>
                <a:cs typeface="Arial"/>
                <a:sym typeface="Arial"/>
              </a:rPr>
              <a:t>:</a:t>
            </a:r>
            <a:r>
              <a:rPr b="0" i="0" lang="en" sz="1300" u="none" cap="none" strike="noStrike">
                <a:solidFill>
                  <a:schemeClr val="dk1"/>
                </a:solidFill>
                <a:latin typeface="Arial"/>
                <a:ea typeface="Arial"/>
                <a:cs typeface="Arial"/>
                <a:sym typeface="Arial"/>
              </a:rPr>
              <a:t> </a:t>
            </a:r>
            <a:endParaRPr b="0" i="0" sz="1300" u="none" cap="none" strike="noStrike">
              <a:solidFill>
                <a:schemeClr val="dk1"/>
              </a:solidFill>
              <a:latin typeface="Arial"/>
              <a:ea typeface="Arial"/>
              <a:cs typeface="Arial"/>
              <a:sym typeface="Arial"/>
            </a:endParaRPr>
          </a:p>
          <a:p>
            <a:pPr indent="-311150" lvl="2" marL="914400" marR="0" rtl="0" algn="l">
              <a:lnSpc>
                <a:spcPct val="115000"/>
              </a:lnSpc>
              <a:spcBef>
                <a:spcPts val="0"/>
              </a:spcBef>
              <a:spcAft>
                <a:spcPts val="0"/>
              </a:spcAft>
              <a:buClr>
                <a:schemeClr val="dk1"/>
              </a:buClr>
              <a:buSzPts val="1300"/>
              <a:buFont typeface="Arial"/>
              <a:buChar char="■"/>
            </a:pPr>
            <a:r>
              <a:rPr lang="en" sz="1300">
                <a:solidFill>
                  <a:schemeClr val="dk1"/>
                </a:solidFill>
              </a:rPr>
              <a:t>(a) an emotion vector with continuous values for Happiness, Sadness, Fear, Anger, and other affective dimensions (each in $[-1, 1]$)</a:t>
            </a:r>
            <a:endParaRPr sz="1300">
              <a:solidFill>
                <a:schemeClr val="dk1"/>
              </a:solidFill>
            </a:endParaRPr>
          </a:p>
          <a:p>
            <a:pPr indent="-311150" lvl="2" marL="914400" marR="0" rtl="0" algn="l">
              <a:lnSpc>
                <a:spcPct val="115000"/>
              </a:lnSpc>
              <a:spcBef>
                <a:spcPts val="0"/>
              </a:spcBef>
              <a:spcAft>
                <a:spcPts val="0"/>
              </a:spcAft>
              <a:buClr>
                <a:schemeClr val="dk1"/>
              </a:buClr>
              <a:buSzPts val="1300"/>
              <a:buFont typeface="Arial"/>
              <a:buChar char="■"/>
            </a:pPr>
            <a:r>
              <a:rPr lang="en" sz="1300">
                <a:solidFill>
                  <a:schemeClr val="dk1"/>
                </a:solidFill>
              </a:rPr>
              <a:t>(b) prosodic control parameters including speaking rate (10--25 range) and pitch standard deviation (pitch\_std, 20--150 range).</a:t>
            </a:r>
            <a:endParaRPr sz="1300">
              <a:solidFill>
                <a:schemeClr val="dk1"/>
              </a:solidFill>
            </a:endParaRPr>
          </a:p>
          <a:p>
            <a:pPr indent="-311150" lvl="2" marL="914400" marR="0" rtl="0" algn="l">
              <a:lnSpc>
                <a:spcPct val="115000"/>
              </a:lnSpc>
              <a:spcBef>
                <a:spcPts val="0"/>
              </a:spcBef>
              <a:spcAft>
                <a:spcPts val="0"/>
              </a:spcAft>
              <a:buClr>
                <a:schemeClr val="dk1"/>
              </a:buClr>
              <a:buSzPts val="1300"/>
              <a:buChar char="■"/>
            </a:pPr>
            <a:r>
              <a:rPr b="1" lang="en" sz="1300">
                <a:solidFill>
                  <a:schemeClr val="dk1"/>
                </a:solidFill>
              </a:rPr>
              <a:t>Post-Hoc Emotion Extraction</a:t>
            </a:r>
            <a:r>
              <a:rPr lang="en" sz="1300">
                <a:solidFill>
                  <a:schemeClr val="dk1"/>
                </a:solidFill>
              </a:rPr>
              <a:t>: Get VA values for both speech (WavLM) and text (vad-bert) </a:t>
            </a:r>
            <a:endParaRPr sz="1300">
              <a:solidFill>
                <a:schemeClr val="dk1"/>
              </a:solidFill>
            </a:endParaRPr>
          </a:p>
          <a:p>
            <a:pPr indent="0" lvl="0" marL="0" marR="0" rtl="0" algn="l">
              <a:lnSpc>
                <a:spcPct val="115000"/>
              </a:lnSpc>
              <a:spcBef>
                <a:spcPts val="0"/>
              </a:spcBef>
              <a:spcAft>
                <a:spcPts val="0"/>
              </a:spcAft>
              <a:buNone/>
            </a:pPr>
            <a:r>
              <a:t/>
            </a:r>
            <a:endParaRPr sz="1300">
              <a:solidFill>
                <a:schemeClr val="dk1"/>
              </a:solidFill>
            </a:endParaRPr>
          </a:p>
          <a:p>
            <a:pPr indent="0" lvl="0" marL="0" marR="0" rtl="0" algn="l">
              <a:lnSpc>
                <a:spcPct val="115000"/>
              </a:lnSpc>
              <a:spcBef>
                <a:spcPts val="0"/>
              </a:spcBef>
              <a:spcAft>
                <a:spcPts val="0"/>
              </a:spcAft>
              <a:buNone/>
            </a:pPr>
            <a:r>
              <a:rPr b="1" lang="en" sz="1300">
                <a:solidFill>
                  <a:schemeClr val="dk1"/>
                </a:solidFill>
              </a:rPr>
              <a:t>Phase 2: Vocal Prosodic Descriptor Extraction via Librosa</a:t>
            </a:r>
            <a:endParaRPr b="1" sz="1300">
              <a:solidFill>
                <a:schemeClr val="dk1"/>
              </a:solidFill>
            </a:endParaRPr>
          </a:p>
          <a:p>
            <a:pPr indent="0" lvl="0" marL="457200" marR="0" rtl="0" algn="l">
              <a:lnSpc>
                <a:spcPct val="115000"/>
              </a:lnSpc>
              <a:spcBef>
                <a:spcPts val="0"/>
              </a:spcBef>
              <a:spcAft>
                <a:spcPts val="0"/>
              </a:spcAft>
              <a:buNone/>
            </a:pPr>
            <a:r>
              <a:t/>
            </a:r>
            <a:endParaRPr b="1" sz="1200">
              <a:solidFill>
                <a:schemeClr val="dk1"/>
              </a:solidFill>
            </a:endParaRPr>
          </a:p>
          <a:p>
            <a:pPr indent="0" lvl="0" marL="0" marR="0" rtl="0" algn="l">
              <a:lnSpc>
                <a:spcPct val="115000"/>
              </a:lnSpc>
              <a:spcBef>
                <a:spcPts val="0"/>
              </a:spcBef>
              <a:spcAft>
                <a:spcPts val="0"/>
              </a:spcAft>
              <a:buNone/>
            </a:pPr>
            <a:r>
              <a:t/>
            </a:r>
            <a:endParaRPr sz="1000">
              <a:solidFill>
                <a:schemeClr val="dk1"/>
              </a:solidFill>
            </a:endParaRPr>
          </a:p>
          <a:p>
            <a:pPr indent="0" lvl="0" marL="457200" marR="0" rtl="0" algn="l">
              <a:lnSpc>
                <a:spcPct val="115000"/>
              </a:lnSpc>
              <a:spcBef>
                <a:spcPts val="0"/>
              </a:spcBef>
              <a:spcAft>
                <a:spcPts val="0"/>
              </a:spcAft>
              <a:buNone/>
            </a:pPr>
            <a:r>
              <a:t/>
            </a:r>
            <a:endParaRPr sz="1000">
              <a:solidFill>
                <a:schemeClr val="dk1"/>
              </a:solidFill>
            </a:endParaRPr>
          </a:p>
          <a:p>
            <a:pPr indent="0" lvl="0" marL="0" marR="0" rtl="0" algn="l">
              <a:lnSpc>
                <a:spcPct val="115000"/>
              </a:lnSpc>
              <a:spcBef>
                <a:spcPts val="1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				</a:t>
            </a:r>
            <a:endParaRPr b="1" i="0" sz="1000" u="none" cap="none" strike="noStrike">
              <a:solidFill>
                <a:schemeClr val="dk1"/>
              </a:solidFill>
              <a:latin typeface="Arial"/>
              <a:ea typeface="Arial"/>
              <a:cs typeface="Arial"/>
              <a:sym typeface="Arial"/>
            </a:endParaRPr>
          </a:p>
        </p:txBody>
      </p:sp>
      <p:sp>
        <p:nvSpPr>
          <p:cNvPr id="175" name="Google Shape;17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6" name="Google Shape;176;p25"/>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nvSpPr>
        <p:spPr>
          <a:xfrm>
            <a:off x="418025" y="370600"/>
            <a:ext cx="7163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1700" u="none" cap="none" strike="noStrike">
                <a:solidFill>
                  <a:srgbClr val="252827"/>
                </a:solidFill>
                <a:latin typeface="Oswald"/>
                <a:ea typeface="Oswald"/>
                <a:cs typeface="Oswald"/>
                <a:sym typeface="Oswald"/>
              </a:rPr>
              <a:t>3.3 PREPROCESSING: Feature Extraction</a:t>
            </a:r>
            <a:endParaRPr b="1" i="0" sz="1700" u="none" cap="none" strike="noStrike">
              <a:solidFill>
                <a:srgbClr val="252827"/>
              </a:solidFill>
              <a:latin typeface="Oswald"/>
              <a:ea typeface="Oswald"/>
              <a:cs typeface="Oswald"/>
              <a:sym typeface="Oswald"/>
            </a:endParaRPr>
          </a:p>
        </p:txBody>
      </p:sp>
      <p:sp>
        <p:nvSpPr>
          <p:cNvPr id="182" name="Google Shape;182;p26"/>
          <p:cNvSpPr/>
          <p:nvPr/>
        </p:nvSpPr>
        <p:spPr>
          <a:xfrm>
            <a:off x="515875" y="850959"/>
            <a:ext cx="7902300" cy="425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100"/>
              <a:buFont typeface="Arial"/>
              <a:buNone/>
            </a:pPr>
            <a:r>
              <a:rPr b="1" i="0" lang="en" sz="1200" u="none" cap="none" strike="noStrike">
                <a:solidFill>
                  <a:schemeClr val="dk1"/>
                </a:solidFill>
                <a:latin typeface="Arial"/>
                <a:ea typeface="Arial"/>
                <a:cs typeface="Arial"/>
                <a:sym typeface="Arial"/>
              </a:rPr>
              <a:t>The Pipeline:</a:t>
            </a:r>
            <a:endParaRPr b="1" i="0" sz="1200" u="none" cap="none" strike="noStrike">
              <a:solidFill>
                <a:schemeClr val="dk1"/>
              </a:solidFill>
              <a:latin typeface="Arial"/>
              <a:ea typeface="Arial"/>
              <a:cs typeface="Arial"/>
              <a:sym typeface="Arial"/>
            </a:endParaRPr>
          </a:p>
          <a:p>
            <a:pPr indent="-304800" lvl="0" marL="457200" marR="0" rtl="0" algn="l">
              <a:lnSpc>
                <a:spcPct val="115000"/>
              </a:lnSpc>
              <a:spcBef>
                <a:spcPts val="120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Step 1: </a:t>
            </a:r>
            <a:r>
              <a:rPr b="1" lang="en" sz="1200">
                <a:solidFill>
                  <a:schemeClr val="dk1"/>
                </a:solidFill>
              </a:rPr>
              <a:t>Audio Segmentation</a:t>
            </a:r>
            <a:endParaRPr b="1"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Technique:</a:t>
            </a:r>
            <a:r>
              <a:rPr b="0" i="0" lang="en" sz="1200" u="none" cap="none" strike="noStrike">
                <a:solidFill>
                  <a:schemeClr val="dk1"/>
                </a:solidFill>
                <a:latin typeface="Arial"/>
                <a:ea typeface="Arial"/>
                <a:cs typeface="Arial"/>
                <a:sym typeface="Arial"/>
              </a:rPr>
              <a:t> </a:t>
            </a:r>
            <a:r>
              <a:rPr lang="en" sz="1200">
                <a:solidFill>
                  <a:schemeClr val="dk1"/>
                </a:solidFill>
              </a:rPr>
              <a:t>Utterance-level segmentation using Zonos synthesis parameters.</a:t>
            </a:r>
            <a:endParaRPr b="0"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Process:</a:t>
            </a:r>
            <a:r>
              <a:rPr b="0" i="0" lang="en" sz="1200" u="none" cap="none" strike="noStrike">
                <a:solidFill>
                  <a:schemeClr val="dk1"/>
                </a:solidFill>
                <a:latin typeface="Arial"/>
                <a:ea typeface="Arial"/>
                <a:cs typeface="Arial"/>
                <a:sym typeface="Arial"/>
              </a:rPr>
              <a:t> </a:t>
            </a:r>
            <a:r>
              <a:rPr lang="en" sz="1200">
                <a:solidFill>
                  <a:schemeClr val="dk1"/>
                </a:solidFill>
              </a:rPr>
              <a:t>Isolates each client utterance as an independent audio chunk from the synthesized WAV file.</a:t>
            </a:r>
            <a:endParaRPr b="0"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b="1" i="1" lang="en" sz="1200" u="none" cap="none" strike="noStrike">
                <a:solidFill>
                  <a:schemeClr val="dk1"/>
                </a:solidFill>
              </a:rPr>
              <a:t>Why</a:t>
            </a:r>
            <a:r>
              <a:rPr b="0" i="1" lang="en" sz="1200" u="none" cap="none" strike="noStrike">
                <a:solidFill>
                  <a:schemeClr val="dk1"/>
                </a:solidFill>
                <a:latin typeface="Arial"/>
                <a:ea typeface="Arial"/>
                <a:cs typeface="Arial"/>
                <a:sym typeface="Arial"/>
              </a:rPr>
              <a:t>:</a:t>
            </a:r>
            <a:r>
              <a:rPr b="0" i="0" lang="en" sz="1200" u="none" cap="none" strike="noStrike">
                <a:solidFill>
                  <a:schemeClr val="dk1"/>
                </a:solidFill>
                <a:latin typeface="Arial"/>
                <a:ea typeface="Arial"/>
                <a:cs typeface="Arial"/>
                <a:sym typeface="Arial"/>
              </a:rPr>
              <a:t> </a:t>
            </a:r>
            <a:r>
              <a:rPr lang="en" sz="1200">
                <a:solidFill>
                  <a:schemeClr val="dk1"/>
                </a:solidFill>
              </a:rPr>
              <a:t>To extract vocal features for each utterance independently.</a:t>
            </a:r>
            <a:endParaRPr b="0" i="0" sz="12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Step 2: Dual-Channel Emotion Extraction </a:t>
            </a:r>
            <a:r>
              <a:rPr b="1" lang="en" sz="1200">
                <a:solidFill>
                  <a:schemeClr val="dk1"/>
                </a:solidFill>
              </a:rPr>
              <a:t>(Beyond Text + WavLM + vad-bert + librosa)</a:t>
            </a:r>
            <a:endParaRPr b="1" i="0" sz="1200" u="none" cap="none" strike="noStrike">
              <a:solidFill>
                <a:schemeClr val="dk1"/>
              </a:solidFill>
              <a:latin typeface="Arial"/>
              <a:ea typeface="Arial"/>
              <a:cs typeface="Arial"/>
              <a:sym typeface="Arial"/>
            </a:endParaRPr>
          </a:p>
          <a:p>
            <a:pPr indent="-304800" lvl="1" marL="914400" marR="0" rtl="0" algn="l">
              <a:lnSpc>
                <a:spcPct val="115000"/>
              </a:lnSpc>
              <a:spcBef>
                <a:spcPts val="0"/>
              </a:spcBef>
              <a:spcAft>
                <a:spcPts val="0"/>
              </a:spcAft>
              <a:buClr>
                <a:schemeClr val="dk1"/>
              </a:buClr>
              <a:buSzPts val="1200"/>
              <a:buFont typeface="Arial"/>
              <a:buChar char="○"/>
            </a:pPr>
            <a:r>
              <a:rPr lang="en" sz="1200">
                <a:solidFill>
                  <a:schemeClr val="dk1"/>
                </a:solidFill>
              </a:rPr>
              <a:t>Extracting </a:t>
            </a:r>
            <a:r>
              <a:rPr b="1" lang="en" sz="1200">
                <a:solidFill>
                  <a:schemeClr val="dk1"/>
                </a:solidFill>
              </a:rPr>
              <a:t>paralinguistic features</a:t>
            </a:r>
            <a:r>
              <a:rPr lang="en" sz="1200">
                <a:solidFill>
                  <a:schemeClr val="dk1"/>
                </a:solidFill>
              </a:rPr>
              <a:t> to capture how it is said, not just what is said.</a:t>
            </a:r>
            <a:endParaRPr sz="1200">
              <a:solidFill>
                <a:schemeClr val="dk1"/>
              </a:solidFill>
            </a:endParaRPr>
          </a:p>
          <a:p>
            <a:pPr indent="0" lvl="0" marL="0" marR="0" rtl="0" algn="l">
              <a:lnSpc>
                <a:spcPct val="115000"/>
              </a:lnSpc>
              <a:spcBef>
                <a:spcPts val="0"/>
              </a:spcBef>
              <a:spcAft>
                <a:spcPts val="0"/>
              </a:spcAft>
              <a:buNone/>
            </a:pPr>
            <a:r>
              <a:t/>
            </a:r>
            <a:endParaRPr sz="1200">
              <a:solidFill>
                <a:schemeClr val="dk1"/>
              </a:solidFill>
            </a:endParaRPr>
          </a:p>
          <a:p>
            <a:pPr indent="0" lvl="0" marL="0" marR="0" rtl="0" algn="l">
              <a:lnSpc>
                <a:spcPct val="115000"/>
              </a:lnSpc>
              <a:spcBef>
                <a:spcPts val="0"/>
              </a:spcBef>
              <a:spcAft>
                <a:spcPts val="0"/>
              </a:spcAft>
              <a:buNone/>
            </a:pPr>
            <a:r>
              <a:t/>
            </a:r>
            <a:endParaRPr sz="1200">
              <a:solidFill>
                <a:schemeClr val="dk1"/>
              </a:solidFill>
            </a:endParaRPr>
          </a:p>
          <a:p>
            <a:pPr indent="0" lvl="0" marL="0" marR="0" rtl="0" algn="l">
              <a:lnSpc>
                <a:spcPct val="115000"/>
              </a:lnSpc>
              <a:spcBef>
                <a:spcPts val="0"/>
              </a:spcBef>
              <a:spcAft>
                <a:spcPts val="0"/>
              </a:spcAft>
              <a:buNone/>
            </a:pPr>
            <a:r>
              <a:rPr b="1" lang="en" sz="1200">
                <a:solidFill>
                  <a:schemeClr val="dk1"/>
                </a:solidFill>
              </a:rPr>
              <a:t>Dissonance Computation:</a:t>
            </a:r>
            <a:endParaRPr b="1" sz="1200">
              <a:solidFill>
                <a:schemeClr val="dk1"/>
              </a:solidFill>
            </a:endParaRPr>
          </a:p>
          <a:p>
            <a:pPr indent="-304800" lvl="0" marL="457200" marR="0" rtl="0" algn="l">
              <a:lnSpc>
                <a:spcPct val="115000"/>
              </a:lnSpc>
              <a:spcBef>
                <a:spcPts val="0"/>
              </a:spcBef>
              <a:spcAft>
                <a:spcPts val="0"/>
              </a:spcAft>
              <a:buClr>
                <a:schemeClr val="dk1"/>
              </a:buClr>
              <a:buSzPts val="1200"/>
              <a:buChar char="●"/>
            </a:pPr>
            <a:r>
              <a:rPr lang="en" sz="1200">
                <a:solidFill>
                  <a:schemeClr val="dk1"/>
                </a:solidFill>
              </a:rPr>
              <a:t>Compute δ = V_speech - V_text, δ = A_speech - A_text</a:t>
            </a:r>
            <a:endParaRPr sz="1200">
              <a:solidFill>
                <a:schemeClr val="dk1"/>
              </a:solidFill>
            </a:endParaRPr>
          </a:p>
          <a:p>
            <a:pPr indent="-304800" lvl="0" marL="457200" marR="0" rtl="0" algn="l">
              <a:lnSpc>
                <a:spcPct val="115000"/>
              </a:lnSpc>
              <a:spcBef>
                <a:spcPts val="0"/>
              </a:spcBef>
              <a:spcAft>
                <a:spcPts val="0"/>
              </a:spcAft>
              <a:buClr>
                <a:schemeClr val="dk1"/>
              </a:buClr>
              <a:buSzPts val="1200"/>
              <a:buChar char="●"/>
            </a:pPr>
            <a:r>
              <a:rPr lang="en" sz="1200">
                <a:solidFill>
                  <a:schemeClr val="dk1"/>
                </a:solidFill>
              </a:rPr>
              <a:t>Flag dissonance if |δ| ≥ 0.5 in either dimension</a:t>
            </a:r>
            <a:endParaRPr sz="1200">
              <a:solidFill>
                <a:schemeClr val="dk1"/>
              </a:solidFill>
            </a:endParaRPr>
          </a:p>
          <a:p>
            <a:pPr indent="-304800" lvl="0" marL="457200" marR="0" rtl="0" algn="l">
              <a:lnSpc>
                <a:spcPct val="115000"/>
              </a:lnSpc>
              <a:spcBef>
                <a:spcPts val="0"/>
              </a:spcBef>
              <a:spcAft>
                <a:spcPts val="0"/>
              </a:spcAft>
              <a:buClr>
                <a:schemeClr val="dk1"/>
              </a:buClr>
              <a:buSzPts val="1200"/>
              <a:buChar char="●"/>
            </a:pPr>
            <a:r>
              <a:rPr lang="en" sz="1200">
                <a:solidFill>
                  <a:schemeClr val="dk1"/>
                </a:solidFill>
              </a:rPr>
              <a:t>Use as therapeutic signal: hidden affect → gentle exploration</a:t>
            </a:r>
            <a:endParaRPr sz="1200">
              <a:solidFill>
                <a:schemeClr val="dk1"/>
              </a:solidFill>
            </a:endParaRPr>
          </a:p>
          <a:p>
            <a:pPr indent="0" lvl="0" marL="0" rtl="0" algn="l">
              <a:spcBef>
                <a:spcPts val="0"/>
              </a:spcBef>
              <a:spcAft>
                <a:spcPts val="0"/>
              </a:spcAft>
              <a:buNone/>
            </a:pPr>
            <a:r>
              <a:t/>
            </a:r>
            <a:endParaRPr sz="1100">
              <a:solidFill>
                <a:schemeClr val="dk1"/>
              </a:solidFill>
            </a:endParaRPr>
          </a:p>
          <a:p>
            <a:pPr indent="0" lvl="0" marL="0" marR="0" rtl="0" algn="l">
              <a:lnSpc>
                <a:spcPct val="115000"/>
              </a:lnSpc>
              <a:spcBef>
                <a:spcPts val="0"/>
              </a:spcBef>
              <a:spcAft>
                <a:spcPts val="0"/>
              </a:spcAft>
              <a:buNone/>
            </a:pPr>
            <a:r>
              <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15000"/>
              </a:lnSpc>
              <a:spcBef>
                <a:spcPts val="1599"/>
              </a:spcBef>
              <a:spcAft>
                <a:spcPts val="0"/>
              </a:spcAft>
              <a:buClr>
                <a:srgbClr val="000000"/>
              </a:buClr>
              <a:buSzPts val="1200"/>
              <a:buFont typeface="Arial"/>
              <a:buNone/>
            </a:pPr>
            <a:r>
              <a:t/>
            </a:r>
            <a:endParaRPr b="0" i="0" sz="900" u="none" cap="none" strike="noStrike">
              <a:solidFill>
                <a:schemeClr val="dk1"/>
              </a:solidFill>
              <a:latin typeface="Arial"/>
              <a:ea typeface="Arial"/>
              <a:cs typeface="Arial"/>
              <a:sym typeface="Arial"/>
            </a:endParaRPr>
          </a:p>
          <a:p>
            <a:pPr indent="0" lvl="0" marL="0" marR="0" rtl="0" algn="just">
              <a:lnSpc>
                <a:spcPct val="115000"/>
              </a:lnSpc>
              <a:spcBef>
                <a:spcPts val="1599"/>
              </a:spcBef>
              <a:spcAft>
                <a:spcPts val="0"/>
              </a:spcAft>
              <a:buClr>
                <a:srgbClr val="000000"/>
              </a:buClr>
              <a:buSzPts val="1200"/>
              <a:buFont typeface="Arial"/>
              <a:buNone/>
            </a:pPr>
            <a:r>
              <a:t/>
            </a:r>
            <a:endParaRPr b="0" i="0" sz="900" u="none" cap="none" strike="noStrike">
              <a:solidFill>
                <a:srgbClr val="000000"/>
              </a:solidFill>
              <a:latin typeface="Montserrat"/>
              <a:ea typeface="Montserrat"/>
              <a:cs typeface="Montserrat"/>
              <a:sym typeface="Montserrat"/>
            </a:endParaRPr>
          </a:p>
        </p:txBody>
      </p:sp>
      <p:sp>
        <p:nvSpPr>
          <p:cNvPr id="183" name="Google Shape;18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4" name="Google Shape;184;p26"/>
          <p:cNvSpPr/>
          <p:nvPr/>
        </p:nvSpPr>
        <p:spPr>
          <a:xfrm>
            <a:off x="548100" y="704312"/>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pic>
        <p:nvPicPr>
          <p:cNvPr id="185" name="Google Shape;185;p26"/>
          <p:cNvPicPr preferRelativeResize="0"/>
          <p:nvPr/>
        </p:nvPicPr>
        <p:blipFill rotWithShape="1">
          <a:blip r:embed="rId4">
            <a:alphaModFix/>
          </a:blip>
          <a:srcRect b="0" l="0" r="0" t="18267"/>
          <a:stretch/>
        </p:blipFill>
        <p:spPr>
          <a:xfrm>
            <a:off x="1194888" y="4174103"/>
            <a:ext cx="3055975" cy="634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Models for Therapist Generation</a:t>
            </a:r>
            <a:endParaRPr b="1" i="0" sz="2300" u="none" cap="none" strike="noStrike">
              <a:solidFill>
                <a:srgbClr val="252827"/>
              </a:solidFill>
              <a:latin typeface="Oswald"/>
              <a:ea typeface="Oswald"/>
              <a:cs typeface="Oswald"/>
              <a:sym typeface="Oswald"/>
            </a:endParaRPr>
          </a:p>
        </p:txBody>
      </p:sp>
      <p:sp>
        <p:nvSpPr>
          <p:cNvPr id="191" name="Google Shape;191;p27"/>
          <p:cNvSpPr/>
          <p:nvPr/>
        </p:nvSpPr>
        <p:spPr>
          <a:xfrm>
            <a:off x="510450" y="1382525"/>
            <a:ext cx="7902300" cy="3084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None/>
            </a:pPr>
            <a:r>
              <a:rPr b="1" lang="en">
                <a:solidFill>
                  <a:schemeClr val="dk1"/>
                </a:solidFill>
              </a:rPr>
              <a:t>Baseline (Text-Only)</a:t>
            </a:r>
            <a:endParaRPr b="1">
              <a:solidFill>
                <a:schemeClr val="dk1"/>
              </a:solidFill>
            </a:endParaRPr>
          </a:p>
          <a:p>
            <a:pPr indent="-317500" lvl="0" marL="457200" marR="0" rtl="0" algn="l">
              <a:lnSpc>
                <a:spcPct val="115000"/>
              </a:lnSpc>
              <a:spcBef>
                <a:spcPts val="1200"/>
              </a:spcBef>
              <a:spcAft>
                <a:spcPts val="0"/>
              </a:spcAft>
              <a:buClr>
                <a:schemeClr val="dk1"/>
              </a:buClr>
              <a:buSzPts val="1400"/>
              <a:buFont typeface="Arial"/>
              <a:buChar char="●"/>
            </a:pPr>
            <a:r>
              <a:rPr b="1" lang="en">
                <a:solidFill>
                  <a:schemeClr val="dk1"/>
                </a:solidFill>
              </a:rPr>
              <a:t>Input: Dialogue transcript only </a:t>
            </a:r>
            <a:r>
              <a:rPr lang="en">
                <a:solidFill>
                  <a:schemeClr val="dk1"/>
                </a:solidFill>
              </a:rPr>
              <a:t>— no emotional metadata</a:t>
            </a:r>
            <a:r>
              <a:rPr b="1" lang="en">
                <a:solidFill>
                  <a:schemeClr val="dk1"/>
                </a:solidFill>
              </a:rPr>
              <a:t>.</a:t>
            </a:r>
            <a:endParaRPr b="1">
              <a:solidFill>
                <a:schemeClr val="dk1"/>
              </a:solidFill>
            </a:endParaRPr>
          </a:p>
          <a:p>
            <a:pPr indent="-317500" lvl="0" marL="457200" marR="0" rtl="0" algn="l">
              <a:lnSpc>
                <a:spcPct val="115000"/>
              </a:lnSpc>
              <a:spcBef>
                <a:spcPts val="1200"/>
              </a:spcBef>
              <a:spcAft>
                <a:spcPts val="0"/>
              </a:spcAft>
              <a:buClr>
                <a:schemeClr val="dk1"/>
              </a:buClr>
              <a:buSzPts val="1400"/>
              <a:buFont typeface="Arial"/>
              <a:buChar char="●"/>
            </a:pPr>
            <a:r>
              <a:rPr lang="en">
                <a:solidFill>
                  <a:schemeClr val="dk1"/>
                </a:solidFill>
              </a:rPr>
              <a:t>Lowest bound reference</a:t>
            </a:r>
            <a:r>
              <a:rPr b="1" lang="en">
                <a:solidFill>
                  <a:schemeClr val="dk1"/>
                </a:solidFill>
              </a:rPr>
              <a:t>.</a:t>
            </a:r>
            <a:endParaRPr b="1">
              <a:solidFill>
                <a:schemeClr val="dk1"/>
              </a:solidFill>
            </a:endParaRPr>
          </a:p>
          <a:p>
            <a:pPr indent="0" lvl="0" marL="0" marR="0" rtl="0" algn="l">
              <a:lnSpc>
                <a:spcPct val="115000"/>
              </a:lnSpc>
              <a:spcBef>
                <a:spcPts val="1200"/>
              </a:spcBef>
              <a:spcAft>
                <a:spcPts val="0"/>
              </a:spcAft>
              <a:buNone/>
            </a:pPr>
            <a:r>
              <a:t/>
            </a:r>
            <a:endParaRPr b="1">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1" lang="en">
                <a:solidFill>
                  <a:schemeClr val="dk1"/>
                </a:solidFill>
              </a:rPr>
              <a:t>Emotion (Text-Only + VA)</a:t>
            </a:r>
            <a:r>
              <a:rPr b="1" i="0" lang="en" u="none" cap="none" strike="noStrike">
                <a:solidFill>
                  <a:schemeClr val="dk1"/>
                </a:solidFill>
                <a:latin typeface="Arial"/>
                <a:ea typeface="Arial"/>
                <a:cs typeface="Arial"/>
                <a:sym typeface="Arial"/>
              </a:rPr>
              <a:t>:</a:t>
            </a:r>
            <a:endParaRPr b="1" i="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lang="en">
                <a:solidFill>
                  <a:schemeClr val="dk1"/>
                </a:solidFill>
              </a:rPr>
              <a:t>Input: </a:t>
            </a:r>
            <a:r>
              <a:rPr lang="en">
                <a:solidFill>
                  <a:schemeClr val="dk1"/>
                </a:solidFill>
              </a:rPr>
              <a:t>Transcript + Text VA (vad-bert).</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
                <a:solidFill>
                  <a:schemeClr val="dk1"/>
                </a:solidFill>
              </a:rPr>
              <a:t>Goal: </a:t>
            </a:r>
            <a:r>
              <a:rPr lang="en">
                <a:solidFill>
                  <a:schemeClr val="dk1"/>
                </a:solidFill>
              </a:rPr>
              <a:t>Isolate text-level emotional contribution.</a:t>
            </a:r>
            <a:endParaRPr b="0" i="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92" name="Google Shape;19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3" name="Google Shape;193;p27"/>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194" name="Google Shape;194;p27"/>
          <p:cNvSpPr txBox="1"/>
          <p:nvPr/>
        </p:nvSpPr>
        <p:spPr>
          <a:xfrm>
            <a:off x="1157250" y="918150"/>
            <a:ext cx="405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rPr b="1" i="0" lang="en" sz="1400" u="none" cap="none" strike="noStrike">
                <a:solidFill>
                  <a:schemeClr val="dk1"/>
                </a:solidFill>
                <a:latin typeface="Arial"/>
                <a:ea typeface="Arial"/>
                <a:cs typeface="Arial"/>
                <a:sym typeface="Arial"/>
              </a:rPr>
              <a:t>Baseline + E</a:t>
            </a:r>
            <a:r>
              <a:rPr b="1" lang="en">
                <a:solidFill>
                  <a:schemeClr val="dk1"/>
                </a:solidFill>
              </a:rPr>
              <a:t>m</a:t>
            </a:r>
            <a:r>
              <a:rPr b="1" i="0" lang="en" sz="1400" u="none" cap="none" strike="noStrike">
                <a:solidFill>
                  <a:schemeClr val="dk1"/>
                </a:solidFill>
                <a:latin typeface="Arial"/>
                <a:ea typeface="Arial"/>
                <a:cs typeface="Arial"/>
                <a:sym typeface="Arial"/>
              </a:rPr>
              <a:t>otion (Text-Only)</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00" name="Google Shape;200;p28"/>
          <p:cNvSpPr/>
          <p:nvPr/>
        </p:nvSpPr>
        <p:spPr>
          <a:xfrm>
            <a:off x="510450" y="1342275"/>
            <a:ext cx="7902300" cy="366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lang="en">
                <a:solidFill>
                  <a:schemeClr val="dk1"/>
                </a:solidFill>
              </a:rPr>
              <a:t>Multimodal (Vocal-Aware):</a:t>
            </a:r>
            <a:endParaRPr b="1" i="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lang="en">
                <a:solidFill>
                  <a:schemeClr val="dk1"/>
                </a:solidFill>
              </a:rPr>
              <a:t>Input: </a:t>
            </a:r>
            <a:r>
              <a:rPr lang="en">
                <a:solidFill>
                  <a:schemeClr val="dk1"/>
                </a:solidFill>
              </a:rPr>
              <a:t>Text VA + Speech VA (WavLM) + Vocal Descriptors (librosa).</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
                <a:solidFill>
                  <a:schemeClr val="dk1"/>
                </a:solidFill>
              </a:rPr>
              <a:t>Goal</a:t>
            </a:r>
            <a:r>
              <a:rPr b="1" i="0" lang="en" u="none" cap="none" strike="noStrike">
                <a:solidFill>
                  <a:schemeClr val="dk1"/>
                </a:solidFill>
                <a:latin typeface="Arial"/>
                <a:ea typeface="Arial"/>
                <a:cs typeface="Arial"/>
                <a:sym typeface="Arial"/>
              </a:rPr>
              <a:t>:</a:t>
            </a:r>
            <a:r>
              <a:rPr b="0" i="0" lang="en" u="none" cap="none" strike="noStrike">
                <a:solidFill>
                  <a:schemeClr val="dk1"/>
                </a:solidFill>
                <a:latin typeface="Arial"/>
                <a:ea typeface="Arial"/>
                <a:cs typeface="Arial"/>
                <a:sym typeface="Arial"/>
              </a:rPr>
              <a:t> </a:t>
            </a:r>
            <a:r>
              <a:rPr lang="en">
                <a:solidFill>
                  <a:schemeClr val="dk1"/>
                </a:solidFill>
              </a:rPr>
              <a:t>Test vocal cues WITHOUT explicit dissonance reasoning.</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Vocal Descriptors (librosa): </a:t>
            </a:r>
            <a:r>
              <a:rPr lang="en">
                <a:solidFill>
                  <a:schemeClr val="dk1"/>
                </a:solidFill>
              </a:rPr>
              <a:t>pitch (F0), loudness (RMS), speaking rate</a:t>
            </a:r>
            <a:endParaRPr>
              <a:solidFill>
                <a:schemeClr val="dk1"/>
              </a:solidFill>
            </a:endParaRPr>
          </a:p>
          <a:p>
            <a:pPr indent="0" lvl="0" marL="0" marR="0" rtl="0" algn="l">
              <a:lnSpc>
                <a:spcPct val="115000"/>
              </a:lnSpc>
              <a:spcBef>
                <a:spcPts val="0"/>
              </a:spcBef>
              <a:spcAft>
                <a:spcPts val="0"/>
              </a:spcAft>
              <a:buNone/>
            </a:pPr>
            <a:r>
              <a:t/>
            </a:r>
            <a:endParaRPr>
              <a:solidFill>
                <a:schemeClr val="dk1"/>
              </a:solidFill>
            </a:endParaRPr>
          </a:p>
          <a:p>
            <a:pPr indent="0" lvl="0" marL="0" marR="0" rtl="0" algn="l">
              <a:lnSpc>
                <a:spcPct val="115000"/>
              </a:lnSpc>
              <a:spcBef>
                <a:spcPts val="0"/>
              </a:spcBef>
              <a:spcAft>
                <a:spcPts val="0"/>
              </a:spcAft>
              <a:buNone/>
            </a:pPr>
            <a:r>
              <a:t/>
            </a:r>
            <a:endParaRPr>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1" lang="en">
                <a:solidFill>
                  <a:schemeClr val="dk1"/>
                </a:solidFill>
              </a:rPr>
              <a:t>Dissonance-Aware:</a:t>
            </a:r>
            <a:endParaRPr b="1" i="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lang="en">
                <a:solidFill>
                  <a:schemeClr val="dk1"/>
                </a:solidFill>
              </a:rPr>
              <a:t>Input: </a:t>
            </a:r>
            <a:r>
              <a:rPr lang="en">
                <a:solidFill>
                  <a:schemeClr val="dk1"/>
                </a:solidFill>
              </a:rPr>
              <a:t>All above + </a:t>
            </a:r>
            <a:r>
              <a:rPr b="1" lang="en">
                <a:solidFill>
                  <a:schemeClr val="dk1"/>
                </a:solidFill>
              </a:rPr>
              <a:t>VA delta (δ) + binary dissonance flag (|δ| ≥ 0.5)</a:t>
            </a:r>
            <a:endParaRPr b="1" i="0" u="none" cap="none" strike="noStrike">
              <a:solidFill>
                <a:schemeClr val="dk1"/>
              </a:solidFill>
            </a:endParaRPr>
          </a:p>
          <a:p>
            <a:pPr indent="-317500" lvl="0" marL="457200" marR="0" rtl="0" algn="l">
              <a:lnSpc>
                <a:spcPct val="115000"/>
              </a:lnSpc>
              <a:spcBef>
                <a:spcPts val="0"/>
              </a:spcBef>
              <a:spcAft>
                <a:spcPts val="0"/>
              </a:spcAft>
              <a:buClr>
                <a:schemeClr val="dk1"/>
              </a:buClr>
              <a:buSzPts val="1400"/>
              <a:buFont typeface="Arial"/>
              <a:buChar char="●"/>
            </a:pPr>
            <a:r>
              <a:rPr b="1" lang="en">
                <a:solidFill>
                  <a:schemeClr val="dk1"/>
                </a:solidFill>
              </a:rPr>
              <a:t>Key: </a:t>
            </a:r>
            <a:r>
              <a:rPr lang="en">
                <a:solidFill>
                  <a:schemeClr val="dk1"/>
                </a:solidFill>
              </a:rPr>
              <a:t>When mismatch detected → gentle exploration of hidden </a:t>
            </a:r>
            <a:r>
              <a:rPr lang="en">
                <a:solidFill>
                  <a:schemeClr val="dk1"/>
                </a:solidFill>
              </a:rPr>
              <a:t>effect</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b="1" lang="en">
                <a:solidFill>
                  <a:schemeClr val="dk1"/>
                </a:solidFill>
              </a:rPr>
              <a:t>Vocal Descriptors (librosa): </a:t>
            </a:r>
            <a:r>
              <a:rPr lang="en">
                <a:solidFill>
                  <a:schemeClr val="dk1"/>
                </a:solidFill>
              </a:rPr>
              <a:t>pitch (F0), loudness (RMS), speaking rate</a:t>
            </a:r>
            <a:endParaRPr>
              <a:solidFill>
                <a:schemeClr val="dk1"/>
              </a:solidFill>
            </a:endParaRPr>
          </a:p>
          <a:p>
            <a:pPr indent="-317500" lvl="0" marL="457200" marR="0" rtl="0" algn="l">
              <a:lnSpc>
                <a:spcPct val="115000"/>
              </a:lnSpc>
              <a:spcBef>
                <a:spcPts val="0"/>
              </a:spcBef>
              <a:spcAft>
                <a:spcPts val="0"/>
              </a:spcAft>
              <a:buClr>
                <a:schemeClr val="dk1"/>
              </a:buClr>
              <a:buSzPts val="1400"/>
              <a:buChar char="●"/>
            </a:pPr>
            <a:r>
              <a:rPr lang="en">
                <a:solidFill>
                  <a:schemeClr val="dk1"/>
                </a:solidFill>
              </a:rPr>
              <a:t>Differs from Multimodal on ONE variable = clean controlled </a:t>
            </a:r>
            <a:r>
              <a:rPr lang="en">
                <a:solidFill>
                  <a:schemeClr val="dk1"/>
                </a:solidFill>
              </a:rPr>
              <a:t>experiment</a:t>
            </a:r>
            <a:endParaRPr>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01" name="Google Shape;20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2" name="Google Shape;202;p28"/>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03" name="Google Shape;203;p28"/>
          <p:cNvSpPr txBox="1"/>
          <p:nvPr/>
        </p:nvSpPr>
        <p:spPr>
          <a:xfrm>
            <a:off x="1157250" y="897100"/>
            <a:ext cx="602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Multimodal (Vocal-Aware) </a:t>
            </a:r>
            <a:r>
              <a:rPr b="1" lang="en"/>
              <a:t>+ Dissonance-Aware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209" name="Google Shape;209;p29"/>
          <p:cNvSpPr txBox="1"/>
          <p:nvPr/>
        </p:nvSpPr>
        <p:spPr>
          <a:xfrm>
            <a:off x="0" y="0"/>
            <a:ext cx="381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1500" u="none" cap="none" strike="noStrike">
                <a:solidFill>
                  <a:srgbClr val="252827"/>
                </a:solidFill>
                <a:latin typeface="Oswald"/>
                <a:ea typeface="Oswald"/>
                <a:cs typeface="Oswald"/>
                <a:sym typeface="Oswald"/>
              </a:rPr>
              <a:t>3.</a:t>
            </a:r>
            <a:r>
              <a:rPr b="1" lang="en" sz="1500">
                <a:solidFill>
                  <a:srgbClr val="252827"/>
                </a:solidFill>
                <a:latin typeface="Oswald"/>
                <a:ea typeface="Oswald"/>
                <a:cs typeface="Oswald"/>
                <a:sym typeface="Oswald"/>
              </a:rPr>
              <a:t>5</a:t>
            </a:r>
            <a:r>
              <a:rPr b="1" i="0" lang="en" sz="1500" u="none" cap="none" strike="noStrike">
                <a:solidFill>
                  <a:srgbClr val="252827"/>
                </a:solidFill>
                <a:latin typeface="Oswald"/>
                <a:ea typeface="Oswald"/>
                <a:cs typeface="Oswald"/>
                <a:sym typeface="Oswald"/>
              </a:rPr>
              <a:t> FRAMEWORK DATASET &amp; PREPROCESS</a:t>
            </a:r>
            <a:endParaRPr b="1" i="0" sz="25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1500" u="none" cap="none" strike="noStrike">
              <a:solidFill>
                <a:srgbClr val="252827"/>
              </a:solidFill>
              <a:latin typeface="Oswald"/>
              <a:ea typeface="Oswald"/>
              <a:cs typeface="Oswald"/>
              <a:sym typeface="Oswald"/>
            </a:endParaRPr>
          </a:p>
        </p:txBody>
      </p:sp>
      <p:pic>
        <p:nvPicPr>
          <p:cNvPr id="210" name="Google Shape;210;p29" title="framework_pipeline_slide.png"/>
          <p:cNvPicPr preferRelativeResize="0"/>
          <p:nvPr/>
        </p:nvPicPr>
        <p:blipFill>
          <a:blip r:embed="rId4">
            <a:alphaModFix/>
          </a:blip>
          <a:stretch>
            <a:fillRect/>
          </a:stretch>
        </p:blipFill>
        <p:spPr>
          <a:xfrm>
            <a:off x="2175963" y="313319"/>
            <a:ext cx="4792074" cy="48386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sp>
        <p:nvSpPr>
          <p:cNvPr id="215" name="Google Shape;215;p30"/>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Models for Therapist Generation</a:t>
            </a:r>
            <a:endParaRPr b="1" i="0" sz="2300" u="none" cap="none" strike="noStrike">
              <a:solidFill>
                <a:srgbClr val="252827"/>
              </a:solidFill>
              <a:latin typeface="Oswald"/>
              <a:ea typeface="Oswald"/>
              <a:cs typeface="Oswald"/>
              <a:sym typeface="Oswald"/>
            </a:endParaRPr>
          </a:p>
        </p:txBody>
      </p:sp>
      <p:sp>
        <p:nvSpPr>
          <p:cNvPr id="216" name="Google Shape;216;p30"/>
          <p:cNvSpPr/>
          <p:nvPr/>
        </p:nvSpPr>
        <p:spPr>
          <a:xfrm>
            <a:off x="510450" y="1382525"/>
            <a:ext cx="7902300" cy="3084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Model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Large Language Model (LLM):</a:t>
            </a:r>
            <a:r>
              <a:rPr b="0" i="0" lang="en" sz="1100" u="none" cap="none" strike="noStrike">
                <a:solidFill>
                  <a:schemeClr val="dk1"/>
                </a:solidFill>
                <a:latin typeface="Arial"/>
                <a:ea typeface="Arial"/>
                <a:cs typeface="Arial"/>
                <a:sym typeface="Arial"/>
              </a:rPr>
              <a:t> Utilized </a:t>
            </a:r>
            <a:r>
              <a:rPr b="1" i="0" lang="en" sz="1100" u="none" cap="none" strike="noStrike">
                <a:solidFill>
                  <a:schemeClr val="dk1"/>
                </a:solidFill>
                <a:latin typeface="Arial"/>
                <a:ea typeface="Arial"/>
                <a:cs typeface="Arial"/>
                <a:sym typeface="Arial"/>
              </a:rPr>
              <a:t>GPT-4o mini</a:t>
            </a:r>
            <a:r>
              <a:rPr b="0" i="0" lang="en" sz="1100" u="none" cap="none" strike="noStrike">
                <a:solidFill>
                  <a:schemeClr val="dk1"/>
                </a:solidFill>
                <a:latin typeface="Arial"/>
                <a:ea typeface="Arial"/>
                <a:cs typeface="Arial"/>
                <a:sym typeface="Arial"/>
              </a:rPr>
              <a:t> via API.</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Input Data:</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Context-Only:</a:t>
            </a:r>
            <a:r>
              <a:rPr b="0" i="0" lang="en" sz="1100" u="none" cap="none" strike="noStrike">
                <a:solidFill>
                  <a:schemeClr val="dk1"/>
                </a:solidFill>
                <a:latin typeface="Arial"/>
                <a:ea typeface="Arial"/>
                <a:cs typeface="Arial"/>
                <a:sym typeface="Arial"/>
              </a:rPr>
              <a:t> Receives </a:t>
            </a:r>
            <a:r>
              <a:rPr b="1" i="0" lang="en" sz="1100" u="none" cap="none" strike="noStrike">
                <a:solidFill>
                  <a:schemeClr val="dk1"/>
                </a:solidFill>
                <a:latin typeface="Arial"/>
                <a:ea typeface="Arial"/>
                <a:cs typeface="Arial"/>
                <a:sym typeface="Arial"/>
              </a:rPr>
              <a:t>pure text transcripts</a:t>
            </a:r>
            <a:r>
              <a:rPr b="0" i="0" lang="en" sz="1100" u="none" cap="none" strike="noStrike">
                <a:solidFill>
                  <a:schemeClr val="dk1"/>
                </a:solidFill>
                <a:latin typeface="Arial"/>
                <a:ea typeface="Arial"/>
                <a:cs typeface="Arial"/>
                <a:sym typeface="Arial"/>
              </a:rPr>
              <a:t> of the dialogue history (e.g., previous turns + current client utterance).</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Blind to Audio:</a:t>
            </a:r>
            <a:r>
              <a:rPr b="0" i="0" lang="en" sz="1100" u="none" cap="none" strike="noStrike">
                <a:solidFill>
                  <a:schemeClr val="dk1"/>
                </a:solidFill>
                <a:latin typeface="Arial"/>
                <a:ea typeface="Arial"/>
                <a:cs typeface="Arial"/>
                <a:sym typeface="Arial"/>
              </a:rPr>
              <a:t> Crucially, this model has </a:t>
            </a:r>
            <a:r>
              <a:rPr b="1" i="0" lang="en" sz="1100" u="none" cap="none" strike="noStrike">
                <a:solidFill>
                  <a:schemeClr val="dk1"/>
                </a:solidFill>
                <a:latin typeface="Arial"/>
                <a:ea typeface="Arial"/>
                <a:cs typeface="Arial"/>
                <a:sym typeface="Arial"/>
              </a:rPr>
              <a:t>zero access</a:t>
            </a:r>
            <a:r>
              <a:rPr b="0" i="0" lang="en" sz="1100" u="none" cap="none" strike="noStrike">
                <a:solidFill>
                  <a:schemeClr val="dk1"/>
                </a:solidFill>
                <a:latin typeface="Arial"/>
                <a:ea typeface="Arial"/>
                <a:cs typeface="Arial"/>
                <a:sym typeface="Arial"/>
              </a:rPr>
              <a:t> to acoustic features (pitch, loudness, speed).</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Objective: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To establish the </a:t>
            </a:r>
            <a:r>
              <a:rPr b="1" i="0" lang="en" sz="1100" u="none" cap="none" strike="noStrike">
                <a:solidFill>
                  <a:schemeClr val="dk1"/>
                </a:solidFill>
                <a:latin typeface="Arial"/>
                <a:ea typeface="Arial"/>
                <a:cs typeface="Arial"/>
                <a:sym typeface="Arial"/>
              </a:rPr>
              <a:t>"Text-Only Performance Ceiling"</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This represents how well an AI can understand the client's cognitive state using </a:t>
            </a:r>
            <a:r>
              <a:rPr b="1" i="0" lang="en" sz="1100" u="none" cap="none" strike="noStrike">
                <a:solidFill>
                  <a:schemeClr val="dk1"/>
                </a:solidFill>
                <a:latin typeface="Arial"/>
                <a:ea typeface="Arial"/>
                <a:cs typeface="Arial"/>
                <a:sym typeface="Arial"/>
              </a:rPr>
              <a:t>semantic content alone</a:t>
            </a:r>
            <a:r>
              <a:rPr b="0" i="0" lang="en" sz="1100" u="none" cap="none" strike="noStrike">
                <a:solidFill>
                  <a:schemeClr val="dk1"/>
                </a:solidFill>
                <a:latin typeface="Arial"/>
                <a:ea typeface="Arial"/>
                <a:cs typeface="Arial"/>
                <a:sym typeface="Arial"/>
              </a:rPr>
              <a:t>, serving as the benchmark to measure the added value of vocal cues.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17" name="Google Shape;21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8" name="Google Shape;218;p30"/>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19" name="Google Shape;219;p30"/>
          <p:cNvSpPr txBox="1"/>
          <p:nvPr/>
        </p:nvSpPr>
        <p:spPr>
          <a:xfrm>
            <a:off x="1157250" y="918150"/>
            <a:ext cx="405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rPr b="1" i="0" lang="en" sz="1400" u="none" cap="none" strike="noStrike">
                <a:solidFill>
                  <a:schemeClr val="dk1"/>
                </a:solidFill>
                <a:latin typeface="Arial"/>
                <a:ea typeface="Arial"/>
                <a:cs typeface="Arial"/>
                <a:sym typeface="Arial"/>
              </a:rPr>
              <a:t>Baseline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31"/>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25" name="Google Shape;225;p31"/>
          <p:cNvSpPr/>
          <p:nvPr/>
        </p:nvSpPr>
        <p:spPr>
          <a:xfrm>
            <a:off x="510450" y="1382525"/>
            <a:ext cx="7902300" cy="3084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Model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Large Language Model (LLM):</a:t>
            </a:r>
            <a:r>
              <a:rPr b="0" i="0" lang="en" sz="1100" u="none" cap="none" strike="noStrike">
                <a:solidFill>
                  <a:schemeClr val="dk1"/>
                </a:solidFill>
                <a:latin typeface="Arial"/>
                <a:ea typeface="Arial"/>
                <a:cs typeface="Arial"/>
                <a:sym typeface="Arial"/>
              </a:rPr>
              <a:t> Utilized </a:t>
            </a:r>
            <a:r>
              <a:rPr b="1" i="0" lang="en" sz="1100" u="none" cap="none" strike="noStrike">
                <a:solidFill>
                  <a:schemeClr val="dk1"/>
                </a:solidFill>
                <a:latin typeface="Arial"/>
                <a:ea typeface="Arial"/>
                <a:cs typeface="Arial"/>
                <a:sym typeface="Arial"/>
              </a:rPr>
              <a:t>GPT-4o mini</a:t>
            </a:r>
            <a:r>
              <a:rPr b="0" i="0" lang="en" sz="1100" u="none" cap="none" strike="noStrike">
                <a:solidFill>
                  <a:schemeClr val="dk1"/>
                </a:solidFill>
                <a:latin typeface="Arial"/>
                <a:ea typeface="Arial"/>
                <a:cs typeface="Arial"/>
                <a:sym typeface="Arial"/>
              </a:rPr>
              <a:t> via API.</a:t>
            </a:r>
            <a:endParaRPr b="0" i="1"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Input Data:</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Context-Only with VA added:</a:t>
            </a:r>
            <a:r>
              <a:rPr b="0" i="0" lang="en" sz="1100" u="none" cap="none" strike="noStrike">
                <a:solidFill>
                  <a:schemeClr val="dk1"/>
                </a:solidFill>
                <a:latin typeface="Arial"/>
                <a:ea typeface="Arial"/>
                <a:cs typeface="Arial"/>
                <a:sym typeface="Arial"/>
              </a:rPr>
              <a:t> Receives </a:t>
            </a:r>
            <a:r>
              <a:rPr b="1" i="0" lang="en" sz="1100" u="none" cap="none" strike="noStrike">
                <a:solidFill>
                  <a:schemeClr val="dk1"/>
                </a:solidFill>
                <a:latin typeface="Arial"/>
                <a:ea typeface="Arial"/>
                <a:cs typeface="Arial"/>
                <a:sym typeface="Arial"/>
              </a:rPr>
              <a:t>pure text transcripts</a:t>
            </a:r>
            <a:r>
              <a:rPr b="0" i="0" lang="en" sz="1100" u="none" cap="none" strike="noStrike">
                <a:solidFill>
                  <a:schemeClr val="dk1"/>
                </a:solidFill>
                <a:latin typeface="Arial"/>
                <a:ea typeface="Arial"/>
                <a:cs typeface="Arial"/>
                <a:sym typeface="Arial"/>
              </a:rPr>
              <a:t> of the dialogue history (e.g., previous turns + current client utterance) + valence and arousal values to guide the LLM to understand the current emotional state more clearly.</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Blind to Audio:</a:t>
            </a:r>
            <a:r>
              <a:rPr b="0" i="0" lang="en" sz="1100" u="none" cap="none" strike="noStrike">
                <a:solidFill>
                  <a:schemeClr val="dk1"/>
                </a:solidFill>
                <a:latin typeface="Arial"/>
                <a:ea typeface="Arial"/>
                <a:cs typeface="Arial"/>
                <a:sym typeface="Arial"/>
              </a:rPr>
              <a:t> Crucially, this model still has </a:t>
            </a:r>
            <a:r>
              <a:rPr b="1" i="0" lang="en" sz="1100" u="none" cap="none" strike="noStrike">
                <a:solidFill>
                  <a:schemeClr val="dk1"/>
                </a:solidFill>
                <a:latin typeface="Arial"/>
                <a:ea typeface="Arial"/>
                <a:cs typeface="Arial"/>
                <a:sym typeface="Arial"/>
              </a:rPr>
              <a:t>zero access</a:t>
            </a:r>
            <a:r>
              <a:rPr b="0" i="0" lang="en" sz="1100" u="none" cap="none" strike="noStrike">
                <a:solidFill>
                  <a:schemeClr val="dk1"/>
                </a:solidFill>
                <a:latin typeface="Arial"/>
                <a:ea typeface="Arial"/>
                <a:cs typeface="Arial"/>
                <a:sym typeface="Arial"/>
              </a:rPr>
              <a:t> to acoustic features (pitch, loudness, speed).</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Objective: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To establish the </a:t>
            </a:r>
            <a:r>
              <a:rPr b="1" i="0" lang="en" sz="1100" u="none" cap="none" strike="noStrike">
                <a:solidFill>
                  <a:schemeClr val="dk1"/>
                </a:solidFill>
                <a:latin typeface="Arial"/>
                <a:ea typeface="Arial"/>
                <a:cs typeface="Arial"/>
                <a:sym typeface="Arial"/>
              </a:rPr>
              <a:t>"Text-Only with the addition of VA values Performance Ceiling"</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This represents how effective of LLMs response via added VA values to LLMs that could help in more emphatic feel for the client's cognitive state compared to the baseline model.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26" name="Google Shape;22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7" name="Google Shape;227;p31"/>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28" name="Google Shape;228;p31"/>
          <p:cNvSpPr txBox="1"/>
          <p:nvPr/>
        </p:nvSpPr>
        <p:spPr>
          <a:xfrm>
            <a:off x="1157250" y="918150"/>
            <a:ext cx="5909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rPr b="1" i="0" lang="en" sz="1400" u="none" cap="none" strike="noStrike">
                <a:solidFill>
                  <a:schemeClr val="dk1"/>
                </a:solidFill>
                <a:latin typeface="Arial"/>
                <a:ea typeface="Arial"/>
                <a:cs typeface="Arial"/>
                <a:sym typeface="Arial"/>
              </a:rPr>
              <a:t>Emotion (Text-Only + VA) (The Text-Only with VA outputs)</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p32"/>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34" name="Google Shape;234;p32"/>
          <p:cNvSpPr/>
          <p:nvPr/>
        </p:nvSpPr>
        <p:spPr>
          <a:xfrm>
            <a:off x="510450" y="1240225"/>
            <a:ext cx="7902300" cy="366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1. Core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Model:</a:t>
            </a:r>
            <a:r>
              <a:rPr b="0" i="0" lang="en" sz="1100" u="none" cap="none" strike="noStrike">
                <a:solidFill>
                  <a:schemeClr val="dk1"/>
                </a:solidFill>
                <a:latin typeface="Arial"/>
                <a:ea typeface="Arial"/>
                <a:cs typeface="Arial"/>
                <a:sym typeface="Arial"/>
              </a:rPr>
              <a:t> </a:t>
            </a:r>
            <a:r>
              <a:rPr b="1" i="0" lang="en" sz="1100" u="none" cap="none" strike="noStrike">
                <a:solidFill>
                  <a:schemeClr val="dk1"/>
                </a:solidFill>
                <a:latin typeface="Arial"/>
                <a:ea typeface="Arial"/>
                <a:cs typeface="Arial"/>
                <a:sym typeface="Arial"/>
              </a:rPr>
              <a:t>GPT-4o mini</a:t>
            </a:r>
            <a:r>
              <a:rPr b="0" i="0" lang="en" sz="1100" u="none" cap="none" strike="noStrike">
                <a:solidFill>
                  <a:schemeClr val="dk1"/>
                </a:solidFill>
                <a:latin typeface="Arial"/>
                <a:ea typeface="Arial"/>
                <a:cs typeface="Arial"/>
                <a:sym typeface="Arial"/>
              </a:rPr>
              <a:t> (accessed via API).</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Role:</a:t>
            </a:r>
            <a:r>
              <a:rPr b="0" i="0" lang="en" sz="1100" u="none" cap="none" strike="noStrike">
                <a:solidFill>
                  <a:schemeClr val="dk1"/>
                </a:solidFill>
                <a:latin typeface="Arial"/>
                <a:ea typeface="Arial"/>
                <a:cs typeface="Arial"/>
                <a:sym typeface="Arial"/>
              </a:rPr>
              <a:t> </a:t>
            </a:r>
            <a:r>
              <a:rPr lang="en" sz="1100">
                <a:solidFill>
                  <a:schemeClr val="dk1"/>
                </a:solidFill>
              </a:rPr>
              <a:t>Central reasoning engine integrating semantic, acoustic, and prosodic information.</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2. </a:t>
            </a:r>
            <a:r>
              <a:rPr b="1" lang="en" sz="1100">
                <a:solidFill>
                  <a:schemeClr val="dk1"/>
                </a:solidFill>
              </a:rPr>
              <a:t>Feature Injection Strategy:</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lang="en" sz="1100">
                <a:solidFill>
                  <a:schemeClr val="dk1"/>
                </a:solidFill>
              </a:rPr>
              <a:t>Text VA:</a:t>
            </a:r>
            <a:r>
              <a:rPr lang="en" sz="1100">
                <a:solidFill>
                  <a:schemeClr val="dk1"/>
                </a:solidFill>
              </a:rPr>
              <a:t> (vad-bert): Valence &amp; Arousal from transcript.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Speech VA (WavLM):</a:t>
            </a:r>
            <a:r>
              <a:rPr b="1" lang="en" sz="1100">
                <a:solidFill>
                  <a:schemeClr val="dk1"/>
                </a:solidFill>
              </a:rPr>
              <a:t> </a:t>
            </a:r>
            <a:r>
              <a:rPr lang="en" sz="1100">
                <a:solidFill>
                  <a:schemeClr val="dk1"/>
                </a:solidFill>
              </a:rPr>
              <a:t>Valence &amp; Arousal from synthesized audio</a:t>
            </a:r>
            <a:endParaRPr sz="1100">
              <a:solidFill>
                <a:schemeClr val="dk1"/>
              </a:solidFill>
            </a:endParaRPr>
          </a:p>
          <a:p>
            <a:pPr indent="-298450" lvl="0" marL="457200" marR="0" rtl="0" algn="l">
              <a:lnSpc>
                <a:spcPct val="115000"/>
              </a:lnSpc>
              <a:spcBef>
                <a:spcPts val="0"/>
              </a:spcBef>
              <a:spcAft>
                <a:spcPts val="0"/>
              </a:spcAft>
              <a:buClr>
                <a:schemeClr val="dk1"/>
              </a:buClr>
              <a:buSzPts val="1100"/>
              <a:buChar char="●"/>
            </a:pPr>
            <a:r>
              <a:rPr b="1" lang="en" sz="1100">
                <a:solidFill>
                  <a:schemeClr val="dk1"/>
                </a:solidFill>
              </a:rPr>
              <a:t>Vocal Descriptors (librosa): </a:t>
            </a:r>
            <a:r>
              <a:rPr lang="en" sz="1100">
                <a:solidFill>
                  <a:schemeClr val="dk1"/>
                </a:solidFill>
              </a:rPr>
              <a:t>pitch (F0), loudness (RMS), speaking rate</a:t>
            </a:r>
            <a:endParaRPr sz="11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 sz="1100">
                <a:solidFill>
                  <a:schemeClr val="dk1"/>
                </a:solidFill>
              </a:rPr>
              <a:t>All injected as contextual descriptors into the LLM prompt alongside dialogue text</a:t>
            </a:r>
            <a:endParaRPr sz="11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3. Decision Mechanism:</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Char char="●"/>
            </a:pPr>
            <a:r>
              <a:rPr b="1" lang="en" sz="1100">
                <a:solidFill>
                  <a:schemeClr val="dk1"/>
                </a:solidFill>
              </a:rPr>
              <a:t>LLM cross-references:</a:t>
            </a:r>
            <a:endParaRPr b="1" sz="1100">
              <a:solidFill>
                <a:schemeClr val="dk1"/>
              </a:solidFill>
            </a:endParaRPr>
          </a:p>
          <a:p>
            <a:pPr indent="-298450" lvl="1" marL="914400" marR="0" rtl="0" algn="l">
              <a:lnSpc>
                <a:spcPct val="115000"/>
              </a:lnSpc>
              <a:spcBef>
                <a:spcPts val="0"/>
              </a:spcBef>
              <a:spcAft>
                <a:spcPts val="0"/>
              </a:spcAft>
              <a:buClr>
                <a:schemeClr val="dk1"/>
              </a:buClr>
              <a:buSzPts val="1100"/>
              <a:buAutoNum type="arabicPeriod"/>
            </a:pPr>
            <a:r>
              <a:rPr lang="en" sz="1100">
                <a:solidFill>
                  <a:schemeClr val="dk1"/>
                </a:solidFill>
              </a:rPr>
              <a:t>What was said (Text / Semantics)</a:t>
            </a:r>
            <a:endParaRPr sz="1100">
              <a:solidFill>
                <a:schemeClr val="dk1"/>
              </a:solidFill>
            </a:endParaRPr>
          </a:p>
          <a:p>
            <a:pPr indent="-298450" lvl="1" marL="914400" marR="0" rtl="0" algn="l">
              <a:lnSpc>
                <a:spcPct val="115000"/>
              </a:lnSpc>
              <a:spcBef>
                <a:spcPts val="0"/>
              </a:spcBef>
              <a:spcAft>
                <a:spcPts val="0"/>
              </a:spcAft>
              <a:buClr>
                <a:schemeClr val="dk1"/>
              </a:buClr>
              <a:buSzPts val="1100"/>
              <a:buAutoNum type="arabicPeriod"/>
            </a:pPr>
            <a:r>
              <a:rPr lang="en" sz="1100">
                <a:solidFill>
                  <a:schemeClr val="dk1"/>
                </a:solidFill>
              </a:rPr>
              <a:t>How it was said (Vocal cues / VA / prosodic descriptors)</a:t>
            </a:r>
            <a:endParaRPr sz="1100">
              <a:solidFill>
                <a:schemeClr val="dk1"/>
              </a:solidFill>
            </a:endParaRPr>
          </a:p>
          <a:p>
            <a:pPr indent="0" lvl="0" marL="457200" marR="0" rtl="0" algn="l">
              <a:lnSpc>
                <a:spcPct val="115000"/>
              </a:lnSpc>
              <a:spcBef>
                <a:spcPts val="1200"/>
              </a:spcBef>
              <a:spcAft>
                <a:spcPts val="0"/>
              </a:spcAft>
              <a:buNone/>
            </a:pPr>
            <a:r>
              <a:rPr lang="en" sz="1100">
                <a:solidFill>
                  <a:schemeClr val="dk1"/>
                </a:solidFill>
              </a:rPr>
              <a:t>→ </a:t>
            </a:r>
            <a:r>
              <a:rPr b="1" lang="en" sz="1100">
                <a:solidFill>
                  <a:schemeClr val="dk1"/>
                </a:solidFill>
              </a:rPr>
              <a:t>Holistic response</a:t>
            </a:r>
            <a:r>
              <a:rPr lang="en" sz="1100">
                <a:solidFill>
                  <a:schemeClr val="dk1"/>
                </a:solidFill>
              </a:rPr>
              <a:t> capturing emotional nuances invisible to text-only models</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35" name="Google Shape;235;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36" name="Google Shape;236;p32"/>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37" name="Google Shape;237;p32"/>
          <p:cNvSpPr txBox="1"/>
          <p:nvPr/>
        </p:nvSpPr>
        <p:spPr>
          <a:xfrm>
            <a:off x="1157250" y="897100"/>
            <a:ext cx="602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Multimodal (Vocal-Aware) (Vocal-Aware LLM Framework)</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 name="Shape 241"/>
        <p:cNvGrpSpPr/>
        <p:nvPr/>
      </p:nvGrpSpPr>
      <p:grpSpPr>
        <a:xfrm>
          <a:off x="0" y="0"/>
          <a:ext cx="0" cy="0"/>
          <a:chOff x="0" y="0"/>
          <a:chExt cx="0" cy="0"/>
        </a:xfrm>
      </p:grpSpPr>
      <p:sp>
        <p:nvSpPr>
          <p:cNvPr id="242" name="Google Shape;242;p33"/>
          <p:cNvSpPr txBox="1"/>
          <p:nvPr/>
        </p:nvSpPr>
        <p:spPr>
          <a:xfrm>
            <a:off x="418025" y="468350"/>
            <a:ext cx="5715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3.4 Therapist Generation Conditions</a:t>
            </a:r>
            <a:endParaRPr b="1" i="0" sz="2300" u="none" cap="none" strike="noStrike">
              <a:solidFill>
                <a:srgbClr val="252827"/>
              </a:solidFill>
              <a:latin typeface="Oswald"/>
              <a:ea typeface="Oswald"/>
              <a:cs typeface="Oswald"/>
              <a:sym typeface="Oswald"/>
            </a:endParaRPr>
          </a:p>
        </p:txBody>
      </p:sp>
      <p:sp>
        <p:nvSpPr>
          <p:cNvPr id="243" name="Google Shape;243;p33"/>
          <p:cNvSpPr/>
          <p:nvPr/>
        </p:nvSpPr>
        <p:spPr>
          <a:xfrm>
            <a:off x="510450" y="1149689"/>
            <a:ext cx="7902300" cy="366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1. Core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Model:</a:t>
            </a:r>
            <a:r>
              <a:rPr b="0" i="0" lang="en" sz="1100" u="none" cap="none" strike="noStrike">
                <a:solidFill>
                  <a:schemeClr val="dk1"/>
                </a:solidFill>
                <a:latin typeface="Arial"/>
                <a:ea typeface="Arial"/>
                <a:cs typeface="Arial"/>
                <a:sym typeface="Arial"/>
              </a:rPr>
              <a:t> </a:t>
            </a:r>
            <a:r>
              <a:rPr b="1" i="0" lang="en" sz="1100" u="none" cap="none" strike="noStrike">
                <a:solidFill>
                  <a:schemeClr val="dk1"/>
                </a:solidFill>
                <a:latin typeface="Arial"/>
                <a:ea typeface="Arial"/>
                <a:cs typeface="Arial"/>
                <a:sym typeface="Arial"/>
              </a:rPr>
              <a:t>GPT-4o mini</a:t>
            </a:r>
            <a:r>
              <a:rPr b="0" i="0" lang="en" sz="1100" u="none" cap="none" strike="noStrike">
                <a:solidFill>
                  <a:schemeClr val="dk1"/>
                </a:solidFill>
                <a:latin typeface="Arial"/>
                <a:ea typeface="Arial"/>
                <a:cs typeface="Arial"/>
                <a:sym typeface="Arial"/>
              </a:rPr>
              <a:t> (accessed via API).</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Role:</a:t>
            </a:r>
            <a:r>
              <a:rPr b="0" i="0" lang="en" sz="1100" u="none" cap="none" strike="noStrike">
                <a:solidFill>
                  <a:schemeClr val="dk1"/>
                </a:solidFill>
                <a:latin typeface="Arial"/>
                <a:ea typeface="Arial"/>
                <a:cs typeface="Arial"/>
                <a:sym typeface="Arial"/>
              </a:rPr>
              <a:t> </a:t>
            </a:r>
            <a:r>
              <a:rPr lang="en" sz="1100">
                <a:solidFill>
                  <a:schemeClr val="dk1"/>
                </a:solidFill>
              </a:rPr>
              <a:t>Same as Multimodal PLUS cognitive dissonance measured from VA delta between text and speech modalities.</a:t>
            </a:r>
            <a:endParaRPr sz="11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2. </a:t>
            </a:r>
            <a:r>
              <a:rPr b="1" lang="en" sz="1100">
                <a:solidFill>
                  <a:schemeClr val="dk1"/>
                </a:solidFill>
              </a:rPr>
              <a:t>Feature Injection Strategy (Same as Multimodal PLUS)</a:t>
            </a:r>
            <a:r>
              <a:rPr b="1" i="0" lang="en" sz="1100" u="none" cap="none" strike="noStrike">
                <a:solidFill>
                  <a:schemeClr val="dk1"/>
                </a:solidFill>
                <a:latin typeface="Arial"/>
                <a:ea typeface="Arial"/>
                <a:cs typeface="Arial"/>
                <a:sym typeface="Arial"/>
              </a:rPr>
              <a:t>:</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lang="en" sz="1100">
                <a:solidFill>
                  <a:schemeClr val="dk1"/>
                </a:solidFill>
              </a:rPr>
              <a:t>All Multimodal features</a:t>
            </a:r>
            <a:r>
              <a:rPr lang="en" sz="1100">
                <a:solidFill>
                  <a:schemeClr val="dk1"/>
                </a:solidFill>
              </a:rPr>
              <a:t>: (Text VA, Speech VA, Vocal Descriptors)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Char char="●"/>
            </a:pPr>
            <a:r>
              <a:rPr b="1" lang="en" sz="1100">
                <a:solidFill>
                  <a:schemeClr val="dk1"/>
                </a:solidFill>
              </a:rPr>
              <a:t>Dissonance Signal</a:t>
            </a:r>
            <a:r>
              <a:rPr lang="en" sz="1100">
                <a:solidFill>
                  <a:schemeClr val="dk1"/>
                </a:solidFill>
              </a:rPr>
              <a:t>: δ_V = V_speech - V_text,  δ_A = A_speech - A_text</a:t>
            </a:r>
            <a:endParaRPr sz="1100">
              <a:solidFill>
                <a:schemeClr val="dk1"/>
              </a:solidFill>
            </a:endParaRPr>
          </a:p>
          <a:p>
            <a:pPr indent="-298450" lvl="0" marL="457200" marR="0" rtl="0" algn="l">
              <a:lnSpc>
                <a:spcPct val="115000"/>
              </a:lnSpc>
              <a:spcBef>
                <a:spcPts val="0"/>
              </a:spcBef>
              <a:spcAft>
                <a:spcPts val="0"/>
              </a:spcAft>
              <a:buClr>
                <a:schemeClr val="dk1"/>
              </a:buClr>
              <a:buSzPts val="1100"/>
              <a:buChar char="●"/>
            </a:pPr>
            <a:r>
              <a:rPr b="1" lang="en" sz="1100">
                <a:solidFill>
                  <a:schemeClr val="dk1"/>
                </a:solidFill>
              </a:rPr>
              <a:t>Binary dissonance flag</a:t>
            </a:r>
            <a:r>
              <a:rPr lang="en" sz="1100">
                <a:solidFill>
                  <a:schemeClr val="dk1"/>
                </a:solidFill>
              </a:rPr>
              <a:t>: |δ| ≥ 0.5</a:t>
            </a:r>
            <a:endParaRPr sz="11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3. Decision Mechanism:</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lang="en" sz="1100">
                <a:solidFill>
                  <a:schemeClr val="dk1"/>
                </a:solidFill>
              </a:rPr>
              <a:t>LLM cross-references</a:t>
            </a:r>
            <a:r>
              <a:rPr lang="en" sz="1100">
                <a:solidFill>
                  <a:schemeClr val="dk1"/>
                </a:solidFill>
              </a:rPr>
              <a:t>:</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What was said (Text / Semantics</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lang="en" sz="1100">
                <a:solidFill>
                  <a:schemeClr val="dk1"/>
                </a:solidFill>
              </a:rPr>
              <a:t>How it was said (Vocal cues / VA / descriptors)</a:t>
            </a:r>
            <a:endParaRPr sz="1100">
              <a:solidFill>
                <a:schemeClr val="dk1"/>
              </a:solidFill>
            </a:endParaRPr>
          </a:p>
          <a:p>
            <a:pPr indent="-298450" lvl="1" marL="914400" marR="0" rtl="0" algn="l">
              <a:lnSpc>
                <a:spcPct val="115000"/>
              </a:lnSpc>
              <a:spcBef>
                <a:spcPts val="0"/>
              </a:spcBef>
              <a:spcAft>
                <a:spcPts val="0"/>
              </a:spcAft>
              <a:buClr>
                <a:schemeClr val="dk1"/>
              </a:buClr>
              <a:buSzPts val="1100"/>
              <a:buChar char="○"/>
            </a:pPr>
            <a:r>
              <a:rPr b="1" lang="en" sz="1100">
                <a:solidFill>
                  <a:schemeClr val="dk1"/>
                </a:solidFill>
              </a:rPr>
              <a:t>Why tone differs from words</a:t>
            </a:r>
            <a:r>
              <a:rPr lang="en" sz="1100">
                <a:solidFill>
                  <a:schemeClr val="dk1"/>
                </a:solidFill>
              </a:rPr>
              <a:t> (Dissonance-aware reasoning)</a:t>
            </a:r>
            <a:endParaRPr sz="1100">
              <a:solidFill>
                <a:schemeClr val="dk1"/>
              </a:solidFill>
            </a:endParaRPr>
          </a:p>
          <a:p>
            <a:pPr indent="0" lvl="0" marL="0" marR="0" rtl="0" algn="l">
              <a:lnSpc>
                <a:spcPct val="115000"/>
              </a:lnSpc>
              <a:spcBef>
                <a:spcPts val="0"/>
              </a:spcBef>
              <a:spcAft>
                <a:spcPts val="0"/>
              </a:spcAft>
              <a:buNone/>
            </a:pPr>
            <a:r>
              <a:t/>
            </a:r>
            <a:endParaRPr sz="1100">
              <a:solidFill>
                <a:schemeClr val="dk1"/>
              </a:solidFill>
            </a:endParaRPr>
          </a:p>
          <a:p>
            <a:pPr indent="457200" lvl="0" marL="0" marR="0" rtl="0" algn="l">
              <a:lnSpc>
                <a:spcPct val="115000"/>
              </a:lnSpc>
              <a:spcBef>
                <a:spcPts val="0"/>
              </a:spcBef>
              <a:spcAft>
                <a:spcPts val="0"/>
              </a:spcAft>
              <a:buNone/>
            </a:pPr>
            <a:r>
              <a:rPr lang="en" sz="1100">
                <a:solidFill>
                  <a:schemeClr val="dk1"/>
                </a:solidFill>
              </a:rPr>
              <a:t>→ </a:t>
            </a:r>
            <a:r>
              <a:rPr b="1" lang="en" sz="1100">
                <a:solidFill>
                  <a:schemeClr val="dk1"/>
                </a:solidFill>
              </a:rPr>
              <a:t>Captures hidden affect</a:t>
            </a:r>
            <a:r>
              <a:rPr lang="en" sz="1100">
                <a:solidFill>
                  <a:schemeClr val="dk1"/>
                </a:solidFill>
              </a:rPr>
              <a:t>: when client's voice contradicts their words</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just">
              <a:lnSpc>
                <a:spcPct val="150000"/>
              </a:lnSpc>
              <a:spcBef>
                <a:spcPts val="1599"/>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44" name="Google Shape;24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45" name="Google Shape;245;p33"/>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
        <p:nvSpPr>
          <p:cNvPr id="246" name="Google Shape;246;p33"/>
          <p:cNvSpPr txBox="1"/>
          <p:nvPr/>
        </p:nvSpPr>
        <p:spPr>
          <a:xfrm>
            <a:off x="1157250" y="863450"/>
            <a:ext cx="584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Dissonance-Aware (Dissonance-Aware LLM Framework)</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50" name="Shape 250"/>
        <p:cNvGrpSpPr/>
        <p:nvPr/>
      </p:nvGrpSpPr>
      <p:grpSpPr>
        <a:xfrm>
          <a:off x="0" y="0"/>
          <a:ext cx="0" cy="0"/>
          <a:chOff x="0" y="0"/>
          <a:chExt cx="0" cy="0"/>
        </a:xfrm>
      </p:grpSpPr>
      <p:sp>
        <p:nvSpPr>
          <p:cNvPr id="251" name="Google Shape;25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52" name="Google Shape;252;p34"/>
          <p:cNvSpPr txBox="1"/>
          <p:nvPr/>
        </p:nvSpPr>
        <p:spPr>
          <a:xfrm>
            <a:off x="400000" y="150000"/>
            <a:ext cx="80001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900" u="none" cap="none" strike="noStrike">
                <a:solidFill>
                  <a:schemeClr val="dk1"/>
                </a:solidFill>
                <a:latin typeface="Oswald"/>
                <a:ea typeface="Oswald"/>
                <a:cs typeface="Oswald"/>
                <a:sym typeface="Oswald"/>
              </a:rPr>
              <a:t>4. EXPERIMENTS</a:t>
            </a:r>
            <a:endParaRPr sz="500">
              <a:solidFill>
                <a:schemeClr val="dk1"/>
              </a:solidFill>
              <a:latin typeface="Oswald"/>
              <a:ea typeface="Oswald"/>
              <a:cs typeface="Oswald"/>
              <a:sym typeface="Oswald"/>
            </a:endParaRPr>
          </a:p>
        </p:txBody>
      </p:sp>
      <p:sp>
        <p:nvSpPr>
          <p:cNvPr id="253" name="Google Shape;253;p34"/>
          <p:cNvSpPr txBox="1"/>
          <p:nvPr/>
        </p:nvSpPr>
        <p:spPr>
          <a:xfrm>
            <a:off x="400000" y="600000"/>
            <a:ext cx="800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u="none" cap="none" strike="noStrike">
                <a:solidFill>
                  <a:srgbClr val="000000"/>
                </a:solidFill>
                <a:latin typeface="Arial"/>
                <a:ea typeface="Arial"/>
                <a:cs typeface="Arial"/>
                <a:sym typeface="Arial"/>
              </a:rPr>
              <a:t>Therapist Response Quality Evaluation</a:t>
            </a:r>
            <a:endParaRPr sz="800"/>
          </a:p>
        </p:txBody>
      </p:sp>
      <p:sp>
        <p:nvSpPr>
          <p:cNvPr id="254" name="Google Shape;254;p34"/>
          <p:cNvSpPr txBox="1"/>
          <p:nvPr/>
        </p:nvSpPr>
        <p:spPr>
          <a:xfrm>
            <a:off x="400000" y="980000"/>
            <a:ext cx="8199900" cy="115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200" u="none" cap="none" strike="noStrike">
                <a:solidFill>
                  <a:srgbClr val="000000"/>
                </a:solidFill>
                <a:latin typeface="Arial"/>
                <a:ea typeface="Arial"/>
                <a:cs typeface="Arial"/>
                <a:sym typeface="Arial"/>
              </a:rPr>
              <a:t>Experimental Design:</a:t>
            </a:r>
            <a:endParaRPr sz="12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10 CBT dialogues x 4 therapist generation conditions = 40 evaluation sessions</a:t>
            </a:r>
            <a:endParaRPr sz="11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Same client utterances across all conditions → controlled comparison</a:t>
            </a:r>
            <a:endParaRPr sz="11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GPT-4o as zero-shot judge, temperature = 0.0, blind to condition</a:t>
            </a:r>
            <a:endParaRPr sz="11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7 metrics across 3 dimensions: Therapist Skills, Client Alliance, CTRS</a:t>
            </a:r>
            <a:endParaRPr sz="1100"/>
          </a:p>
        </p:txBody>
      </p:sp>
      <p:sp>
        <p:nvSpPr>
          <p:cNvPr id="255" name="Google Shape;255;p34"/>
          <p:cNvSpPr txBox="1"/>
          <p:nvPr/>
        </p:nvSpPr>
        <p:spPr>
          <a:xfrm>
            <a:off x="400000" y="2280000"/>
            <a:ext cx="8199900" cy="207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200" u="none" cap="none" strike="noStrike">
                <a:solidFill>
                  <a:srgbClr val="000000"/>
                </a:solidFill>
                <a:latin typeface="Arial"/>
                <a:ea typeface="Arial"/>
                <a:cs typeface="Arial"/>
                <a:sym typeface="Arial"/>
              </a:rPr>
              <a:t>Results (Average Scores Across 10 Dialogues):</a:t>
            </a:r>
            <a:endParaRPr sz="1200"/>
          </a:p>
          <a:p>
            <a:pPr indent="0" lvl="0" marL="0" marR="0" rtl="0" algn="l">
              <a:lnSpc>
                <a:spcPct val="100000"/>
              </a:lnSpc>
              <a:spcBef>
                <a:spcPts val="40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rPr b="0" i="0" lang="en" sz="1000" u="none" cap="none" strike="noStrike">
                <a:solidFill>
                  <a:srgbClr val="006400"/>
                </a:solidFill>
                <a:latin typeface="Arial"/>
                <a:ea typeface="Arial"/>
                <a:cs typeface="Arial"/>
                <a:sym typeface="Arial"/>
              </a:rPr>
              <a:t>* = Best per column. Dissonance-Aware </a:t>
            </a:r>
            <a:r>
              <a:rPr lang="en" sz="1000">
                <a:solidFill>
                  <a:srgbClr val="006400"/>
                </a:solidFill>
              </a:rPr>
              <a:t>led or co-led on all 7 evaluation metrics</a:t>
            </a:r>
            <a:r>
              <a:rPr b="0" i="0" lang="en" sz="1000" u="none" cap="none" strike="noStrike">
                <a:solidFill>
                  <a:srgbClr val="006400"/>
                </a:solidFill>
                <a:latin typeface="Arial"/>
                <a:ea typeface="Arial"/>
                <a:cs typeface="Arial"/>
                <a:sym typeface="Arial"/>
              </a:rPr>
              <a:t>.</a:t>
            </a:r>
            <a:endParaRPr/>
          </a:p>
        </p:txBody>
      </p:sp>
      <p:pic>
        <p:nvPicPr>
          <p:cNvPr id="256" name="Google Shape;256;p34"/>
          <p:cNvPicPr preferRelativeResize="0"/>
          <p:nvPr/>
        </p:nvPicPr>
        <p:blipFill>
          <a:blip r:embed="rId3">
            <a:alphaModFix/>
          </a:blip>
          <a:stretch>
            <a:fillRect/>
          </a:stretch>
        </p:blipFill>
        <p:spPr>
          <a:xfrm>
            <a:off x="481700" y="2638250"/>
            <a:ext cx="5857225" cy="1306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60" name="Shape 260"/>
        <p:cNvGrpSpPr/>
        <p:nvPr/>
      </p:nvGrpSpPr>
      <p:grpSpPr>
        <a:xfrm>
          <a:off x="0" y="0"/>
          <a:ext cx="0" cy="0"/>
          <a:chOff x="0" y="0"/>
          <a:chExt cx="0" cy="0"/>
        </a:xfrm>
      </p:grpSpPr>
      <p:sp>
        <p:nvSpPr>
          <p:cNvPr id="261" name="Google Shape;26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62" name="Google Shape;262;p35"/>
          <p:cNvSpPr txBox="1"/>
          <p:nvPr/>
        </p:nvSpPr>
        <p:spPr>
          <a:xfrm>
            <a:off x="400000" y="150000"/>
            <a:ext cx="80001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900" u="none" cap="none" strike="noStrike">
                <a:solidFill>
                  <a:schemeClr val="dk1"/>
                </a:solidFill>
                <a:latin typeface="Oswald"/>
                <a:ea typeface="Oswald"/>
                <a:cs typeface="Oswald"/>
                <a:sym typeface="Oswald"/>
              </a:rPr>
              <a:t>4. </a:t>
            </a:r>
            <a:r>
              <a:rPr b="1" i="0" lang="en" sz="1900" u="none" cap="none" strike="noStrike">
                <a:solidFill>
                  <a:schemeClr val="dk1"/>
                </a:solidFill>
                <a:latin typeface="Oswald"/>
                <a:ea typeface="Oswald"/>
                <a:cs typeface="Oswald"/>
                <a:sym typeface="Oswald"/>
              </a:rPr>
              <a:t>EXPERIMENTS</a:t>
            </a:r>
            <a:endParaRPr sz="1900">
              <a:solidFill>
                <a:schemeClr val="dk1"/>
              </a:solidFill>
              <a:latin typeface="Oswald"/>
              <a:ea typeface="Oswald"/>
              <a:cs typeface="Oswald"/>
              <a:sym typeface="Oswald"/>
            </a:endParaRPr>
          </a:p>
        </p:txBody>
      </p:sp>
      <p:sp>
        <p:nvSpPr>
          <p:cNvPr id="263" name="Google Shape;263;p35"/>
          <p:cNvSpPr txBox="1"/>
          <p:nvPr/>
        </p:nvSpPr>
        <p:spPr>
          <a:xfrm>
            <a:off x="427150" y="502250"/>
            <a:ext cx="800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u="none" cap="none" strike="noStrike">
                <a:solidFill>
                  <a:srgbClr val="000000"/>
                </a:solidFill>
                <a:latin typeface="Arial"/>
                <a:ea typeface="Arial"/>
                <a:cs typeface="Arial"/>
                <a:sym typeface="Arial"/>
              </a:rPr>
              <a:t>Evaluation Protocol: GPT-4o Zero-Shot Judge</a:t>
            </a:r>
            <a:endParaRPr sz="800"/>
          </a:p>
        </p:txBody>
      </p:sp>
      <p:sp>
        <p:nvSpPr>
          <p:cNvPr id="264" name="Google Shape;264;p35"/>
          <p:cNvSpPr txBox="1"/>
          <p:nvPr/>
        </p:nvSpPr>
        <p:spPr>
          <a:xfrm>
            <a:off x="427150" y="810050"/>
            <a:ext cx="8199900" cy="410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200" u="none" cap="none" strike="noStrike">
                <a:solidFill>
                  <a:srgbClr val="000000"/>
                </a:solidFill>
                <a:latin typeface="Arial"/>
                <a:ea typeface="Arial"/>
                <a:cs typeface="Arial"/>
                <a:sym typeface="Arial"/>
              </a:rPr>
              <a:t>GPT-4o Evaluation Setup:</a:t>
            </a:r>
            <a:endParaRPr sz="12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Receives full session transcript (all client + therapist turns concatenated)</a:t>
            </a:r>
            <a:endParaRPr sz="11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Blind to experimental condition → no evaluation bias</a:t>
            </a:r>
            <a:endParaRPr sz="11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Required to output structured JSON with all 7 metric scores</a:t>
            </a:r>
            <a:endParaRPr sz="1100"/>
          </a:p>
          <a:p>
            <a:pPr indent="0" lvl="0" marL="0" marR="0" rtl="0" algn="l">
              <a:lnSpc>
                <a:spcPct val="100000"/>
              </a:lnSpc>
              <a:spcBef>
                <a:spcPts val="40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None/>
            </a:pPr>
            <a:r>
              <a:rPr b="1" i="0" lang="en" sz="1200" u="none" cap="none" strike="noStrike">
                <a:solidFill>
                  <a:srgbClr val="000000"/>
                </a:solidFill>
                <a:latin typeface="Arial"/>
                <a:ea typeface="Arial"/>
                <a:cs typeface="Arial"/>
                <a:sym typeface="Arial"/>
              </a:rPr>
              <a:t>Evaluation Dimensions &amp; Metrics:</a:t>
            </a:r>
            <a:endParaRPr sz="1200"/>
          </a:p>
          <a:p>
            <a:pPr indent="0" lvl="0" marL="0" marR="0" rtl="0" algn="l">
              <a:lnSpc>
                <a:spcPct val="100000"/>
              </a:lnSpc>
              <a:spcBef>
                <a:spcPts val="40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rPr b="1" i="0" lang="en" sz="1200" u="none" cap="none" strike="noStrike">
                <a:solidFill>
                  <a:srgbClr val="000000"/>
                </a:solidFill>
                <a:latin typeface="Arial"/>
                <a:ea typeface="Arial"/>
                <a:cs typeface="Arial"/>
                <a:sym typeface="Arial"/>
              </a:rPr>
              <a:t>Key Findings:</a:t>
            </a:r>
            <a:endParaRPr sz="1200"/>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Dissonance-Aware wins or co-wins </a:t>
            </a:r>
            <a:r>
              <a:rPr lang="en" sz="1100"/>
              <a:t>7</a:t>
            </a:r>
            <a:r>
              <a:rPr b="0" i="0" lang="en" sz="1100" u="none" cap="none" strike="noStrike">
                <a:solidFill>
                  <a:srgbClr val="000000"/>
                </a:solidFill>
                <a:latin typeface="Arial"/>
                <a:ea typeface="Arial"/>
                <a:cs typeface="Arial"/>
                <a:sym typeface="Arial"/>
              </a:rPr>
              <a:t>/7 metrics vs Baseline/Emotion/Multimodal</a:t>
            </a:r>
            <a:endParaRPr/>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Largest gains: CTRS Focus (+1.10) and CTRS Collaboration (+1.20) over Baseline</a:t>
            </a:r>
            <a:endParaRPr/>
          </a:p>
          <a:p>
            <a:pPr indent="0" lvl="0" marL="0" marR="0" rtl="0" algn="l">
              <a:lnSpc>
                <a:spcPct val="100000"/>
              </a:lnSpc>
              <a:spcBef>
                <a:spcPts val="400"/>
              </a:spcBef>
              <a:spcAft>
                <a:spcPts val="0"/>
              </a:spcAft>
              <a:buNone/>
            </a:pPr>
            <a:r>
              <a:rPr b="0" i="0" lang="en" sz="1100" u="none" cap="none" strike="noStrike">
                <a:solidFill>
                  <a:srgbClr val="000000"/>
                </a:solidFill>
                <a:latin typeface="Arial"/>
                <a:ea typeface="Arial"/>
                <a:cs typeface="Arial"/>
                <a:sym typeface="Arial"/>
              </a:rPr>
              <a:t>• Multimodal (Vocal-Aware) ≈ Emotion on alliance, but drops on CTRS</a:t>
            </a:r>
            <a:endParaRPr/>
          </a:p>
          <a:p>
            <a:pPr indent="0" lvl="0" marL="0" marR="0" rtl="0" algn="l">
              <a:lnSpc>
                <a:spcPct val="100000"/>
              </a:lnSpc>
              <a:spcBef>
                <a:spcPts val="400"/>
              </a:spcBef>
              <a:spcAft>
                <a:spcPts val="0"/>
              </a:spcAft>
              <a:buNone/>
            </a:pPr>
            <a:r>
              <a:rPr b="1" i="0" lang="en" sz="1100" u="none" cap="none" strike="noStrike">
                <a:solidFill>
                  <a:srgbClr val="005000"/>
                </a:solidFill>
                <a:latin typeface="Arial"/>
                <a:ea typeface="Arial"/>
                <a:cs typeface="Arial"/>
                <a:sym typeface="Arial"/>
              </a:rPr>
              <a:t>• Dissonance signal itself drives improvement, not just multimodal input</a:t>
            </a:r>
            <a:endParaRPr/>
          </a:p>
        </p:txBody>
      </p:sp>
      <p:pic>
        <p:nvPicPr>
          <p:cNvPr id="265" name="Google Shape;265;p35"/>
          <p:cNvPicPr preferRelativeResize="0"/>
          <p:nvPr/>
        </p:nvPicPr>
        <p:blipFill>
          <a:blip r:embed="rId3">
            <a:alphaModFix/>
          </a:blip>
          <a:stretch>
            <a:fillRect/>
          </a:stretch>
        </p:blipFill>
        <p:spPr>
          <a:xfrm>
            <a:off x="547719" y="2191607"/>
            <a:ext cx="3548200" cy="1520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nvSpPr>
        <p:spPr>
          <a:xfrm>
            <a:off x="418025" y="395475"/>
            <a:ext cx="77481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5. </a:t>
            </a:r>
            <a:r>
              <a:rPr b="1" i="0" lang="en" sz="2300" u="none" cap="none" strike="noStrike">
                <a:solidFill>
                  <a:srgbClr val="252827"/>
                </a:solidFill>
                <a:latin typeface="Oswald"/>
                <a:ea typeface="Oswald"/>
                <a:cs typeface="Oswald"/>
                <a:sym typeface="Oswald"/>
              </a:rPr>
              <a:t>CHAT EXAMPLE BETWEEN THERAPIST &amp; CLIENT </a:t>
            </a:r>
            <a:endParaRPr b="1" i="0" sz="1400" u="none" cap="none" strike="noStrike">
              <a:solidFill>
                <a:srgbClr val="252827"/>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252827"/>
              </a:solidFill>
              <a:latin typeface="Oswald"/>
              <a:ea typeface="Oswald"/>
              <a:cs typeface="Oswald"/>
              <a:sym typeface="Oswald"/>
            </a:endParaRPr>
          </a:p>
        </p:txBody>
      </p:sp>
      <p:sp>
        <p:nvSpPr>
          <p:cNvPr id="271" name="Google Shape;27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72" name="Google Shape;272;p36"/>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pic>
        <p:nvPicPr>
          <p:cNvPr id="273" name="Google Shape;273;p36" title="dissonance_chat.png"/>
          <p:cNvPicPr preferRelativeResize="0"/>
          <p:nvPr/>
        </p:nvPicPr>
        <p:blipFill rotWithShape="1">
          <a:blip r:embed="rId4">
            <a:alphaModFix/>
          </a:blip>
          <a:srcRect b="8863" l="13729" r="16966" t="9677"/>
          <a:stretch/>
        </p:blipFill>
        <p:spPr>
          <a:xfrm>
            <a:off x="4510362" y="1211280"/>
            <a:ext cx="4227826" cy="2795075"/>
          </a:xfrm>
          <a:prstGeom prst="rect">
            <a:avLst/>
          </a:prstGeom>
          <a:noFill/>
          <a:ln>
            <a:noFill/>
          </a:ln>
        </p:spPr>
      </p:pic>
      <p:pic>
        <p:nvPicPr>
          <p:cNvPr id="274" name="Google Shape;274;p36"/>
          <p:cNvPicPr preferRelativeResize="0"/>
          <p:nvPr/>
        </p:nvPicPr>
        <p:blipFill>
          <a:blip r:embed="rId5">
            <a:alphaModFix/>
          </a:blip>
          <a:stretch>
            <a:fillRect/>
          </a:stretch>
        </p:blipFill>
        <p:spPr>
          <a:xfrm>
            <a:off x="4445300" y="4002047"/>
            <a:ext cx="4357950" cy="557068"/>
          </a:xfrm>
          <a:prstGeom prst="rect">
            <a:avLst/>
          </a:prstGeom>
          <a:noFill/>
          <a:ln>
            <a:noFill/>
          </a:ln>
        </p:spPr>
      </p:pic>
      <p:pic>
        <p:nvPicPr>
          <p:cNvPr id="275" name="Google Shape;275;p36" title="baseline_chat.png"/>
          <p:cNvPicPr preferRelativeResize="0"/>
          <p:nvPr/>
        </p:nvPicPr>
        <p:blipFill rotWithShape="1">
          <a:blip r:embed="rId6">
            <a:alphaModFix/>
          </a:blip>
          <a:srcRect b="9856" l="14172" r="17133" t="9493"/>
          <a:stretch/>
        </p:blipFill>
        <p:spPr>
          <a:xfrm>
            <a:off x="358225" y="1320413"/>
            <a:ext cx="4057402" cy="2679575"/>
          </a:xfrm>
          <a:prstGeom prst="rect">
            <a:avLst/>
          </a:prstGeom>
          <a:noFill/>
          <a:ln>
            <a:noFill/>
          </a:ln>
        </p:spPr>
      </p:pic>
      <p:sp>
        <p:nvSpPr>
          <p:cNvPr id="276" name="Google Shape;276;p36"/>
          <p:cNvSpPr txBox="1"/>
          <p:nvPr/>
        </p:nvSpPr>
        <p:spPr>
          <a:xfrm>
            <a:off x="825875" y="3977813"/>
            <a:ext cx="31221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rPr>
              <a:t>Baseline chat: No sentiment metrics across turns</a:t>
            </a:r>
            <a:endParaRPr sz="7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82" name="Google Shape;282;p37"/>
          <p:cNvSpPr txBox="1"/>
          <p:nvPr/>
        </p:nvSpPr>
        <p:spPr>
          <a:xfrm>
            <a:off x="400000" y="150000"/>
            <a:ext cx="8000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2100">
                <a:solidFill>
                  <a:schemeClr val="dk1"/>
                </a:solidFill>
                <a:latin typeface="Oswald"/>
                <a:ea typeface="Oswald"/>
                <a:cs typeface="Oswald"/>
                <a:sym typeface="Oswald"/>
              </a:rPr>
              <a:t>5</a:t>
            </a:r>
            <a:r>
              <a:rPr b="1" i="0" lang="en" sz="2100" u="none" cap="none" strike="noStrike">
                <a:solidFill>
                  <a:schemeClr val="dk1"/>
                </a:solidFill>
                <a:latin typeface="Oswald"/>
                <a:ea typeface="Oswald"/>
                <a:cs typeface="Oswald"/>
                <a:sym typeface="Oswald"/>
              </a:rPr>
              <a:t>. </a:t>
            </a:r>
            <a:r>
              <a:rPr b="1" i="0" lang="en" sz="2100" u="none" cap="none" strike="noStrike">
                <a:solidFill>
                  <a:schemeClr val="dk1"/>
                </a:solidFill>
                <a:latin typeface="Oswald"/>
                <a:ea typeface="Oswald"/>
                <a:cs typeface="Oswald"/>
                <a:sym typeface="Oswald"/>
              </a:rPr>
              <a:t>KEY FINDINGS</a:t>
            </a:r>
            <a:endParaRPr sz="700">
              <a:solidFill>
                <a:schemeClr val="dk1"/>
              </a:solidFill>
              <a:latin typeface="Oswald"/>
              <a:ea typeface="Oswald"/>
              <a:cs typeface="Oswald"/>
              <a:sym typeface="Oswald"/>
            </a:endParaRPr>
          </a:p>
        </p:txBody>
      </p:sp>
      <p:sp>
        <p:nvSpPr>
          <p:cNvPr id="283" name="Google Shape;283;p37"/>
          <p:cNvSpPr txBox="1"/>
          <p:nvPr/>
        </p:nvSpPr>
        <p:spPr>
          <a:xfrm>
            <a:off x="472050" y="621725"/>
            <a:ext cx="8199900" cy="3216900"/>
          </a:xfrm>
          <a:prstGeom prst="rect">
            <a:avLst/>
          </a:prstGeom>
          <a:noFill/>
          <a:ln>
            <a:noFill/>
          </a:ln>
        </p:spPr>
        <p:txBody>
          <a:bodyPr anchorCtr="0" anchor="t" bIns="45700" lIns="91425" spcFirstLastPara="1" rIns="91425" wrap="square" tIns="45700">
            <a:spAutoFit/>
          </a:bodyPr>
          <a:lstStyle/>
          <a:p>
            <a:pPr indent="0" lvl="0" marL="0" rtl="0" algn="l">
              <a:spcBef>
                <a:spcPts val="400"/>
              </a:spcBef>
              <a:spcAft>
                <a:spcPts val="0"/>
              </a:spcAft>
              <a:buNone/>
            </a:pPr>
            <a:r>
              <a:t/>
            </a:r>
            <a:endParaRPr/>
          </a:p>
          <a:p>
            <a:pPr indent="0" lvl="0" marL="0" marR="0" rtl="0" algn="l">
              <a:lnSpc>
                <a:spcPct val="100000"/>
              </a:lnSpc>
              <a:spcBef>
                <a:spcPts val="0"/>
              </a:spcBef>
              <a:spcAft>
                <a:spcPts val="0"/>
              </a:spcAft>
              <a:buNone/>
            </a:pPr>
            <a:r>
              <a:rPr b="1" i="0" lang="en" sz="1200" u="none" cap="none" strike="noStrike">
                <a:solidFill>
                  <a:schemeClr val="dk1"/>
                </a:solidFill>
                <a:latin typeface="Arial"/>
                <a:ea typeface="Arial"/>
                <a:cs typeface="Arial"/>
                <a:sym typeface="Arial"/>
              </a:rPr>
              <a:t>Dissonance-Aware method achieved the highest scores on </a:t>
            </a:r>
            <a:r>
              <a:rPr b="1" lang="en" sz="1200">
                <a:solidFill>
                  <a:schemeClr val="dk1"/>
                </a:solidFill>
              </a:rPr>
              <a:t>7</a:t>
            </a:r>
            <a:r>
              <a:rPr b="1" i="0" lang="en" sz="1200" u="none" cap="none" strike="noStrike">
                <a:solidFill>
                  <a:schemeClr val="dk1"/>
                </a:solidFill>
                <a:latin typeface="Arial"/>
                <a:ea typeface="Arial"/>
                <a:cs typeface="Arial"/>
                <a:sym typeface="Arial"/>
              </a:rPr>
              <a:t> out of 7 metrics</a:t>
            </a:r>
            <a:r>
              <a:rPr b="1" i="0" lang="en" sz="1200" u="none" cap="none" strike="noStrike">
                <a:solidFill>
                  <a:srgbClr val="000000"/>
                </a:solidFill>
                <a:latin typeface="Arial"/>
                <a:ea typeface="Arial"/>
                <a:cs typeface="Arial"/>
                <a:sym typeface="Arial"/>
              </a:rPr>
              <a:t>:</a:t>
            </a:r>
            <a:endParaRPr sz="1200"/>
          </a:p>
          <a:p>
            <a:pPr indent="0" lvl="0" marL="0" marR="0" rtl="0" algn="l">
              <a:lnSpc>
                <a:spcPct val="100000"/>
              </a:lnSpc>
              <a:spcBef>
                <a:spcPts val="40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None/>
            </a:pPr>
            <a:r>
              <a:rPr b="1" lang="en" sz="1200">
                <a:solidFill>
                  <a:schemeClr val="dk1"/>
                </a:solidFill>
              </a:rPr>
              <a:t>It ties with </a:t>
            </a:r>
            <a:r>
              <a:rPr b="1" i="0" lang="en" sz="1200" u="none" cap="none" strike="noStrike">
                <a:solidFill>
                  <a:schemeClr val="dk1"/>
                </a:solidFill>
                <a:latin typeface="Arial"/>
                <a:ea typeface="Arial"/>
                <a:cs typeface="Arial"/>
                <a:sym typeface="Arial"/>
              </a:rPr>
              <a:t>Multimodal (Vocal-Aware) </a:t>
            </a:r>
            <a:r>
              <a:rPr b="1" lang="en" sz="1200">
                <a:solidFill>
                  <a:schemeClr val="dk1"/>
                </a:solidFill>
              </a:rPr>
              <a:t>and</a:t>
            </a:r>
            <a:r>
              <a:rPr b="1" i="0" lang="en" sz="1200" u="none" cap="none" strike="noStrike">
                <a:solidFill>
                  <a:schemeClr val="dk1"/>
                </a:solidFill>
                <a:latin typeface="Arial"/>
                <a:ea typeface="Arial"/>
                <a:cs typeface="Arial"/>
                <a:sym typeface="Arial"/>
              </a:rPr>
              <a:t> Emotion (Text-Only) on:</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None/>
            </a:pPr>
            <a:r>
              <a:rPr b="0" i="0" lang="en" sz="1100" u="none" cap="none" strike="noStrike">
                <a:solidFill>
                  <a:schemeClr val="dk1"/>
                </a:solidFill>
                <a:latin typeface="Arial"/>
                <a:ea typeface="Arial"/>
                <a:cs typeface="Arial"/>
                <a:sym typeface="Arial"/>
              </a:rPr>
              <a:t>• </a:t>
            </a:r>
            <a:r>
              <a:rPr b="1" i="0" lang="en" sz="1100" u="none" cap="none" strike="noStrike">
                <a:solidFill>
                  <a:schemeClr val="dk1"/>
                </a:solidFill>
              </a:rPr>
              <a:t>Alliance metrics</a:t>
            </a:r>
            <a:r>
              <a:rPr b="0" i="0" lang="en" sz="1100" u="none" cap="none" strike="noStrike">
                <a:solidFill>
                  <a:srgbClr val="000000"/>
                </a:solidFill>
                <a:latin typeface="Arial"/>
                <a:ea typeface="Arial"/>
                <a:cs typeface="Arial"/>
                <a:sym typeface="Arial"/>
              </a:rPr>
              <a:t> (Interpersonal, Affective Bond) reach ceiling (5.0, 4.0)</a:t>
            </a:r>
            <a:endParaRPr sz="1100"/>
          </a:p>
          <a:p>
            <a:pPr indent="0" lvl="0" marL="0" marR="0" rtl="0" algn="l">
              <a:lnSpc>
                <a:spcPct val="100000"/>
              </a:lnSpc>
              <a:spcBef>
                <a:spcPts val="400"/>
              </a:spcBef>
              <a:spcAft>
                <a:spcPts val="0"/>
              </a:spcAft>
              <a:buNone/>
            </a:pPr>
            <a:r>
              <a:t/>
            </a:r>
            <a:endParaRPr sz="1100"/>
          </a:p>
          <a:p>
            <a:pPr indent="0" lvl="0" marL="0" marR="0" rtl="0" algn="l">
              <a:lnSpc>
                <a:spcPct val="100000"/>
              </a:lnSpc>
              <a:spcBef>
                <a:spcPts val="400"/>
              </a:spcBef>
              <a:spcAft>
                <a:spcPts val="0"/>
              </a:spcAft>
              <a:buNone/>
            </a:pPr>
            <a:r>
              <a:rPr b="1" i="0" lang="en" sz="1100" u="none" cap="none" strike="noStrike">
                <a:solidFill>
                  <a:srgbClr val="005000"/>
                </a:solidFill>
                <a:latin typeface="Arial"/>
                <a:ea typeface="Arial"/>
                <a:cs typeface="Arial"/>
                <a:sym typeface="Arial"/>
              </a:rPr>
              <a:t>Core Finding:</a:t>
            </a:r>
            <a:endParaRPr sz="1100"/>
          </a:p>
          <a:p>
            <a:pPr indent="0" lvl="0" marL="0" marR="0" rtl="0" algn="l">
              <a:lnSpc>
                <a:spcPct val="100000"/>
              </a:lnSpc>
              <a:spcBef>
                <a:spcPts val="400"/>
              </a:spcBef>
              <a:spcAft>
                <a:spcPts val="0"/>
              </a:spcAft>
              <a:buNone/>
            </a:pPr>
            <a:r>
              <a:rPr b="1" i="0" lang="en" sz="1100" u="none" cap="none" strike="noStrike">
                <a:solidFill>
                  <a:srgbClr val="005000"/>
                </a:solidFill>
                <a:latin typeface="Arial"/>
                <a:ea typeface="Arial"/>
                <a:cs typeface="Arial"/>
                <a:sym typeface="Arial"/>
              </a:rPr>
              <a:t>The dissonance signal itself—not merely multimodal input—is the key driver</a:t>
            </a:r>
            <a:endParaRPr sz="1100"/>
          </a:p>
          <a:p>
            <a:pPr indent="0" lvl="0" marL="0" marR="0" rtl="0" algn="l">
              <a:lnSpc>
                <a:spcPct val="100000"/>
              </a:lnSpc>
              <a:spcBef>
                <a:spcPts val="400"/>
              </a:spcBef>
              <a:spcAft>
                <a:spcPts val="0"/>
              </a:spcAft>
              <a:buNone/>
            </a:pPr>
            <a:r>
              <a:rPr b="1" i="0" lang="en" sz="1100" u="none" cap="none" strike="noStrike">
                <a:solidFill>
                  <a:srgbClr val="005000"/>
                </a:solidFill>
                <a:latin typeface="Arial"/>
                <a:ea typeface="Arial"/>
                <a:cs typeface="Arial"/>
                <a:sym typeface="Arial"/>
              </a:rPr>
              <a:t>of improved therapeutic attunement in CBT-oriented LLM responses.</a:t>
            </a:r>
            <a:endParaRPr sz="1100"/>
          </a:p>
        </p:txBody>
      </p:sp>
      <p:pic>
        <p:nvPicPr>
          <p:cNvPr id="284" name="Google Shape;284;p37"/>
          <p:cNvPicPr preferRelativeResize="0"/>
          <p:nvPr/>
        </p:nvPicPr>
        <p:blipFill>
          <a:blip r:embed="rId3">
            <a:alphaModFix/>
          </a:blip>
          <a:stretch>
            <a:fillRect/>
          </a:stretch>
        </p:blipFill>
        <p:spPr>
          <a:xfrm>
            <a:off x="508850" y="1090318"/>
            <a:ext cx="5857225" cy="1306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38"/>
          <p:cNvSpPr txBox="1"/>
          <p:nvPr/>
        </p:nvSpPr>
        <p:spPr>
          <a:xfrm>
            <a:off x="418025" y="468350"/>
            <a:ext cx="49023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6. DISCUSSION </a:t>
            </a:r>
            <a:endParaRPr b="1" i="0" sz="2300" u="none" cap="none" strike="noStrike">
              <a:solidFill>
                <a:srgbClr val="252827"/>
              </a:solidFill>
              <a:latin typeface="Oswald"/>
              <a:ea typeface="Oswald"/>
              <a:cs typeface="Oswald"/>
              <a:sym typeface="Oswald"/>
            </a:endParaRPr>
          </a:p>
        </p:txBody>
      </p:sp>
      <p:sp>
        <p:nvSpPr>
          <p:cNvPr id="290" name="Google Shape;290;p38"/>
          <p:cNvSpPr/>
          <p:nvPr/>
        </p:nvSpPr>
        <p:spPr>
          <a:xfrm>
            <a:off x="540800" y="1374350"/>
            <a:ext cx="7902300" cy="3118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50000"/>
              </a:lnSpc>
              <a:spcBef>
                <a:spcPts val="1599"/>
              </a:spcBef>
              <a:spcAft>
                <a:spcPts val="0"/>
              </a:spcAft>
              <a:buClr>
                <a:schemeClr val="dk1"/>
              </a:buClr>
              <a:buSzPts val="1100"/>
              <a:buFont typeface="Arial"/>
              <a:buNone/>
            </a:pPr>
            <a:r>
              <a:rPr b="0" i="0" lang="en" sz="1100" u="none" cap="none" strike="noStrike">
                <a:solidFill>
                  <a:schemeClr val="dk1"/>
                </a:solidFill>
                <a:latin typeface="Montserrat"/>
                <a:ea typeface="Montserrat"/>
                <a:cs typeface="Montserrat"/>
                <a:sym typeface="Montserrat"/>
              </a:rPr>
              <a:t>FOR FINAL DEFENSE ONLY</a:t>
            </a:r>
            <a:endParaRPr b="0" i="0" sz="1100" u="none" cap="none" strike="noStrike">
              <a:solidFill>
                <a:schemeClr val="dk1"/>
              </a:solidFill>
              <a:latin typeface="Montserrat"/>
              <a:ea typeface="Montserrat"/>
              <a:cs typeface="Montserrat"/>
              <a:sym typeface="Montserrat"/>
            </a:endParaRPr>
          </a:p>
        </p:txBody>
      </p:sp>
      <p:sp>
        <p:nvSpPr>
          <p:cNvPr id="291" name="Google Shape;29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92" name="Google Shape;292;p38"/>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6" name="Shape 296"/>
        <p:cNvGrpSpPr/>
        <p:nvPr/>
      </p:nvGrpSpPr>
      <p:grpSpPr>
        <a:xfrm>
          <a:off x="0" y="0"/>
          <a:ext cx="0" cy="0"/>
          <a:chOff x="0" y="0"/>
          <a:chExt cx="0" cy="0"/>
        </a:xfrm>
      </p:grpSpPr>
      <p:sp>
        <p:nvSpPr>
          <p:cNvPr id="297" name="Google Shape;297;p39"/>
          <p:cNvSpPr txBox="1"/>
          <p:nvPr/>
        </p:nvSpPr>
        <p:spPr>
          <a:xfrm>
            <a:off x="418025" y="468350"/>
            <a:ext cx="8456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6. DISCUSSION - REVISIT RESEARCH QUESTIONS </a:t>
            </a:r>
            <a:endParaRPr b="1" i="0" sz="2300" u="none" cap="none" strike="noStrike">
              <a:solidFill>
                <a:srgbClr val="252827"/>
              </a:solidFill>
              <a:latin typeface="Oswald"/>
              <a:ea typeface="Oswald"/>
              <a:cs typeface="Oswald"/>
              <a:sym typeface="Oswald"/>
            </a:endParaRPr>
          </a:p>
        </p:txBody>
      </p:sp>
      <p:sp>
        <p:nvSpPr>
          <p:cNvPr id="298" name="Google Shape;298;p39"/>
          <p:cNvSpPr/>
          <p:nvPr/>
        </p:nvSpPr>
        <p:spPr>
          <a:xfrm>
            <a:off x="540800" y="1374350"/>
            <a:ext cx="7902300" cy="3118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50000"/>
              </a:lnSpc>
              <a:spcBef>
                <a:spcPts val="1599"/>
              </a:spcBef>
              <a:spcAft>
                <a:spcPts val="0"/>
              </a:spcAft>
              <a:buClr>
                <a:schemeClr val="dk1"/>
              </a:buClr>
              <a:buSzPts val="1100"/>
              <a:buFont typeface="Arial"/>
              <a:buNone/>
            </a:pPr>
            <a:r>
              <a:rPr b="0" i="0" lang="en" sz="1100" u="none" cap="none" strike="noStrike">
                <a:solidFill>
                  <a:schemeClr val="dk1"/>
                </a:solidFill>
                <a:latin typeface="Montserrat"/>
                <a:ea typeface="Montserrat"/>
                <a:cs typeface="Montserrat"/>
                <a:sym typeface="Montserrat"/>
              </a:rPr>
              <a:t>FOR FINAL DEFENSE ONLY</a:t>
            </a:r>
            <a:endParaRPr b="0" i="0" sz="1100" u="none" cap="none" strike="noStrike">
              <a:solidFill>
                <a:schemeClr val="dk1"/>
              </a:solidFill>
              <a:latin typeface="Montserrat"/>
              <a:ea typeface="Montserrat"/>
              <a:cs typeface="Montserrat"/>
              <a:sym typeface="Montserrat"/>
            </a:endParaRPr>
          </a:p>
        </p:txBody>
      </p:sp>
      <p:sp>
        <p:nvSpPr>
          <p:cNvPr id="299" name="Google Shape;29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00" name="Google Shape;300;p39"/>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40"/>
          <p:cNvSpPr txBox="1"/>
          <p:nvPr/>
        </p:nvSpPr>
        <p:spPr>
          <a:xfrm>
            <a:off x="418025" y="468350"/>
            <a:ext cx="49023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7. DEMO</a:t>
            </a:r>
            <a:endParaRPr b="1" i="0" sz="2300" u="none" cap="none" strike="noStrike">
              <a:solidFill>
                <a:srgbClr val="252827"/>
              </a:solidFill>
              <a:latin typeface="Oswald"/>
              <a:ea typeface="Oswald"/>
              <a:cs typeface="Oswald"/>
              <a:sym typeface="Oswald"/>
            </a:endParaRPr>
          </a:p>
        </p:txBody>
      </p:sp>
      <p:sp>
        <p:nvSpPr>
          <p:cNvPr id="306" name="Google Shape;306;p40"/>
          <p:cNvSpPr/>
          <p:nvPr/>
        </p:nvSpPr>
        <p:spPr>
          <a:xfrm>
            <a:off x="540800" y="1374350"/>
            <a:ext cx="7902300" cy="3118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50000"/>
              </a:lnSpc>
              <a:spcBef>
                <a:spcPts val="1599"/>
              </a:spcBef>
              <a:spcAft>
                <a:spcPts val="0"/>
              </a:spcAft>
              <a:buClr>
                <a:schemeClr val="dk1"/>
              </a:buClr>
              <a:buSzPts val="1100"/>
              <a:buFont typeface="Arial"/>
              <a:buNone/>
            </a:pPr>
            <a:r>
              <a:rPr b="0" i="0" lang="en" sz="1100" u="none" cap="none" strike="noStrike">
                <a:solidFill>
                  <a:schemeClr val="dk1"/>
                </a:solidFill>
                <a:latin typeface="Montserrat"/>
                <a:ea typeface="Montserrat"/>
                <a:cs typeface="Montserrat"/>
                <a:sym typeface="Montserrat"/>
              </a:rPr>
              <a:t>FOR FINAL DEFENSE ONLY</a:t>
            </a:r>
            <a:endParaRPr b="0" i="0" sz="1100" u="none" cap="none" strike="noStrike">
              <a:solidFill>
                <a:schemeClr val="dk1"/>
              </a:solidFill>
              <a:latin typeface="Montserrat"/>
              <a:ea typeface="Montserrat"/>
              <a:cs typeface="Montserrat"/>
              <a:sym typeface="Montserrat"/>
            </a:endParaRPr>
          </a:p>
        </p:txBody>
      </p:sp>
      <p:sp>
        <p:nvSpPr>
          <p:cNvPr id="307" name="Google Shape;30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08" name="Google Shape;308;p40"/>
          <p:cNvSpPr/>
          <p:nvPr/>
        </p:nvSpPr>
        <p:spPr>
          <a:xfrm>
            <a:off x="510450" y="984075"/>
            <a:ext cx="6468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BA8EB"/>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p41"/>
          <p:cNvSpPr/>
          <p:nvPr/>
        </p:nvSpPr>
        <p:spPr>
          <a:xfrm>
            <a:off x="512350" y="1655000"/>
            <a:ext cx="2226300" cy="31509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Literature Review</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B44257"/>
                </a:solidFill>
                <a:latin typeface="Montserrat"/>
                <a:ea typeface="Montserrat"/>
                <a:cs typeface="Montserrat"/>
                <a:sym typeface="Montserrat"/>
              </a:rPr>
              <a:t>Proposal Defense</a:t>
            </a:r>
            <a:endParaRPr b="1" i="0" sz="1000" u="none" cap="none" strike="noStrike">
              <a:solidFill>
                <a:srgbClr val="B4425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Development</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Experiment</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B44257"/>
                </a:solidFill>
                <a:latin typeface="Montserrat"/>
                <a:ea typeface="Montserrat"/>
                <a:cs typeface="Montserrat"/>
                <a:sym typeface="Montserrat"/>
              </a:rPr>
              <a:t>Progress Defense</a:t>
            </a:r>
            <a:endParaRPr b="1" i="0" sz="1000" u="none" cap="none" strike="noStrike">
              <a:solidFill>
                <a:srgbClr val="B4425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Analysis</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Writing</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252827"/>
                </a:solidFill>
                <a:latin typeface="Montserrat"/>
                <a:ea typeface="Montserrat"/>
                <a:cs typeface="Montserrat"/>
                <a:sym typeface="Montserrat"/>
              </a:rPr>
              <a:t>Publication</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rPr b="1" i="0" lang="en" sz="1000" u="none" cap="none" strike="noStrike">
                <a:solidFill>
                  <a:srgbClr val="B44257"/>
                </a:solidFill>
                <a:latin typeface="Montserrat"/>
                <a:ea typeface="Montserrat"/>
                <a:cs typeface="Montserrat"/>
                <a:sym typeface="Montserrat"/>
              </a:rPr>
              <a:t>Final Defense</a:t>
            </a:r>
            <a:endParaRPr b="1" i="0" sz="1000" u="none" cap="none" strike="noStrike">
              <a:solidFill>
                <a:srgbClr val="B4425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t/>
            </a:r>
            <a:endParaRPr b="1" i="0" sz="1000" u="none" cap="none" strike="noStrike">
              <a:solidFill>
                <a:srgbClr val="252827"/>
              </a:solidFill>
              <a:latin typeface="Montserrat"/>
              <a:ea typeface="Montserrat"/>
              <a:cs typeface="Montserrat"/>
              <a:sym typeface="Montserrat"/>
            </a:endParaRPr>
          </a:p>
          <a:p>
            <a:pPr indent="0" lvl="0" marL="0" marR="0" rtl="0" algn="l">
              <a:lnSpc>
                <a:spcPct val="200000"/>
              </a:lnSpc>
              <a:spcBef>
                <a:spcPts val="0"/>
              </a:spcBef>
              <a:spcAft>
                <a:spcPts val="0"/>
              </a:spcAft>
              <a:buClr>
                <a:srgbClr val="000000"/>
              </a:buClr>
              <a:buSzPts val="1100"/>
              <a:buFont typeface="Arial"/>
              <a:buNone/>
            </a:pPr>
            <a:r>
              <a:t/>
            </a:r>
            <a:endParaRPr b="1" i="0" sz="1000" u="none" cap="none" strike="noStrike">
              <a:solidFill>
                <a:srgbClr val="252827"/>
              </a:solidFill>
              <a:latin typeface="Montserrat"/>
              <a:ea typeface="Montserrat"/>
              <a:cs typeface="Montserrat"/>
              <a:sym typeface="Montserrat"/>
            </a:endParaRPr>
          </a:p>
        </p:txBody>
      </p:sp>
      <p:sp>
        <p:nvSpPr>
          <p:cNvPr id="314" name="Google Shape;314;p41"/>
          <p:cNvSpPr/>
          <p:nvPr/>
        </p:nvSpPr>
        <p:spPr>
          <a:xfrm>
            <a:off x="2738889" y="2365941"/>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15" name="Google Shape;315;p41"/>
          <p:cNvSpPr/>
          <p:nvPr/>
        </p:nvSpPr>
        <p:spPr>
          <a:xfrm>
            <a:off x="2738889" y="1731267"/>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16" name="Google Shape;316;p41"/>
          <p:cNvSpPr/>
          <p:nvPr/>
        </p:nvSpPr>
        <p:spPr>
          <a:xfrm>
            <a:off x="2738889" y="2053506"/>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17" name="Google Shape;317;p41"/>
          <p:cNvSpPr/>
          <p:nvPr/>
        </p:nvSpPr>
        <p:spPr>
          <a:xfrm>
            <a:off x="2738889" y="2656607"/>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18" name="Google Shape;318;p41"/>
          <p:cNvSpPr/>
          <p:nvPr/>
        </p:nvSpPr>
        <p:spPr>
          <a:xfrm>
            <a:off x="2738889" y="2976973"/>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19" name="Google Shape;319;p41"/>
          <p:cNvSpPr/>
          <p:nvPr/>
        </p:nvSpPr>
        <p:spPr>
          <a:xfrm>
            <a:off x="2738889" y="4198422"/>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20" name="Google Shape;320;p41"/>
          <p:cNvSpPr/>
          <p:nvPr/>
        </p:nvSpPr>
        <p:spPr>
          <a:xfrm>
            <a:off x="2738889" y="3886714"/>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21" name="Google Shape;321;p41"/>
          <p:cNvSpPr/>
          <p:nvPr/>
        </p:nvSpPr>
        <p:spPr>
          <a:xfrm>
            <a:off x="2738889" y="3585160"/>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22" name="Google Shape;322;p41"/>
          <p:cNvSpPr/>
          <p:nvPr/>
        </p:nvSpPr>
        <p:spPr>
          <a:xfrm>
            <a:off x="2738889" y="3262917"/>
            <a:ext cx="6012900" cy="1452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44257"/>
              </a:solidFill>
              <a:latin typeface="Arial"/>
              <a:ea typeface="Arial"/>
              <a:cs typeface="Arial"/>
              <a:sym typeface="Arial"/>
            </a:endParaRPr>
          </a:p>
        </p:txBody>
      </p:sp>
      <p:sp>
        <p:nvSpPr>
          <p:cNvPr id="323" name="Google Shape;323;p41"/>
          <p:cNvSpPr/>
          <p:nvPr/>
        </p:nvSpPr>
        <p:spPr>
          <a:xfrm>
            <a:off x="2738889"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JUN</a:t>
            </a:r>
            <a:endParaRPr b="1" i="0" sz="700" u="none" cap="none" strike="noStrike">
              <a:solidFill>
                <a:srgbClr val="252827"/>
              </a:solidFill>
              <a:latin typeface="Montserrat"/>
              <a:ea typeface="Montserrat"/>
              <a:cs typeface="Montserrat"/>
              <a:sym typeface="Montserrat"/>
            </a:endParaRPr>
          </a:p>
        </p:txBody>
      </p:sp>
      <p:sp>
        <p:nvSpPr>
          <p:cNvPr id="324" name="Google Shape;324;p41"/>
          <p:cNvSpPr/>
          <p:nvPr/>
        </p:nvSpPr>
        <p:spPr>
          <a:xfrm>
            <a:off x="3169046"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JUL</a:t>
            </a:r>
            <a:endParaRPr b="1" i="0" sz="700" u="none" cap="none" strike="noStrike">
              <a:solidFill>
                <a:srgbClr val="252827"/>
              </a:solidFill>
              <a:latin typeface="Montserrat"/>
              <a:ea typeface="Montserrat"/>
              <a:cs typeface="Montserrat"/>
              <a:sym typeface="Montserrat"/>
            </a:endParaRPr>
          </a:p>
        </p:txBody>
      </p:sp>
      <p:sp>
        <p:nvSpPr>
          <p:cNvPr id="325" name="Google Shape;325;p41"/>
          <p:cNvSpPr/>
          <p:nvPr/>
        </p:nvSpPr>
        <p:spPr>
          <a:xfrm>
            <a:off x="3599204"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AUG</a:t>
            </a:r>
            <a:endParaRPr b="1" i="0" sz="700" u="none" cap="none" strike="noStrike">
              <a:solidFill>
                <a:srgbClr val="252827"/>
              </a:solidFill>
              <a:latin typeface="Montserrat"/>
              <a:ea typeface="Montserrat"/>
              <a:cs typeface="Montserrat"/>
              <a:sym typeface="Montserrat"/>
            </a:endParaRPr>
          </a:p>
        </p:txBody>
      </p:sp>
      <p:sp>
        <p:nvSpPr>
          <p:cNvPr id="326" name="Google Shape;326;p41"/>
          <p:cNvSpPr/>
          <p:nvPr/>
        </p:nvSpPr>
        <p:spPr>
          <a:xfrm>
            <a:off x="4029361"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SEP</a:t>
            </a:r>
            <a:endParaRPr b="1" i="0" sz="700" u="none" cap="none" strike="noStrike">
              <a:solidFill>
                <a:srgbClr val="252827"/>
              </a:solidFill>
              <a:latin typeface="Montserrat"/>
              <a:ea typeface="Montserrat"/>
              <a:cs typeface="Montserrat"/>
              <a:sym typeface="Montserrat"/>
            </a:endParaRPr>
          </a:p>
        </p:txBody>
      </p:sp>
      <p:sp>
        <p:nvSpPr>
          <p:cNvPr id="327" name="Google Shape;327;p41"/>
          <p:cNvSpPr/>
          <p:nvPr/>
        </p:nvSpPr>
        <p:spPr>
          <a:xfrm>
            <a:off x="4450508"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OCT</a:t>
            </a:r>
            <a:endParaRPr b="1" i="0" sz="700" u="none" cap="none" strike="noStrike">
              <a:solidFill>
                <a:srgbClr val="252827"/>
              </a:solidFill>
              <a:latin typeface="Montserrat"/>
              <a:ea typeface="Montserrat"/>
              <a:cs typeface="Montserrat"/>
              <a:sym typeface="Montserrat"/>
            </a:endParaRPr>
          </a:p>
        </p:txBody>
      </p:sp>
      <p:sp>
        <p:nvSpPr>
          <p:cNvPr id="328" name="Google Shape;328;p41"/>
          <p:cNvSpPr/>
          <p:nvPr/>
        </p:nvSpPr>
        <p:spPr>
          <a:xfrm>
            <a:off x="4880666"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NOV</a:t>
            </a:r>
            <a:endParaRPr b="1" i="0" sz="700" u="none" cap="none" strike="noStrike">
              <a:solidFill>
                <a:srgbClr val="252827"/>
              </a:solidFill>
              <a:latin typeface="Montserrat"/>
              <a:ea typeface="Montserrat"/>
              <a:cs typeface="Montserrat"/>
              <a:sym typeface="Montserrat"/>
            </a:endParaRPr>
          </a:p>
        </p:txBody>
      </p:sp>
      <p:sp>
        <p:nvSpPr>
          <p:cNvPr id="329" name="Google Shape;329;p41"/>
          <p:cNvSpPr/>
          <p:nvPr/>
        </p:nvSpPr>
        <p:spPr>
          <a:xfrm>
            <a:off x="5310823" y="1435109"/>
            <a:ext cx="4299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DEC</a:t>
            </a:r>
            <a:endParaRPr b="1" i="0" sz="700" u="none" cap="none" strike="noStrike">
              <a:solidFill>
                <a:srgbClr val="252827"/>
              </a:solidFill>
              <a:latin typeface="Montserrat"/>
              <a:ea typeface="Montserrat"/>
              <a:cs typeface="Montserrat"/>
              <a:sym typeface="Montserrat"/>
            </a:endParaRPr>
          </a:p>
        </p:txBody>
      </p:sp>
      <p:sp>
        <p:nvSpPr>
          <p:cNvPr id="330" name="Google Shape;330;p41"/>
          <p:cNvSpPr/>
          <p:nvPr/>
        </p:nvSpPr>
        <p:spPr>
          <a:xfrm>
            <a:off x="5740980"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JAN</a:t>
            </a:r>
            <a:endParaRPr b="1" i="0" sz="700" u="none" cap="none" strike="noStrike">
              <a:solidFill>
                <a:srgbClr val="252827"/>
              </a:solidFill>
              <a:latin typeface="Montserrat"/>
              <a:ea typeface="Montserrat"/>
              <a:cs typeface="Montserrat"/>
              <a:sym typeface="Montserrat"/>
            </a:endParaRPr>
          </a:p>
        </p:txBody>
      </p:sp>
      <p:sp>
        <p:nvSpPr>
          <p:cNvPr id="331" name="Google Shape;331;p41"/>
          <p:cNvSpPr/>
          <p:nvPr/>
        </p:nvSpPr>
        <p:spPr>
          <a:xfrm>
            <a:off x="6171137"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FEB</a:t>
            </a:r>
            <a:endParaRPr b="1" i="0" sz="700" u="none" cap="none" strike="noStrike">
              <a:solidFill>
                <a:srgbClr val="252827"/>
              </a:solidFill>
              <a:latin typeface="Montserrat"/>
              <a:ea typeface="Montserrat"/>
              <a:cs typeface="Montserrat"/>
              <a:sym typeface="Montserrat"/>
            </a:endParaRPr>
          </a:p>
        </p:txBody>
      </p:sp>
      <p:sp>
        <p:nvSpPr>
          <p:cNvPr id="332" name="Google Shape;332;p41"/>
          <p:cNvSpPr/>
          <p:nvPr/>
        </p:nvSpPr>
        <p:spPr>
          <a:xfrm>
            <a:off x="6601294"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MAR</a:t>
            </a:r>
            <a:endParaRPr b="1" i="0" sz="700" u="none" cap="none" strike="noStrike">
              <a:solidFill>
                <a:srgbClr val="252827"/>
              </a:solidFill>
              <a:latin typeface="Montserrat"/>
              <a:ea typeface="Montserrat"/>
              <a:cs typeface="Montserrat"/>
              <a:sym typeface="Montserrat"/>
            </a:endParaRPr>
          </a:p>
        </p:txBody>
      </p:sp>
      <p:sp>
        <p:nvSpPr>
          <p:cNvPr id="333" name="Google Shape;333;p41"/>
          <p:cNvSpPr/>
          <p:nvPr/>
        </p:nvSpPr>
        <p:spPr>
          <a:xfrm>
            <a:off x="7031451"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APR</a:t>
            </a:r>
            <a:endParaRPr b="1" i="0" sz="700" u="none" cap="none" strike="noStrike">
              <a:solidFill>
                <a:srgbClr val="252827"/>
              </a:solidFill>
              <a:latin typeface="Montserrat"/>
              <a:ea typeface="Montserrat"/>
              <a:cs typeface="Montserrat"/>
              <a:sym typeface="Montserrat"/>
            </a:endParaRPr>
          </a:p>
        </p:txBody>
      </p:sp>
      <p:sp>
        <p:nvSpPr>
          <p:cNvPr id="334" name="Google Shape;334;p41"/>
          <p:cNvSpPr/>
          <p:nvPr/>
        </p:nvSpPr>
        <p:spPr>
          <a:xfrm>
            <a:off x="7461608"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MAY</a:t>
            </a:r>
            <a:endParaRPr b="1" i="0" sz="700" u="none" cap="none" strike="noStrike">
              <a:solidFill>
                <a:srgbClr val="252827"/>
              </a:solidFill>
              <a:latin typeface="Montserrat"/>
              <a:ea typeface="Montserrat"/>
              <a:cs typeface="Montserrat"/>
              <a:sym typeface="Montserrat"/>
            </a:endParaRPr>
          </a:p>
        </p:txBody>
      </p:sp>
      <p:sp>
        <p:nvSpPr>
          <p:cNvPr id="335" name="Google Shape;335;p41"/>
          <p:cNvSpPr/>
          <p:nvPr/>
        </p:nvSpPr>
        <p:spPr>
          <a:xfrm>
            <a:off x="7891765"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JUN</a:t>
            </a:r>
            <a:endParaRPr b="1" i="0" sz="700" u="none" cap="none" strike="noStrike">
              <a:solidFill>
                <a:srgbClr val="252827"/>
              </a:solidFill>
              <a:latin typeface="Montserrat"/>
              <a:ea typeface="Montserrat"/>
              <a:cs typeface="Montserrat"/>
              <a:sym typeface="Montserrat"/>
            </a:endParaRPr>
          </a:p>
        </p:txBody>
      </p:sp>
      <p:sp>
        <p:nvSpPr>
          <p:cNvPr id="336" name="Google Shape;336;p41"/>
          <p:cNvSpPr/>
          <p:nvPr/>
        </p:nvSpPr>
        <p:spPr>
          <a:xfrm>
            <a:off x="8321922" y="1435109"/>
            <a:ext cx="4299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700" u="none" cap="none" strike="noStrike">
                <a:solidFill>
                  <a:srgbClr val="252827"/>
                </a:solidFill>
                <a:latin typeface="Montserrat"/>
                <a:ea typeface="Montserrat"/>
                <a:cs typeface="Montserrat"/>
                <a:sym typeface="Montserrat"/>
              </a:rPr>
              <a:t>JUL</a:t>
            </a:r>
            <a:endParaRPr b="1" i="0" sz="700" u="none" cap="none" strike="noStrike">
              <a:solidFill>
                <a:srgbClr val="252827"/>
              </a:solidFill>
              <a:latin typeface="Montserrat"/>
              <a:ea typeface="Montserrat"/>
              <a:cs typeface="Montserrat"/>
              <a:sym typeface="Montserrat"/>
            </a:endParaRPr>
          </a:p>
        </p:txBody>
      </p:sp>
      <p:sp>
        <p:nvSpPr>
          <p:cNvPr id="337" name="Google Shape;337;p41"/>
          <p:cNvSpPr/>
          <p:nvPr/>
        </p:nvSpPr>
        <p:spPr>
          <a:xfrm>
            <a:off x="2739053" y="1138950"/>
            <a:ext cx="3002100" cy="2961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rgbClr val="252827"/>
                </a:solidFill>
                <a:latin typeface="Montserrat"/>
                <a:ea typeface="Montserrat"/>
                <a:cs typeface="Montserrat"/>
                <a:sym typeface="Montserrat"/>
              </a:rPr>
              <a:t>2025</a:t>
            </a:r>
            <a:endParaRPr b="1" i="0" sz="1300" u="none" cap="none" strike="noStrike">
              <a:solidFill>
                <a:srgbClr val="252827"/>
              </a:solidFill>
              <a:latin typeface="Montserrat"/>
              <a:ea typeface="Montserrat"/>
              <a:cs typeface="Montserrat"/>
              <a:sym typeface="Montserrat"/>
            </a:endParaRPr>
          </a:p>
        </p:txBody>
      </p:sp>
      <p:sp>
        <p:nvSpPr>
          <p:cNvPr id="338" name="Google Shape;338;p41"/>
          <p:cNvSpPr/>
          <p:nvPr/>
        </p:nvSpPr>
        <p:spPr>
          <a:xfrm>
            <a:off x="5731970" y="1138950"/>
            <a:ext cx="3002100" cy="29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rgbClr val="252827"/>
                </a:solidFill>
                <a:latin typeface="Montserrat"/>
                <a:ea typeface="Montserrat"/>
                <a:cs typeface="Montserrat"/>
                <a:sym typeface="Montserrat"/>
              </a:rPr>
              <a:t>2026</a:t>
            </a:r>
            <a:endParaRPr b="1" i="0" sz="1300" u="none" cap="none" strike="noStrike">
              <a:solidFill>
                <a:srgbClr val="252827"/>
              </a:solidFill>
              <a:latin typeface="Montserrat"/>
              <a:ea typeface="Montserrat"/>
              <a:cs typeface="Montserrat"/>
              <a:sym typeface="Montserrat"/>
            </a:endParaRPr>
          </a:p>
        </p:txBody>
      </p:sp>
      <p:sp>
        <p:nvSpPr>
          <p:cNvPr id="339" name="Google Shape;339;p41"/>
          <p:cNvSpPr/>
          <p:nvPr/>
        </p:nvSpPr>
        <p:spPr>
          <a:xfrm>
            <a:off x="2739051" y="1731275"/>
            <a:ext cx="19821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40" name="Google Shape;340;p41"/>
          <p:cNvSpPr/>
          <p:nvPr/>
        </p:nvSpPr>
        <p:spPr>
          <a:xfrm>
            <a:off x="4721150" y="2058150"/>
            <a:ext cx="5142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41" name="Google Shape;341;p41"/>
          <p:cNvSpPr/>
          <p:nvPr/>
        </p:nvSpPr>
        <p:spPr>
          <a:xfrm>
            <a:off x="4721150" y="2358975"/>
            <a:ext cx="19821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42" name="Google Shape;342;p41"/>
          <p:cNvSpPr/>
          <p:nvPr/>
        </p:nvSpPr>
        <p:spPr>
          <a:xfrm flipH="1">
            <a:off x="5832400" y="2656600"/>
            <a:ext cx="11988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52827"/>
              </a:solidFill>
              <a:latin typeface="Arial"/>
              <a:ea typeface="Arial"/>
              <a:cs typeface="Arial"/>
              <a:sym typeface="Arial"/>
            </a:endParaRPr>
          </a:p>
        </p:txBody>
      </p:sp>
      <p:sp>
        <p:nvSpPr>
          <p:cNvPr id="343" name="Google Shape;343;p41"/>
          <p:cNvSpPr/>
          <p:nvPr/>
        </p:nvSpPr>
        <p:spPr>
          <a:xfrm flipH="1">
            <a:off x="6601300" y="2959763"/>
            <a:ext cx="4299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44" name="Google Shape;344;p41"/>
          <p:cNvSpPr/>
          <p:nvPr/>
        </p:nvSpPr>
        <p:spPr>
          <a:xfrm>
            <a:off x="6254875" y="3254150"/>
            <a:ext cx="9186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45" name="Google Shape;345;p41"/>
          <p:cNvSpPr/>
          <p:nvPr/>
        </p:nvSpPr>
        <p:spPr>
          <a:xfrm>
            <a:off x="6254875" y="3570450"/>
            <a:ext cx="12672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46" name="Google Shape;346;p41"/>
          <p:cNvSpPr/>
          <p:nvPr/>
        </p:nvSpPr>
        <p:spPr>
          <a:xfrm flipH="1">
            <a:off x="7031450" y="3884425"/>
            <a:ext cx="5142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47" name="Google Shape;347;p41"/>
          <p:cNvSpPr/>
          <p:nvPr/>
        </p:nvSpPr>
        <p:spPr>
          <a:xfrm>
            <a:off x="7545650" y="4203000"/>
            <a:ext cx="582900" cy="1452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B24A3B"/>
              </a:solidFill>
              <a:latin typeface="Arial"/>
              <a:ea typeface="Arial"/>
              <a:cs typeface="Arial"/>
              <a:sym typeface="Arial"/>
            </a:endParaRPr>
          </a:p>
        </p:txBody>
      </p:sp>
      <p:sp>
        <p:nvSpPr>
          <p:cNvPr id="348" name="Google Shape;348;p41"/>
          <p:cNvSpPr txBox="1"/>
          <p:nvPr/>
        </p:nvSpPr>
        <p:spPr>
          <a:xfrm>
            <a:off x="401900" y="418400"/>
            <a:ext cx="53706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252827"/>
                </a:solidFill>
                <a:latin typeface="Oswald"/>
                <a:ea typeface="Oswald"/>
                <a:cs typeface="Oswald"/>
                <a:sym typeface="Oswald"/>
              </a:rPr>
              <a:t>TENTATIVE WORK PLAN</a:t>
            </a:r>
            <a:endParaRPr b="1" i="0" sz="2300" u="none" cap="none" strike="noStrike">
              <a:solidFill>
                <a:srgbClr val="252827"/>
              </a:solidFill>
              <a:latin typeface="Oswald"/>
              <a:ea typeface="Oswald"/>
              <a:cs typeface="Oswald"/>
              <a:sym typeface="Oswald"/>
            </a:endParaRPr>
          </a:p>
        </p:txBody>
      </p:sp>
      <p:sp>
        <p:nvSpPr>
          <p:cNvPr id="349" name="Google Shape;349;p41"/>
          <p:cNvSpPr/>
          <p:nvPr/>
        </p:nvSpPr>
        <p:spPr>
          <a:xfrm>
            <a:off x="524675" y="307100"/>
            <a:ext cx="991200" cy="111300"/>
          </a:xfrm>
          <a:prstGeom prst="rect">
            <a:avLst/>
          </a:prstGeom>
          <a:solidFill>
            <a:srgbClr val="4BA8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56" name="Google Shape;356;p42"/>
          <p:cNvSpPr txBox="1"/>
          <p:nvPr/>
        </p:nvSpPr>
        <p:spPr>
          <a:xfrm>
            <a:off x="400000" y="80000"/>
            <a:ext cx="8200000" cy="47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200" u="none" cap="none" strike="noStrike">
                <a:solidFill>
                  <a:srgbClr val="003366"/>
                </a:solidFill>
                <a:latin typeface="Arial"/>
                <a:ea typeface="Arial"/>
                <a:cs typeface="Arial"/>
                <a:sym typeface="Arial"/>
              </a:rPr>
              <a:t>REFERENCES</a:t>
            </a:r>
            <a:endParaRPr/>
          </a:p>
          <a:p>
            <a:pPr indent="0" lvl="0" marL="0" marR="0" rtl="0" algn="l">
              <a:lnSpc>
                <a:spcPct val="100000"/>
              </a:lnSpc>
              <a:spcBef>
                <a:spcPts val="1000"/>
              </a:spcBef>
              <a:spcAft>
                <a:spcPts val="0"/>
              </a:spcAft>
              <a:buNone/>
            </a:pPr>
            <a:r>
              <a:rPr b="0" i="0" lang="en" sz="950" u="none" cap="none" strike="noStrike">
                <a:solidFill>
                  <a:srgbClr val="323232"/>
                </a:solidFill>
                <a:latin typeface="Arial"/>
                <a:ea typeface="Arial"/>
                <a:cs typeface="Arial"/>
                <a:sym typeface="Arial"/>
              </a:rPr>
              <a:t>[1] Cummins et al. (2015). A Review of Depression and Suicide Risk Assessment Using Speech Analysis. Speech Communication.</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[2] Lee et al. (2024). CACTUS: Towards Psychological Counseling Conversations using CBT. arXiv:2407.03103.</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[3] Shahrokhian et al. (2021). The Effects of CBT in Well-Being and Perceived Stress. Int J Sport Studies Health.</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[4] Sun et al. (2024). Beyond Text: Improving LLMs via Vocal Cues. (Proc. Conference).</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[5] Thirunavukkarasu et al. (2024). Deep Multimodal Fusion for Depression Detection. ACCAI 2024.</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[6] Mitsios et al. (2024). Improved Text Emotion Prediction Using Combined VA Ordinal Classification. NAACL 2024.</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[7] Kim et al. (2025). MIRROR: Multimodal Cognitive Reframing Therapy. EMNLP 2025.</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[8] Yan et al. (2024). Talk With Human-like Agents: PerceptiveAgent. ACL 2024.</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[9] Wang &amp; Wu (2024). Evaluation of Data Inconsistency for Multi-Modal Sentiment Analysis. arXiv:2406.03004.</a:t>
            </a:r>
            <a:endParaRPr/>
          </a:p>
          <a:p>
            <a:pPr indent="0" lvl="0" marL="0" marR="0" rtl="0" algn="l">
              <a:lnSpc>
                <a:spcPct val="100000"/>
              </a:lnSpc>
              <a:spcBef>
                <a:spcPts val="300"/>
              </a:spcBef>
              <a:spcAft>
                <a:spcPts val="0"/>
              </a:spcAft>
              <a:buNone/>
            </a:pPr>
            <a:r>
              <a:rPr b="0" i="0" lang="en" sz="950" u="none" cap="none" strike="noStrike">
                <a:solidFill>
                  <a:srgbClr val="323232"/>
                </a:solidFill>
                <a:latin typeface="Arial"/>
                <a:ea typeface="Arial"/>
                <a:cs typeface="Arial"/>
                <a:sym typeface="Arial"/>
              </a:rPr>
              <a:t>[10] Haydarov et al. (2025). Towards AI-Assisted Psychotherapy: Emotion-Guided Generative Interventions. EMNLP 2025.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43"/>
          <p:cNvPicPr preferRelativeResize="0"/>
          <p:nvPr/>
        </p:nvPicPr>
        <p:blipFill rotWithShape="1">
          <a:blip r:embed="rId3">
            <a:alphaModFix/>
          </a:blip>
          <a:srcRect b="43816" l="41697" r="42378" t="42520"/>
          <a:stretch/>
        </p:blipFill>
        <p:spPr>
          <a:xfrm>
            <a:off x="3886740" y="2571750"/>
            <a:ext cx="1370525" cy="661075"/>
          </a:xfrm>
          <a:prstGeom prst="rect">
            <a:avLst/>
          </a:prstGeom>
          <a:noFill/>
          <a:ln>
            <a:noFill/>
          </a:ln>
        </p:spPr>
      </p:pic>
      <p:sp>
        <p:nvSpPr>
          <p:cNvPr id="362" name="Google Shape;362;p43"/>
          <p:cNvSpPr txBox="1"/>
          <p:nvPr/>
        </p:nvSpPr>
        <p:spPr>
          <a:xfrm>
            <a:off x="3121650" y="3232825"/>
            <a:ext cx="29007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252827"/>
                </a:solidFill>
                <a:latin typeface="Oswald"/>
                <a:ea typeface="Oswald"/>
                <a:cs typeface="Oswald"/>
                <a:sym typeface="Oswald"/>
              </a:rPr>
              <a:t>THANK YOU</a:t>
            </a:r>
            <a:endParaRPr b="1" i="0" sz="2400" u="none" cap="none" strike="noStrike">
              <a:solidFill>
                <a:srgbClr val="252827"/>
              </a:solidFill>
              <a:latin typeface="Oswald"/>
              <a:ea typeface="Oswald"/>
              <a:cs typeface="Oswald"/>
              <a:sym typeface="Oswald"/>
            </a:endParaRPr>
          </a:p>
        </p:txBody>
      </p:sp>
      <p:sp>
        <p:nvSpPr>
          <p:cNvPr id="363" name="Google Shape;363;p43"/>
          <p:cNvSpPr txBox="1"/>
          <p:nvPr/>
        </p:nvSpPr>
        <p:spPr>
          <a:xfrm>
            <a:off x="3121663" y="3643200"/>
            <a:ext cx="2900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1" lang="en" sz="1200" u="none" cap="none" strike="noStrike">
                <a:solidFill>
                  <a:srgbClr val="252827"/>
                </a:solidFill>
                <a:latin typeface="Montserrat"/>
                <a:ea typeface="Montserrat"/>
                <a:cs typeface="Montserrat"/>
                <a:sym typeface="Montserrat"/>
              </a:rPr>
              <a:t>for your attention</a:t>
            </a:r>
            <a:endParaRPr b="0" i="1" sz="1200" u="none" cap="none" strike="noStrike">
              <a:solidFill>
                <a:srgbClr val="252827"/>
              </a:solidFill>
              <a:latin typeface="Montserrat"/>
              <a:ea typeface="Montserrat"/>
              <a:cs typeface="Montserrat"/>
              <a:sym typeface="Montserrat"/>
            </a:endParaRPr>
          </a:p>
        </p:txBody>
      </p:sp>
      <p:sp>
        <p:nvSpPr>
          <p:cNvPr id="364" name="Google Shape;36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