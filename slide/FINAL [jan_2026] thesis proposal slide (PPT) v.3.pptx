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Montserrat"/>
      <p:regular r:id="rId36"/>
      <p:bold r:id="rId37"/>
      <p:italic r:id="rId38"/>
      <p:boldItalic r:id="rId39"/>
    </p:embeddedFont>
    <p:embeddedFont>
      <p:font typeface="Oswald"/>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h3yXqngrbNQN2RS/wyRDst27wG+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OTAKEMARU"/>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font" Target="fonts/Montserrat-regular.fntdata"/><Relationship Id="rId37" Type="http://schemas.openxmlformats.org/officeDocument/2006/relationships/font" Target="fonts/Montserrat-bold.fntdata"/><Relationship Id="rId38" Type="http://schemas.openxmlformats.org/officeDocument/2006/relationships/font" Target="fonts/Montserrat-italic.fntdata"/><Relationship Id="rId39" Type="http://schemas.openxmlformats.org/officeDocument/2006/relationships/font" Target="fonts/Montserrat-boldItalic.fntdata"/><Relationship Id="rId40" Type="http://schemas.openxmlformats.org/officeDocument/2006/relationships/font" Target="fonts/Oswald-regular.fntdata"/><Relationship Id="rId41" Type="http://schemas.openxmlformats.org/officeDocument/2006/relationships/font" Target="fonts/Oswald-bold.fntdata"/><Relationship Id="rId42" Type="http://customschemas.google.com/relationships/presentationmetadata" Target="meta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06T07:48:24.467">
    <p:pos x="6000" y="0"/>
    <p:text>Add baseline on the left to compare how improvement from the dissonance on the right.
Aslo, highlight the word that should express more emphapethic for the model of dissonance in the cha context.</p:text>
    <p:extLst>
      <p:ext uri="{C676402C-5697-4E1C-873F-D02D1690AC5C}">
        <p15:threadingInfo timeZoneBias="0"/>
      </p:ext>
      <p:ext uri="http://customooxmlschemas.google.com/">
        <go:slidesCustomData xmlns:go="http://customooxmlschemas.google.com/" commentPostId="AAAB5z4mSl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b145dfe16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3b145dfe16a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Text based cbt → too directive → leads to bad therapeutic alliance</a:t>
            </a:r>
            <a:endParaRPr/>
          </a:p>
          <a:p>
            <a:pPr indent="0" lvl="0" marL="0" rtl="0" algn="l">
              <a:lnSpc>
                <a:spcPct val="100000"/>
              </a:lnSpc>
              <a:spcBef>
                <a:spcPts val="0"/>
              </a:spcBef>
              <a:spcAft>
                <a:spcPts val="0"/>
              </a:spcAft>
              <a:buSzPts val="1100"/>
              <a:buNone/>
            </a:pPr>
            <a:r>
              <a:rPr lang="en"/>
              <a:t>เอา</a:t>
            </a:r>
            <a:endParaRPr/>
          </a:p>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8fe4ba9e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b8fe4ba9eb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Text based cbt → too directive → leads to bad therapeutic alliance</a:t>
            </a:r>
            <a:endParaRPr/>
          </a:p>
          <a:p>
            <a:pPr indent="0" lvl="0" marL="0" rtl="0" algn="l">
              <a:lnSpc>
                <a:spcPct val="100000"/>
              </a:lnSpc>
              <a:spcBef>
                <a:spcPts val="0"/>
              </a:spcBef>
              <a:spcAft>
                <a:spcPts val="0"/>
              </a:spcAft>
              <a:buSzPts val="1100"/>
              <a:buNone/>
            </a:pPr>
            <a:r>
              <a:rPr lang="en"/>
              <a:t>เอา</a:t>
            </a:r>
            <a:endParaRPr/>
          </a:p>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5c7f620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3b5c7f620e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เอา</a:t>
            </a:r>
            <a:br>
              <a:rPr lang="en">
                <a:solidFill>
                  <a:schemeClr val="dk1"/>
                </a:solidFill>
              </a:rPr>
            </a:br>
            <a:br>
              <a:rPr lang="en">
                <a:solidFill>
                  <a:schemeClr val="dk1"/>
                </a:solidFill>
              </a:rPr>
            </a:br>
            <a:r>
              <a:rPr lang="en">
                <a:solidFill>
                  <a:schemeClr val="dk1"/>
                </a:solidFill>
              </a:rPr>
              <a:t>ทำ Baclgroyund ถึง problem-statement และสรุป MEthtodology ส่าจะทำอะไรบ้าง</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Note: แก้ RQ ให้ดูง่ายขึ้น (ใส่วิธีประมินเข้าไปด้วย แบบ เทียบเป็น average change rate กับ baseline model (context only)</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ลูกค้าใช้เวลากี่ turn (utterance) ถึงจะเริ่มเปลี่ยน </a:t>
            </a:r>
            <a:r>
              <a:rPr lang="en">
                <a:solidFill>
                  <a:srgbClr val="252827"/>
                </a:solidFill>
                <a:latin typeface="Montserrat"/>
                <a:ea typeface="Montserrat"/>
                <a:cs typeface="Montserrat"/>
                <a:sym typeface="Montserrat"/>
              </a:rPr>
              <a:t> vocal–affective state in the user (for example, [sadness, slow] → [mixed, slow]) following each therapist reply?</a:t>
            </a:r>
            <a:endParaRPr>
              <a:solidFill>
                <a:srgbClr val="252827"/>
              </a:solidFill>
              <a:latin typeface="Montserrat"/>
              <a:ea typeface="Montserrat"/>
              <a:cs typeface="Montserrat"/>
              <a:sym typeface="Montserrat"/>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เทียบเป็น average change rate กับ baseline model (context only)</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เอา</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เอา</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เอา</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197556fe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3b197556fe3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3a6f2c6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b3a6f2c61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197556fe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b197556fe3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b197556fe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g3b197556fe3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c5e29e8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3dc5e29e8e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197556fe3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3b197556fe3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c5e29e8e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3dc5e29e8ee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55ecce0028d0e37b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55ecce0028d0e37b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dc5e29e8e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dc5e29e8ee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2ef6574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b2ef65746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b2ef65746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3b2ef65746e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b14732efa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3b14732efab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b14732ef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b14732efa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4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4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4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4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4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4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4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4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4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4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comments" Target="../comments/comment1.xml"/><Relationship Id="rId4" Type="http://schemas.openxmlformats.org/officeDocument/2006/relationships/image" Target="../media/image8.png"/><Relationship Id="rId5"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9" name="Google Shape;59;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60" name="Google Shape;60;p1"/>
          <p:cNvPicPr preferRelativeResize="0"/>
          <p:nvPr/>
        </p:nvPicPr>
        <p:blipFill rotWithShape="1">
          <a:blip r:embed="rId3">
            <a:alphaModFix/>
          </a:blip>
          <a:srcRect b="0" l="0" r="0" t="0"/>
          <a:stretch/>
        </p:blipFill>
        <p:spPr>
          <a:xfrm>
            <a:off x="8396600" y="64925"/>
            <a:ext cx="700399" cy="700399"/>
          </a:xfrm>
          <a:prstGeom prst="rect">
            <a:avLst/>
          </a:prstGeom>
          <a:noFill/>
          <a:ln>
            <a:noFill/>
          </a:ln>
        </p:spPr>
      </p:pic>
      <p:sp>
        <p:nvSpPr>
          <p:cNvPr id="61" name="TextBox 60"/>
          <p:cNvSpPr txBox="1"/>
          <p:nvPr/>
        </p:nvSpPr>
        <p:spPr>
          <a:xfrm>
            <a:off x="400000" y="150000"/>
            <a:ext cx="8200000" cy="350000"/>
          </a:xfrm>
          <a:prstGeom prst="rect">
            <a:avLst/>
          </a:prstGeom>
          <a:noFill/>
        </p:spPr>
        <p:txBody>
          <a:bodyPr wrap="none">
            <a:spAutoFit/>
          </a:bodyPr>
          <a:lstStyle/>
          <a:p>
            <a:pPr>
              <a:defRPr sz="2200" b="1">
                <a:solidFill>
                  <a:srgbClr val="003366"/>
                </a:solidFill>
              </a:defRPr>
            </a:pPr>
            <a:r>
              <a:t>3.4 Multimodal (Vocal-Aware)</a:t>
            </a:r>
          </a:p>
        </p:txBody>
      </p:sp>
      <p:sp>
        <p:nvSpPr>
          <p:cNvPr id="62" name="TextBox 61"/>
          <p:cNvSpPr txBox="1"/>
          <p:nvPr/>
        </p:nvSpPr>
        <p:spPr>
          <a:xfrm>
            <a:off x="400000" y="550000"/>
            <a:ext cx="8200000" cy="4400000"/>
          </a:xfrm>
          <a:prstGeom prst="rect">
            <a:avLst/>
          </a:prstGeom>
          <a:noFill/>
        </p:spPr>
        <p:txBody>
          <a:bodyPr wrap="square">
            <a:spAutoFit/>
          </a:bodyPr>
          <a:lstStyle/>
          <a:p>
            <a:pPr>
              <a:spcAft>
                <a:spcPts val="200"/>
              </a:spcAft>
              <a:defRPr sz="1500" b="1"/>
            </a:pPr>
            <a:r>
              <a:t>1. Core Architecture:</a:t>
            </a:r>
          </a:p>
          <a:p>
            <a:pPr>
              <a:spcAft>
                <a:spcPts val="200"/>
              </a:spcAft>
              <a:defRPr sz="1200" b="0"/>
            </a:pPr>
            <a:r>
              <a:t>Model: GPT-4o mini (via API)</a:t>
            </a:r>
          </a:p>
          <a:p>
            <a:pPr>
              <a:spcAft>
                <a:spcPts val="200"/>
              </a:spcAft>
              <a:defRPr sz="1200" b="0"/>
            </a:pPr>
            <a:r>
              <a:t>Role: Central reasoning engine integrating semantic, acoustic,</a:t>
            </a:r>
          </a:p>
          <a:p>
            <a:pPr>
              <a:spcAft>
                <a:spcPts val="200"/>
              </a:spcAft>
              <a:defRPr sz="1200" b="0"/>
            </a:pPr>
            <a:r>
              <a:t>  and prosodic information</a:t>
            </a:r>
          </a:p>
          <a:p>
            <a:pPr>
              <a:spcAft>
                <a:spcPts val="200"/>
              </a:spcAft>
              <a:defRPr sz="1500" b="1"/>
            </a:pPr>
            <a:r>
              <a:t>2. Feature Injection Strategy:</a:t>
            </a:r>
          </a:p>
          <a:p>
            <a:pPr>
              <a:spcAft>
                <a:spcPts val="200"/>
              </a:spcAft>
              <a:defRPr sz="1200" b="0"/>
            </a:pPr>
            <a:r>
              <a:t>Text VA (vad-bert): Valence &amp; Arousal from transcript</a:t>
            </a:r>
          </a:p>
          <a:p>
            <a:pPr>
              <a:spcAft>
                <a:spcPts val="200"/>
              </a:spcAft>
              <a:defRPr sz="1200" b="0"/>
            </a:pPr>
            <a:r>
              <a:t>Speech VA (WavLM): Valence &amp; Arousal from synthesized audio</a:t>
            </a:r>
          </a:p>
          <a:p>
            <a:pPr>
              <a:spcAft>
                <a:spcPts val="200"/>
              </a:spcAft>
              <a:defRPr sz="1200" b="0"/>
            </a:pPr>
            <a:r>
              <a:t>Vocal Descriptors (librosa): Pitch (F0), Loudness (RMS), Speaking Rate</a:t>
            </a:r>
          </a:p>
          <a:p>
            <a:pPr>
              <a:spcAft>
                <a:spcPts val="200"/>
              </a:spcAft>
              <a:defRPr sz="1200" b="0"/>
            </a:pPr>
            <a:r>
              <a:t>All injected as contextual descriptors into the LLM prompt</a:t>
            </a:r>
          </a:p>
          <a:p>
            <a:pPr>
              <a:spcAft>
                <a:spcPts val="200"/>
              </a:spcAft>
              <a:defRPr sz="1500" b="1"/>
            </a:pPr>
            <a:r>
              <a:t>3. Decision Mechanism:</a:t>
            </a:r>
          </a:p>
          <a:p>
            <a:pPr>
              <a:spcAft>
                <a:spcPts val="200"/>
              </a:spcAft>
              <a:defRPr sz="1200" b="0"/>
            </a:pPr>
            <a:r>
              <a:t>LLM cross-references:</a:t>
            </a:r>
          </a:p>
          <a:p>
            <a:pPr>
              <a:spcAft>
                <a:spcPts val="200"/>
              </a:spcAft>
              <a:defRPr sz="1200" b="0"/>
            </a:pPr>
            <a:r>
              <a:t>  What was said (Text / Semantics)</a:t>
            </a:r>
          </a:p>
          <a:p>
            <a:pPr>
              <a:spcAft>
                <a:spcPts val="200"/>
              </a:spcAft>
              <a:defRPr sz="1200" b="0"/>
            </a:pPr>
            <a:r>
              <a:t>  How it was said (Vocal cues / VA / prosodic descriptors)</a:t>
            </a:r>
          </a:p>
          <a:p>
            <a:pPr>
              <a:spcAft>
                <a:spcPts val="200"/>
              </a:spcAft>
              <a:defRPr sz="1200" b="1"/>
            </a:pPr>
            <a:r>
              <a:t>-&gt; Holistic response capturing emotional nuances invisible to text-only models</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4" name="Shape 64"/>
        <p:cNvGrpSpPr/>
        <p:nvPr/>
      </p:nvGrpSpPr>
      <p:grpSpPr>
        <a:xfrm>
          <a:off x="0" y="0"/>
          <a:ext cx="0" cy="0"/>
          <a:chOff x="0" y="0"/>
          <a:chExt cx="0" cy="0"/>
        </a:xfrm>
      </p:grpSpPr>
      <p:sp>
        <p:nvSpPr>
          <p:cNvPr id="82" name="Google Shape;8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83" name="TextBox 82"/>
          <p:cNvSpPr txBox="1"/>
          <p:nvPr/>
        </p:nvSpPr>
        <p:spPr>
          <a:xfrm>
            <a:off x="400000" y="150000"/>
            <a:ext cx="8200000" cy="350000"/>
          </a:xfrm>
          <a:prstGeom prst="rect">
            <a:avLst/>
          </a:prstGeom>
          <a:noFill/>
        </p:spPr>
        <p:txBody>
          <a:bodyPr wrap="none">
            <a:spAutoFit/>
          </a:bodyPr>
          <a:lstStyle/>
          <a:p>
            <a:pPr>
              <a:defRPr sz="2200" b="1">
                <a:solidFill>
                  <a:srgbClr val="003366"/>
                </a:solidFill>
              </a:defRPr>
            </a:pPr>
            <a:r>
              <a:t>3.4 Dissonance-Aware</a:t>
            </a:r>
          </a:p>
        </p:txBody>
      </p:sp>
      <p:sp>
        <p:nvSpPr>
          <p:cNvPr id="84" name="TextBox 83"/>
          <p:cNvSpPr txBox="1"/>
          <p:nvPr/>
        </p:nvSpPr>
        <p:spPr>
          <a:xfrm>
            <a:off x="400000" y="550000"/>
            <a:ext cx="8200000" cy="4400000"/>
          </a:xfrm>
          <a:prstGeom prst="rect">
            <a:avLst/>
          </a:prstGeom>
          <a:noFill/>
        </p:spPr>
        <p:txBody>
          <a:bodyPr wrap="square">
            <a:spAutoFit/>
          </a:bodyPr>
          <a:lstStyle/>
          <a:p>
            <a:pPr>
              <a:spcAft>
                <a:spcPts val="200"/>
              </a:spcAft>
              <a:defRPr sz="1500" b="1"/>
            </a:pPr>
            <a:r>
              <a:t>1. Core Architecture:</a:t>
            </a:r>
          </a:p>
          <a:p>
            <a:pPr>
              <a:spcAft>
                <a:spcPts val="200"/>
              </a:spcAft>
              <a:defRPr sz="1200" b="0"/>
            </a:pPr>
            <a:r>
              <a:t>Model: GPT-4o mini (via API)</a:t>
            </a:r>
          </a:p>
          <a:p>
            <a:pPr>
              <a:spcAft>
                <a:spcPts val="200"/>
              </a:spcAft>
              <a:defRPr sz="1200" b="0"/>
            </a:pPr>
            <a:r>
              <a:t>Role: Same as Multimodal PLUS cognitive dissonance measured from</a:t>
            </a:r>
          </a:p>
          <a:p>
            <a:pPr>
              <a:spcAft>
                <a:spcPts val="200"/>
              </a:spcAft>
              <a:defRPr sz="1200" b="0"/>
            </a:pPr>
            <a:r>
              <a:t>  VA delta between text and speech modalities</a:t>
            </a:r>
          </a:p>
          <a:p>
            <a:pPr>
              <a:spcAft>
                <a:spcPts val="200"/>
              </a:spcAft>
              <a:defRPr sz="1500" b="1"/>
            </a:pPr>
            <a:r>
              <a:t>2. Feature Injection Strategy:</a:t>
            </a:r>
          </a:p>
          <a:p>
            <a:pPr>
              <a:spcAft>
                <a:spcPts val="200"/>
              </a:spcAft>
              <a:defRPr sz="1200" b="0"/>
            </a:pPr>
            <a:r>
              <a:t>Text VA (vad-bert): Valence &amp; Arousal from transcript</a:t>
            </a:r>
          </a:p>
          <a:p>
            <a:pPr>
              <a:spcAft>
                <a:spcPts val="200"/>
              </a:spcAft>
              <a:defRPr sz="1200" b="0"/>
            </a:pPr>
            <a:r>
              <a:t>Speech VA (WavLM): Valence &amp; Arousal from synthesized audio</a:t>
            </a:r>
          </a:p>
          <a:p>
            <a:pPr>
              <a:spcAft>
                <a:spcPts val="200"/>
              </a:spcAft>
              <a:defRPr sz="1200" b="0"/>
            </a:pPr>
            <a:r>
              <a:t>Vocal Descriptors (librosa): Pitch (F0), Loudness (RMS), Speaking Rate</a:t>
            </a:r>
          </a:p>
          <a:p>
            <a:pPr>
              <a:spcAft>
                <a:spcPts val="200"/>
              </a:spcAft>
              <a:defRPr sz="1200" b="0"/>
            </a:pPr>
            <a:r>
              <a:t>Dissonance Signal: delta_V = V_speech - V_text,  delta_A = A_speech - A_text</a:t>
            </a:r>
          </a:p>
          <a:p>
            <a:pPr>
              <a:spcAft>
                <a:spcPts val="200"/>
              </a:spcAft>
              <a:defRPr sz="1200" b="0"/>
            </a:pPr>
            <a:r>
              <a:t>Binary Flag: is_dissonant = |delta| &gt;= 0.5</a:t>
            </a:r>
          </a:p>
          <a:p>
            <a:pPr>
              <a:spcAft>
                <a:spcPts val="200"/>
              </a:spcAft>
              <a:defRPr sz="1200" b="0"/>
            </a:pPr>
            <a:r>
              <a:t>All injected as contextual descriptors into the LLM prompt</a:t>
            </a:r>
          </a:p>
          <a:p>
            <a:pPr>
              <a:spcAft>
                <a:spcPts val="200"/>
              </a:spcAft>
              <a:defRPr sz="1500" b="1"/>
            </a:pPr>
            <a:r>
              <a:t>3. Decision Mechanism:</a:t>
            </a:r>
          </a:p>
          <a:p>
            <a:pPr>
              <a:spcAft>
                <a:spcPts val="200"/>
              </a:spcAft>
              <a:defRPr sz="1200" b="0"/>
            </a:pPr>
            <a:r>
              <a:t>LLM cross-references:</a:t>
            </a:r>
          </a:p>
          <a:p>
            <a:pPr>
              <a:spcAft>
                <a:spcPts val="200"/>
              </a:spcAft>
              <a:defRPr sz="1200" b="0"/>
            </a:pPr>
            <a:r>
              <a:t>  What was said (Text / Semantics)</a:t>
            </a:r>
          </a:p>
          <a:p>
            <a:pPr>
              <a:spcAft>
                <a:spcPts val="200"/>
              </a:spcAft>
              <a:defRPr sz="1200" b="0"/>
            </a:pPr>
            <a:r>
              <a:t>  How it was said (Vocal cues / VA / prosodic descriptors)</a:t>
            </a:r>
          </a:p>
          <a:p>
            <a:pPr>
              <a:spcAft>
                <a:spcPts val="200"/>
              </a:spcAft>
              <a:defRPr sz="1200" b="0"/>
            </a:pPr>
            <a:r>
              <a:t>  Why tone differs from words (Dissonance-aware reasoning)</a:t>
            </a:r>
          </a:p>
          <a:p>
            <a:pPr>
              <a:spcAft>
                <a:spcPts val="200"/>
              </a:spcAft>
              <a:defRPr sz="1200" b="1">
                <a:solidFill>
                  <a:srgbClr val="006400"/>
                </a:solidFill>
              </a:defRPr>
            </a:pPr>
            <a:r>
              <a:t>-&gt; Captures hidden affect: when clients voice contradicts their words</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6" name="Shape 86"/>
        <p:cNvGrpSpPr/>
        <p:nvPr/>
      </p:nvGrpSpPr>
      <p:grpSpPr>
        <a:xfrm>
          <a:off x="0" y="0"/>
          <a:ext cx="0" cy="0"/>
          <a:chOff x="0" y="0"/>
          <a:chExt cx="0" cy="0"/>
        </a:xfrm>
      </p:grpSpPr>
      <p:sp>
        <p:nvSpPr>
          <p:cNvPr id="87" name="Google Shape;87;g3b145dfe16a_0_14"/>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374650" lvl="0" marL="457200" marR="0" rtl="0" algn="l">
              <a:lnSpc>
                <a:spcPct val="100000"/>
              </a:lnSpc>
              <a:spcBef>
                <a:spcPts val="0"/>
              </a:spcBef>
              <a:spcAft>
                <a:spcPts val="0"/>
              </a:spcAft>
              <a:buClr>
                <a:srgbClr val="252827"/>
              </a:buClr>
              <a:buSzPts val="2300"/>
              <a:buFont typeface="Oswald"/>
              <a:buAutoNum type="arabicPeriod"/>
            </a:pPr>
            <a:r>
              <a:rPr b="1" i="0" lang="en" sz="2300" u="none" cap="none" strike="noStrike">
                <a:solidFill>
                  <a:srgbClr val="252827"/>
                </a:solidFill>
                <a:latin typeface="Oswald"/>
                <a:ea typeface="Oswald"/>
                <a:cs typeface="Oswald"/>
                <a:sym typeface="Oswald"/>
              </a:rPr>
              <a:t>INTRODUCTION</a:t>
            </a:r>
            <a:endParaRPr b="1" i="0" sz="2300" u="none" cap="none" strike="noStrike">
              <a:solidFill>
                <a:srgbClr val="F8CF2C"/>
              </a:solidFill>
              <a:latin typeface="Oswald"/>
              <a:ea typeface="Oswald"/>
              <a:cs typeface="Oswald"/>
              <a:sym typeface="Oswald"/>
            </a:endParaRPr>
          </a:p>
        </p:txBody>
      </p:sp>
      <p:sp>
        <p:nvSpPr>
          <p:cNvPr id="88" name="Google Shape;88;g3b145dfe16a_0_14"/>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89" name="Google Shape;89;g3b145dfe16a_0_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90" name="Google Shape;90;g3b145dfe16a_0_14"/>
          <p:cNvSpPr/>
          <p:nvPr/>
        </p:nvSpPr>
        <p:spPr>
          <a:xfrm>
            <a:off x="1362025" y="1095375"/>
            <a:ext cx="5170800" cy="64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1200"/>
              </a:spcBef>
              <a:spcAft>
                <a:spcPts val="1200"/>
              </a:spcAft>
              <a:buClr>
                <a:srgbClr val="000000"/>
              </a:buClr>
              <a:buSzPts val="900"/>
              <a:buFont typeface="Arial"/>
              <a:buNone/>
            </a:pPr>
            <a:r>
              <a:rPr b="0" i="0" lang="en" sz="900" u="none" cap="none" strike="noStrike">
                <a:solidFill>
                  <a:schemeClr val="dk1"/>
                </a:solidFill>
                <a:latin typeface="Montserrat"/>
                <a:ea typeface="Montserrat"/>
                <a:cs typeface="Montserrat"/>
                <a:sym typeface="Montserrat"/>
              </a:rPr>
              <a:t>In recent years, growing public awareness of mental health has sharply increased the demand for accessible psychological support, accelerating efforts to use large language models (LLMs) as synthetic counseling agents. \cite{lee2024cactus}</a:t>
            </a:r>
            <a:endParaRPr b="0" i="0" sz="1200" u="none" cap="none" strike="noStrike">
              <a:solidFill>
                <a:srgbClr val="000000"/>
              </a:solidFill>
              <a:latin typeface="Arial"/>
              <a:ea typeface="Arial"/>
              <a:cs typeface="Arial"/>
              <a:sym typeface="Arial"/>
            </a:endParaRPr>
          </a:p>
        </p:txBody>
      </p:sp>
      <p:sp>
        <p:nvSpPr>
          <p:cNvPr id="91" name="Google Shape;91;g3b145dfe16a_0_14"/>
          <p:cNvSpPr/>
          <p:nvPr/>
        </p:nvSpPr>
        <p:spPr>
          <a:xfrm>
            <a:off x="1362025" y="1828300"/>
            <a:ext cx="5170800" cy="64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1200"/>
              </a:spcBef>
              <a:spcAft>
                <a:spcPts val="1200"/>
              </a:spcAft>
              <a:buClr>
                <a:srgbClr val="000000"/>
              </a:buClr>
              <a:buSzPts val="900"/>
              <a:buFont typeface="Arial"/>
              <a:buNone/>
            </a:pPr>
            <a:r>
              <a:rPr b="0" i="0" lang="en" sz="900" u="none" cap="none" strike="noStrike">
                <a:solidFill>
                  <a:srgbClr val="252827"/>
                </a:solidFill>
                <a:latin typeface="Montserrat"/>
                <a:ea typeface="Montserrat"/>
                <a:cs typeface="Montserrat"/>
                <a:sym typeface="Montserrat"/>
              </a:rPr>
              <a:t>Closed-source systems such as GPT-based CBT assistants have already been explored as practical counselors, but they raise substantial concerns about data privacy and third‑party control over sensitive clinical conversations. \cite{raile2024chatgpt,berrezueta2024adhd,hicke20</a:t>
            </a:r>
            <a:r>
              <a:rPr b="0" i="0" lang="en" sz="900" u="none" cap="none" strike="noStrike">
                <a:solidFill>
                  <a:srgbClr val="252827"/>
                </a:solidFill>
                <a:latin typeface="Montserrat"/>
                <a:ea typeface="Montserrat"/>
                <a:cs typeface="Montserrat"/>
                <a:sym typeface="Montserrat"/>
              </a:rPr>
              <a:t>23aita}</a:t>
            </a:r>
            <a:endParaRPr b="0" i="0" sz="1200" u="none" cap="none" strike="noStrike">
              <a:solidFill>
                <a:srgbClr val="000000"/>
              </a:solidFill>
              <a:latin typeface="Montserrat"/>
              <a:ea typeface="Montserrat"/>
              <a:cs typeface="Montserrat"/>
              <a:sym typeface="Montserrat"/>
            </a:endParaRPr>
          </a:p>
        </p:txBody>
      </p:sp>
      <p:sp>
        <p:nvSpPr>
          <p:cNvPr id="92" name="Google Shape;92;g3b145dfe16a_0_14"/>
          <p:cNvSpPr/>
          <p:nvPr/>
        </p:nvSpPr>
        <p:spPr>
          <a:xfrm>
            <a:off x="1362025" y="2561225"/>
            <a:ext cx="5170800" cy="71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1200"/>
              </a:spcBef>
              <a:spcAft>
                <a:spcPts val="1200"/>
              </a:spcAft>
              <a:buClr>
                <a:schemeClr val="dk1"/>
              </a:buClr>
              <a:buSzPts val="1100"/>
              <a:buFont typeface="Arial"/>
              <a:buNone/>
            </a:pPr>
            <a:r>
              <a:rPr b="0" i="0" lang="en" sz="900" u="none" cap="none" strike="noStrike">
                <a:solidFill>
                  <a:srgbClr val="252827"/>
                </a:solidFill>
                <a:latin typeface="Montserrat"/>
                <a:ea typeface="Montserrat"/>
                <a:cs typeface="Montserrat"/>
                <a:sym typeface="Montserrat"/>
              </a:rPr>
              <a:t>However, most CBT-oriented LLM systems remain fundamentally text-only, which prevents them from capturing rich non-verbal cues—such as hesitation, flat or dismissive tone, or sarcastic prosody—that therapists routinely rely on to recognize client resistance in practice. \cite{sun2024beyondtext}</a:t>
            </a:r>
            <a:endParaRPr b="0" i="0" sz="1200" u="none" cap="none" strike="noStrike">
              <a:solidFill>
                <a:srgbClr val="000000"/>
              </a:solidFill>
              <a:latin typeface="Arial"/>
              <a:ea typeface="Arial"/>
              <a:cs typeface="Arial"/>
              <a:sym typeface="Arial"/>
            </a:endParaRPr>
          </a:p>
        </p:txBody>
      </p:sp>
      <p:sp>
        <p:nvSpPr>
          <p:cNvPr id="93" name="Google Shape;93;g3b145dfe16a_0_14"/>
          <p:cNvSpPr/>
          <p:nvPr/>
        </p:nvSpPr>
        <p:spPr>
          <a:xfrm>
            <a:off x="1362025" y="3369150"/>
            <a:ext cx="5170800" cy="60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1200"/>
              </a:spcBef>
              <a:spcAft>
                <a:spcPts val="1200"/>
              </a:spcAft>
              <a:buClr>
                <a:srgbClr val="000000"/>
              </a:buClr>
              <a:buSzPts val="900"/>
              <a:buFont typeface="Arial"/>
              <a:buNone/>
            </a:pPr>
            <a:r>
              <a:rPr b="0" i="0" lang="en" sz="900" u="none" cap="none" strike="noStrike">
                <a:solidFill>
                  <a:srgbClr val="252827"/>
                </a:solidFill>
                <a:latin typeface="Montserrat"/>
                <a:ea typeface="Montserrat"/>
                <a:cs typeface="Montserrat"/>
                <a:sym typeface="Montserrat"/>
              </a:rPr>
              <a:t>Because these cues are carried in voice and timing rather than lexical content, transcripts can appear cooperative while the client feels differently--this gap between words even when the spoken interaction clearly signals ambivalence or pushback. \cite{sun2024beyondtext}</a:t>
            </a:r>
            <a:endParaRPr b="0" i="0" sz="1200" u="none" cap="none" strike="noStrike">
              <a:solidFill>
                <a:srgbClr val="000000"/>
              </a:solidFill>
              <a:latin typeface="Arial"/>
              <a:ea typeface="Arial"/>
              <a:cs typeface="Arial"/>
              <a:sym typeface="Arial"/>
            </a:endParaRPr>
          </a:p>
        </p:txBody>
      </p:sp>
      <p:sp>
        <p:nvSpPr>
          <p:cNvPr id="94" name="Google Shape;94;g3b145dfe16a_0_14"/>
          <p:cNvSpPr/>
          <p:nvPr/>
        </p:nvSpPr>
        <p:spPr>
          <a:xfrm>
            <a:off x="1362025" y="4035950"/>
            <a:ext cx="5170800" cy="69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1200"/>
              </a:spcBef>
              <a:spcAft>
                <a:spcPts val="0"/>
              </a:spcAft>
              <a:buClr>
                <a:srgbClr val="000000"/>
              </a:buClr>
              <a:buSzPts val="1100"/>
              <a:buFont typeface="Arial"/>
              <a:buNone/>
            </a:pPr>
            <a:r>
              <a:t/>
            </a:r>
            <a:endParaRPr b="1" i="0" sz="1100" u="none" cap="none" strike="noStrike">
              <a:solidFill>
                <a:srgbClr val="252827"/>
              </a:solidFill>
              <a:latin typeface="Montserrat"/>
              <a:ea typeface="Montserrat"/>
              <a:cs typeface="Montserrat"/>
              <a:sym typeface="Montserrat"/>
            </a:endParaRPr>
          </a:p>
          <a:p>
            <a:pPr indent="0" lvl="0" marL="0" marR="0" rtl="0" algn="l">
              <a:lnSpc>
                <a:spcPct val="100000"/>
              </a:lnSpc>
              <a:spcBef>
                <a:spcPts val="1200"/>
              </a:spcBef>
              <a:spcAft>
                <a:spcPts val="0"/>
              </a:spcAft>
              <a:buClr>
                <a:srgbClr val="000000"/>
              </a:buClr>
              <a:buSzPts val="1100"/>
              <a:buFont typeface="Arial"/>
              <a:buNone/>
            </a:pPr>
            <a:r>
              <a:rPr b="0" i="0" lang="en" sz="900" u="none" cap="none" strike="noStrike">
                <a:solidFill>
                  <a:srgbClr val="252827"/>
                </a:solidFill>
                <a:latin typeface="Montserrat"/>
                <a:ea typeface="Montserrat"/>
                <a:cs typeface="Montserrat"/>
                <a:sym typeface="Montserrat"/>
              </a:rPr>
              <a:t>In CBT, such subtle resistance often arises when clients feel pushed or misunderstood; when the emotional subtext is missed, therapeutic alliance weakens, both human and AI therapists tend to slip into premature advice-giving instead of exploring the client’s underlying emotions, which erodes the therapeutic alliance and reduces treatment efficacy. \cite{kim2025mirror}</a:t>
            </a:r>
            <a:endParaRPr b="0" i="0" sz="900" u="none" cap="none" strike="noStrike">
              <a:solidFill>
                <a:srgbClr val="252827"/>
              </a:solidFill>
              <a:latin typeface="Montserrat"/>
              <a:ea typeface="Montserrat"/>
              <a:cs typeface="Montserrat"/>
              <a:sym typeface="Montserrat"/>
            </a:endParaRPr>
          </a:p>
          <a:p>
            <a:pPr indent="0" lvl="0" marL="0" marR="0" rtl="0" algn="l">
              <a:lnSpc>
                <a:spcPct val="100000"/>
              </a:lnSpc>
              <a:spcBef>
                <a:spcPts val="1200"/>
              </a:spcBef>
              <a:spcAft>
                <a:spcPts val="1200"/>
              </a:spcAft>
              <a:buClr>
                <a:srgbClr val="000000"/>
              </a:buClr>
              <a:buSzPts val="1100"/>
              <a:buFont typeface="Arial"/>
              <a:buNone/>
            </a:pPr>
            <a:r>
              <a:t/>
            </a:r>
            <a:endParaRPr b="0" i="0" sz="900" u="none" cap="none" strike="noStrike">
              <a:solidFill>
                <a:srgbClr val="252827"/>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8" name="Shape 98"/>
        <p:cNvGrpSpPr/>
        <p:nvPr/>
      </p:nvGrpSpPr>
      <p:grpSpPr>
        <a:xfrm>
          <a:off x="0" y="0"/>
          <a:ext cx="0" cy="0"/>
          <a:chOff x="0" y="0"/>
          <a:chExt cx="0" cy="0"/>
        </a:xfrm>
      </p:grpSpPr>
      <p:sp>
        <p:nvSpPr>
          <p:cNvPr id="99" name="Google Shape;99;g3b8fe4ba9eb_0_39"/>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374650" lvl="0" marL="457200" marR="0" rtl="0" algn="l">
              <a:lnSpc>
                <a:spcPct val="100000"/>
              </a:lnSpc>
              <a:spcBef>
                <a:spcPts val="0"/>
              </a:spcBef>
              <a:spcAft>
                <a:spcPts val="0"/>
              </a:spcAft>
              <a:buClr>
                <a:srgbClr val="252827"/>
              </a:buClr>
              <a:buSzPts val="2300"/>
              <a:buFont typeface="Oswald"/>
              <a:buAutoNum type="arabicPeriod"/>
            </a:pPr>
            <a:r>
              <a:rPr b="1" i="0" lang="en" sz="2300" u="none" cap="none" strike="noStrike">
                <a:solidFill>
                  <a:srgbClr val="252827"/>
                </a:solidFill>
                <a:latin typeface="Oswald"/>
                <a:ea typeface="Oswald"/>
                <a:cs typeface="Oswald"/>
                <a:sym typeface="Oswald"/>
              </a:rPr>
              <a:t>INTRODUCTION</a:t>
            </a:r>
            <a:endParaRPr b="1" i="0" sz="2300" u="none" cap="none" strike="noStrike">
              <a:solidFill>
                <a:srgbClr val="F8CF2C"/>
              </a:solidFill>
              <a:latin typeface="Oswald"/>
              <a:ea typeface="Oswald"/>
              <a:cs typeface="Oswald"/>
              <a:sym typeface="Oswald"/>
            </a:endParaRPr>
          </a:p>
        </p:txBody>
      </p:sp>
      <p:sp>
        <p:nvSpPr>
          <p:cNvPr id="100" name="Google Shape;100;g3b8fe4ba9eb_0_39"/>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101" name="Google Shape;101;g3b8fe4ba9eb_0_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2" name="Google Shape;102;g3b8fe4ba9eb_0_39"/>
          <p:cNvSpPr/>
          <p:nvPr/>
        </p:nvSpPr>
        <p:spPr>
          <a:xfrm>
            <a:off x="1323750" y="1236050"/>
            <a:ext cx="5170800" cy="926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1200"/>
              </a:spcBef>
              <a:spcAft>
                <a:spcPts val="0"/>
              </a:spcAft>
              <a:buClr>
                <a:srgbClr val="000000"/>
              </a:buClr>
              <a:buSzPts val="1100"/>
              <a:buFont typeface="Arial"/>
              <a:buNone/>
            </a:pPr>
            <a:r>
              <a:t/>
            </a:r>
            <a:endParaRPr b="1" i="0" sz="1100" u="none" cap="none" strike="noStrike">
              <a:solidFill>
                <a:srgbClr val="252827"/>
              </a:solidFill>
              <a:latin typeface="Montserrat"/>
              <a:ea typeface="Montserrat"/>
              <a:cs typeface="Montserrat"/>
              <a:sym typeface="Montserrat"/>
            </a:endParaRPr>
          </a:p>
          <a:p>
            <a:pPr indent="0" lvl="0" marL="0" marR="0" rtl="0" algn="l">
              <a:lnSpc>
                <a:spcPct val="100000"/>
              </a:lnSpc>
              <a:spcBef>
                <a:spcPts val="1200"/>
              </a:spcBef>
              <a:spcAft>
                <a:spcPts val="0"/>
              </a:spcAft>
              <a:buClr>
                <a:srgbClr val="000000"/>
              </a:buClr>
              <a:buSzPts val="900"/>
              <a:buFont typeface="Arial"/>
              <a:buNone/>
            </a:pPr>
            <a:r>
              <a:rPr b="0" i="0" lang="en" sz="900" u="none" cap="none" strike="noStrike">
                <a:solidFill>
                  <a:srgbClr val="252827"/>
                </a:solidFill>
                <a:latin typeface="Montserrat"/>
                <a:ea typeface="Montserrat"/>
                <a:cs typeface="Montserrat"/>
                <a:sym typeface="Montserrat"/>
              </a:rPr>
              <a:t>At the same time, recent work in adjacent domains shows that vocal signals provide systematically useful non-verbal information beyond text. Vocal cues such as pitch, loudness, speaking rate, and disfluencies encode uncertainty, confidence, and affect that are invisible in transcripts, and leveraging these cues significantly improves downstream decision-making and emotion recognition compared to text-only baselines. \cite{sun2024beyondtext,wu2025speechcuellm}</a:t>
            </a:r>
            <a:endParaRPr b="0" i="0" sz="900" u="none" cap="none" strike="noStrike">
              <a:solidFill>
                <a:srgbClr val="252827"/>
              </a:solidFill>
              <a:latin typeface="Montserrat"/>
              <a:ea typeface="Montserrat"/>
              <a:cs typeface="Montserrat"/>
              <a:sym typeface="Montserrat"/>
            </a:endParaRPr>
          </a:p>
          <a:p>
            <a:pPr indent="0" lvl="0" marL="0" marR="0" rtl="0" algn="l">
              <a:lnSpc>
                <a:spcPct val="100000"/>
              </a:lnSpc>
              <a:spcBef>
                <a:spcPts val="1200"/>
              </a:spcBef>
              <a:spcAft>
                <a:spcPts val="1200"/>
              </a:spcAft>
              <a:buClr>
                <a:srgbClr val="000000"/>
              </a:buClr>
              <a:buSzPts val="1100"/>
              <a:buFont typeface="Arial"/>
              <a:buNone/>
            </a:pPr>
            <a:r>
              <a:t/>
            </a:r>
            <a:endParaRPr b="1" i="0" sz="1100" u="none" cap="none" strike="noStrike">
              <a:solidFill>
                <a:srgbClr val="252827"/>
              </a:solidFill>
              <a:latin typeface="Montserrat"/>
              <a:ea typeface="Montserrat"/>
              <a:cs typeface="Montserrat"/>
              <a:sym typeface="Montserrat"/>
            </a:endParaRPr>
          </a:p>
        </p:txBody>
      </p:sp>
      <p:sp>
        <p:nvSpPr>
          <p:cNvPr id="103" name="Google Shape;103;g3b8fe4ba9eb_0_39"/>
          <p:cNvSpPr/>
          <p:nvPr/>
        </p:nvSpPr>
        <p:spPr>
          <a:xfrm>
            <a:off x="1323750" y="2285700"/>
            <a:ext cx="5170800" cy="69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1200"/>
              </a:spcBef>
              <a:spcAft>
                <a:spcPts val="1200"/>
              </a:spcAft>
              <a:buClr>
                <a:srgbClr val="000000"/>
              </a:buClr>
              <a:buSzPts val="900"/>
              <a:buFont typeface="Arial"/>
              <a:buNone/>
            </a:pPr>
            <a:r>
              <a:rPr b="0" i="0" lang="en" sz="900" u="none" cap="none" strike="noStrike">
                <a:solidFill>
                  <a:srgbClr val="252827"/>
                </a:solidFill>
                <a:latin typeface="Montserrat"/>
                <a:ea typeface="Montserrat"/>
                <a:cs typeface="Montserrat"/>
                <a:sym typeface="Montserrat"/>
              </a:rPr>
              <a:t>Yet, these audio-augmented methods have not been investigated in CBT-style counseling settings where client resistance and therapeutic alliance are central outcomes, leaving it unclear how much vocal information can actually help LLM-based therapists detect and “roll with” resistance. \cite{kim2025mirror,lee2024cactus}</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07" name="Shape 107"/>
        <p:cNvGrpSpPr/>
        <p:nvPr/>
      </p:nvGrpSpPr>
      <p:grpSpPr>
        <a:xfrm>
          <a:off x="0" y="0"/>
          <a:ext cx="0" cy="0"/>
          <a:chOff x="0" y="0"/>
          <a:chExt cx="0" cy="0"/>
        </a:xfrm>
      </p:grpSpPr>
      <p:sp>
        <p:nvSpPr>
          <p:cNvPr id="110" name="Google Shape;110;g3b5c7f620ec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1" name="TextBox 110"/>
          <p:cNvSpPr txBox="1"/>
          <p:nvPr/>
        </p:nvSpPr>
        <p:spPr>
          <a:xfrm>
            <a:off x="400000" y="200000"/>
            <a:ext cx="8000000" cy="400000"/>
          </a:xfrm>
          <a:prstGeom prst="rect">
            <a:avLst/>
          </a:prstGeom>
          <a:noFill/>
        </p:spPr>
        <p:txBody>
          <a:bodyPr wrap="none">
            <a:spAutoFit/>
          </a:bodyPr>
          <a:lstStyle/>
          <a:p>
            <a:pPr>
              <a:defRPr sz="2400" b="1">
                <a:solidFill>
                  <a:srgbClr val="003366"/>
                </a:solidFill>
              </a:defRPr>
            </a:pPr>
            <a:r>
              <a:t>1.1 RESEARCH QUESTIONS</a:t>
            </a:r>
          </a:p>
        </p:txBody>
      </p:sp>
      <p:sp>
        <p:nvSpPr>
          <p:cNvPr id="112" name="TextBox 111"/>
          <p:cNvSpPr txBox="1"/>
          <p:nvPr/>
        </p:nvSpPr>
        <p:spPr>
          <a:xfrm>
            <a:off x="400000" y="700000"/>
            <a:ext cx="8200000" cy="1400000"/>
          </a:xfrm>
          <a:prstGeom prst="rect">
            <a:avLst/>
          </a:prstGeom>
          <a:noFill/>
        </p:spPr>
        <p:txBody>
          <a:bodyPr wrap="square">
            <a:spAutoFit/>
          </a:bodyPr>
          <a:lstStyle/>
          <a:p>
            <a:pPr>
              <a:defRPr sz="1600" b="1">
                <a:solidFill>
                  <a:srgbClr val="003366"/>
                </a:solidFill>
              </a:defRPr>
            </a:pPr>
            <a:r>
              <a:t>RQ1 — Dissonance Advantage</a:t>
            </a:r>
          </a:p>
          <a:p>
            <a:pPr>
              <a:spcBef>
                <a:spcPts val="400"/>
              </a:spcBef>
              <a:defRPr sz="1100"/>
            </a:pPr>
            <a:r>
              <a:t>Does the Dissonance-Aware therapist framework, which computes emotional mismatch (VA delta) between text and speech, consistently outperform Baseline (text-only), Emotion (text+VA), and Multimodal (text+speech+VA, without dissonance) methods on measurable therapeutic quality metrics?</a:t>
            </a:r>
          </a:p>
        </p:txBody>
      </p:sp>
      <p:sp>
        <p:nvSpPr>
          <p:cNvPr id="113" name="TextBox 112"/>
          <p:cNvSpPr txBox="1"/>
          <p:nvPr/>
        </p:nvSpPr>
        <p:spPr>
          <a:xfrm>
            <a:off x="400000" y="2300000"/>
            <a:ext cx="8200000" cy="1400000"/>
          </a:xfrm>
          <a:prstGeom prst="rect">
            <a:avLst/>
          </a:prstGeom>
          <a:noFill/>
        </p:spPr>
        <p:txBody>
          <a:bodyPr wrap="square">
            <a:spAutoFit/>
          </a:bodyPr>
          <a:lstStyle/>
          <a:p>
            <a:pPr>
              <a:defRPr sz="1600" b="1">
                <a:solidFill>
                  <a:srgbClr val="003366"/>
                </a:solidFill>
              </a:defRPr>
            </a:pPr>
            <a:r>
              <a:t>RQ2 — Backbone Robustness</a:t>
            </a:r>
          </a:p>
          <a:p>
            <a:pPr>
              <a:spcBef>
                <a:spcPts val="400"/>
              </a:spcBef>
              <a:defRPr sz="1100"/>
            </a:pPr>
            <a:r>
              <a:t>Is the advantage of the Dissonance-Aware framework robust across different LLM backbones? Specifically, does the dissonance signal provide consistent performance gains when the underlying therapist LLM is changed (e.g., GPT-4o mini vs. DeepSeek V4 Pro vs. other models)?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17" name="Shape 117"/>
        <p:cNvGrpSpPr/>
        <p:nvPr/>
      </p:nvGrpSpPr>
      <p:grpSpPr>
        <a:xfrm>
          <a:off x="0" y="0"/>
          <a:ext cx="0" cy="0"/>
          <a:chOff x="0" y="0"/>
          <a:chExt cx="0" cy="0"/>
        </a:xfrm>
      </p:grpSpPr>
      <p:sp>
        <p:nvSpPr>
          <p:cNvPr id="118" name="Google Shape;118;p7"/>
          <p:cNvSpPr txBox="1"/>
          <p:nvPr/>
        </p:nvSpPr>
        <p:spPr>
          <a:xfrm>
            <a:off x="418025" y="468350"/>
            <a:ext cx="49368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1.2 HYPOTHESIS</a:t>
            </a:r>
            <a:endParaRPr b="1" i="0" sz="2300" u="none" cap="none" strike="noStrike">
              <a:solidFill>
                <a:srgbClr val="F8CF2C"/>
              </a:solidFill>
              <a:latin typeface="Oswald"/>
              <a:ea typeface="Oswald"/>
              <a:cs typeface="Oswald"/>
              <a:sym typeface="Oswald"/>
            </a:endParaRPr>
          </a:p>
        </p:txBody>
      </p:sp>
      <p:sp>
        <p:nvSpPr>
          <p:cNvPr id="119" name="Google Shape;119;p7"/>
          <p:cNvSpPr txBox="1"/>
          <p:nvPr/>
        </p:nvSpPr>
        <p:spPr>
          <a:xfrm>
            <a:off x="510450" y="1287400"/>
            <a:ext cx="8367300" cy="1143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599"/>
              </a:spcBef>
              <a:spcAft>
                <a:spcPts val="0"/>
              </a:spcAft>
              <a:buClr>
                <a:srgbClr val="000000"/>
              </a:buClr>
              <a:buSzPts val="1100"/>
              <a:buFont typeface="Arial"/>
              <a:buNone/>
            </a:pPr>
            <a:r>
              <a:rPr b="1" lang="en" sz="1100">
                <a:solidFill>
                  <a:srgbClr val="252827"/>
                </a:solidFill>
                <a:latin typeface="Montserrat"/>
                <a:ea typeface="Montserrat"/>
                <a:cs typeface="Montserrat"/>
                <a:sym typeface="Montserrat"/>
              </a:rPr>
              <a:t>H1 (Vocal Cues </a:t>
            </a:r>
            <a:r>
              <a:rPr b="1" lang="en" sz="1100">
                <a:solidFill>
                  <a:srgbClr val="252827"/>
                </a:solidFill>
                <a:latin typeface="Montserrat"/>
                <a:ea typeface="Montserrat"/>
                <a:cs typeface="Montserrat"/>
                <a:sym typeface="Montserrat"/>
              </a:rPr>
              <a:t>-- </a:t>
            </a:r>
            <a:r>
              <a:rPr b="1" lang="en" sz="1100">
                <a:solidFill>
                  <a:srgbClr val="252827"/>
                </a:solidFill>
                <a:latin typeface="Montserrat"/>
                <a:ea typeface="Montserrat"/>
                <a:cs typeface="Montserrat"/>
                <a:sym typeface="Montserrat"/>
              </a:rPr>
              <a:t>RQ1)</a:t>
            </a:r>
            <a:r>
              <a:rPr b="1" i="0" lang="en" sz="1100" u="none" cap="none" strike="noStrike">
                <a:solidFill>
                  <a:srgbClr val="252827"/>
                </a:solidFill>
                <a:latin typeface="Montserrat"/>
                <a:ea typeface="Montserrat"/>
                <a:cs typeface="Montserrat"/>
                <a:sym typeface="Montserrat"/>
              </a:rPr>
              <a:t>:</a:t>
            </a:r>
            <a:endParaRPr b="1" i="0" sz="1100" u="none" cap="none" strike="noStrike">
              <a:solidFill>
                <a:srgbClr val="252827"/>
              </a:solidFill>
              <a:latin typeface="Montserrat"/>
              <a:ea typeface="Montserrat"/>
              <a:cs typeface="Montserrat"/>
              <a:sym typeface="Montserrat"/>
            </a:endParaRPr>
          </a:p>
          <a:p>
            <a:pPr indent="-298450" lvl="0" marL="457200" rtl="0" algn="just">
              <a:lnSpc>
                <a:spcPct val="115000"/>
              </a:lnSpc>
              <a:spcBef>
                <a:spcPts val="1599"/>
              </a:spcBef>
              <a:spcAft>
                <a:spcPts val="0"/>
              </a:spcAft>
              <a:buClr>
                <a:srgbClr val="252827"/>
              </a:buClr>
              <a:buSzPts val="1100"/>
              <a:buFont typeface="Montserrat"/>
              <a:buChar char="●"/>
            </a:pPr>
            <a:r>
              <a:rPr lang="en" sz="1100">
                <a:solidFill>
                  <a:srgbClr val="252827"/>
                </a:solidFill>
                <a:latin typeface="Montserrat"/>
                <a:ea typeface="Montserrat"/>
                <a:cs typeface="Montserrat"/>
                <a:sym typeface="Montserrat"/>
              </a:rPr>
              <a:t>A multimodal therapist that receives speech-derived emotional features (VA values and vocal prosodic descriptors) will generate </a:t>
            </a:r>
            <a:r>
              <a:rPr lang="en" sz="1100">
                <a:solidFill>
                  <a:srgbClr val="252827"/>
                </a:solidFill>
                <a:latin typeface="Montserrat"/>
                <a:ea typeface="Montserrat"/>
                <a:cs typeface="Montserrat"/>
                <a:sym typeface="Montserrat"/>
              </a:rPr>
              <a:t>responses</a:t>
            </a:r>
            <a:r>
              <a:rPr lang="en" sz="1100">
                <a:solidFill>
                  <a:srgbClr val="252827"/>
                </a:solidFill>
                <a:latin typeface="Montserrat"/>
                <a:ea typeface="Montserrat"/>
                <a:cs typeface="Montserrat"/>
                <a:sym typeface="Montserrat"/>
              </a:rPr>
              <a:t> rated higher on Understanding and Interpersonal Effectiveness compared to a text-only baseline, with the improvement attributed specifically to the vocal modality.</a:t>
            </a:r>
            <a:endParaRPr sz="1100">
              <a:solidFill>
                <a:srgbClr val="252827"/>
              </a:solidFill>
              <a:latin typeface="Montserrat"/>
              <a:ea typeface="Montserrat"/>
              <a:cs typeface="Montserrat"/>
              <a:sym typeface="Montserrat"/>
            </a:endParaRPr>
          </a:p>
        </p:txBody>
      </p:sp>
      <p:sp>
        <p:nvSpPr>
          <p:cNvPr id="120" name="Google Shape;12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1" name="Google Shape;121;p7"/>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122" name="Google Shape;122;p7"/>
          <p:cNvSpPr txBox="1"/>
          <p:nvPr/>
        </p:nvSpPr>
        <p:spPr>
          <a:xfrm>
            <a:off x="510450" y="2574325"/>
            <a:ext cx="8367300" cy="13380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599"/>
              </a:spcBef>
              <a:spcAft>
                <a:spcPts val="0"/>
              </a:spcAft>
              <a:buClr>
                <a:srgbClr val="000000"/>
              </a:buClr>
              <a:buSzPts val="1100"/>
              <a:buFont typeface="Arial"/>
              <a:buNone/>
            </a:pPr>
            <a:r>
              <a:rPr b="1" i="0" lang="en" sz="1100" u="none" cap="none" strike="noStrike">
                <a:solidFill>
                  <a:srgbClr val="252827"/>
                </a:solidFill>
                <a:latin typeface="Montserrat"/>
                <a:ea typeface="Montserrat"/>
                <a:cs typeface="Montserrat"/>
                <a:sym typeface="Montserrat"/>
              </a:rPr>
              <a:t>H</a:t>
            </a:r>
            <a:r>
              <a:rPr b="1" lang="en" sz="1100">
                <a:solidFill>
                  <a:srgbClr val="252827"/>
                </a:solidFill>
                <a:latin typeface="Montserrat"/>
                <a:ea typeface="Montserrat"/>
                <a:cs typeface="Montserrat"/>
                <a:sym typeface="Montserrat"/>
              </a:rPr>
              <a:t>H2 (CBT Quality -- RQ2):</a:t>
            </a:r>
            <a:endParaRPr b="1" i="0" sz="1100" u="none" cap="none" strike="noStrike">
              <a:solidFill>
                <a:srgbClr val="252827"/>
              </a:solidFill>
              <a:latin typeface="Montserrat"/>
              <a:ea typeface="Montserrat"/>
              <a:cs typeface="Montserrat"/>
              <a:sym typeface="Montserrat"/>
            </a:endParaRPr>
          </a:p>
          <a:p>
            <a:pPr indent="-298450" lvl="0" marL="457200" marR="0" rtl="0" algn="just">
              <a:lnSpc>
                <a:spcPct val="115000"/>
              </a:lnSpc>
              <a:spcBef>
                <a:spcPts val="1599"/>
              </a:spcBef>
              <a:spcAft>
                <a:spcPts val="0"/>
              </a:spcAft>
              <a:buClr>
                <a:srgbClr val="252827"/>
              </a:buClr>
              <a:buSzPts val="1100"/>
              <a:buFont typeface="Montserrat"/>
              <a:buChar char="●"/>
            </a:pPr>
            <a:r>
              <a:rPr lang="en" sz="1100">
                <a:solidFill>
                  <a:srgbClr val="252827"/>
                </a:solidFill>
                <a:latin typeface="Montserrat"/>
                <a:ea typeface="Montserrat"/>
                <a:cs typeface="Montserrat"/>
                <a:sym typeface="Montserrat"/>
              </a:rPr>
              <a:t>The Dissonance-Aware therapist, which receives explicit emotional mismatch signals (VA delta and a binary dissonance flag), will achieve higher scores across all seven evaluation metrics—particularly CTRS Collaboration, Guided Discovery, and Focus—compared to both the Baseline and Emotion (Text-Only) conditions.</a:t>
            </a:r>
            <a:endParaRPr sz="1100">
              <a:solidFill>
                <a:srgbClr val="252827"/>
              </a:solidFill>
              <a:latin typeface="Montserrat"/>
              <a:ea typeface="Montserrat"/>
              <a:cs typeface="Montserrat"/>
              <a:sym typeface="Montserrat"/>
            </a:endParaRPr>
          </a:p>
        </p:txBody>
      </p:sp>
      <p:sp>
        <p:nvSpPr>
          <p:cNvPr id="123" name="Google Shape;123;p7"/>
          <p:cNvSpPr txBox="1"/>
          <p:nvPr/>
        </p:nvSpPr>
        <p:spPr>
          <a:xfrm>
            <a:off x="510450" y="3761850"/>
            <a:ext cx="8367300" cy="1143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599"/>
              </a:spcBef>
              <a:spcAft>
                <a:spcPts val="0"/>
              </a:spcAft>
              <a:buClr>
                <a:srgbClr val="000000"/>
              </a:buClr>
              <a:buSzPts val="1100"/>
              <a:buFont typeface="Arial"/>
              <a:buNone/>
            </a:pPr>
            <a:r>
              <a:rPr b="1" lang="en" sz="1100">
                <a:solidFill>
                  <a:srgbClr val="252827"/>
                </a:solidFill>
                <a:latin typeface="Montserrat"/>
                <a:ea typeface="Montserrat"/>
                <a:cs typeface="Montserrat"/>
                <a:sym typeface="Montserrat"/>
              </a:rPr>
              <a:t>H3 (Emotional Captioning -- RQ3):</a:t>
            </a:r>
            <a:endParaRPr b="1" i="0" sz="1100" u="none" cap="none" strike="noStrike">
              <a:solidFill>
                <a:srgbClr val="252827"/>
              </a:solidFill>
              <a:latin typeface="Montserrat"/>
              <a:ea typeface="Montserrat"/>
              <a:cs typeface="Montserrat"/>
              <a:sym typeface="Montserrat"/>
            </a:endParaRPr>
          </a:p>
          <a:p>
            <a:pPr indent="-298450" lvl="0" marL="457200" marR="0" rtl="0" algn="just">
              <a:lnSpc>
                <a:spcPct val="115000"/>
              </a:lnSpc>
              <a:spcBef>
                <a:spcPts val="1599"/>
              </a:spcBef>
              <a:spcAft>
                <a:spcPts val="0"/>
              </a:spcAft>
              <a:buClr>
                <a:srgbClr val="252827"/>
              </a:buClr>
              <a:buSzPts val="1100"/>
              <a:buFont typeface="Montserrat"/>
              <a:buChar char="●"/>
            </a:pPr>
            <a:r>
              <a:rPr lang="en" sz="1100">
                <a:solidFill>
                  <a:srgbClr val="252827"/>
                </a:solidFill>
                <a:latin typeface="Montserrat"/>
                <a:ea typeface="Montserrat"/>
                <a:cs typeface="Montserrat"/>
                <a:sym typeface="Montserrat"/>
              </a:rPr>
              <a:t>The explicit dissonance signal functions as a form of emotional captioning: the Dissonance-Aware condition will outperform the Multimodal (Vocal-Aware) condition on CTRS metrics, indicating that the delta mismatch signal provides therapeutic value beyond simply having access to both text and speech modalities.</a:t>
            </a:r>
            <a:endParaRPr b="0" i="0" sz="1100" u="none" cap="none" strike="noStrike">
              <a:solidFill>
                <a:srgbClr val="252827"/>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7" name="Shape 127"/>
        <p:cNvGrpSpPr/>
        <p:nvPr/>
      </p:nvGrpSpPr>
      <p:grpSpPr>
        <a:xfrm>
          <a:off x="0" y="0"/>
          <a:ext cx="0" cy="0"/>
          <a:chOff x="0" y="0"/>
          <a:chExt cx="0" cy="0"/>
        </a:xfrm>
      </p:grpSpPr>
      <p:sp>
        <p:nvSpPr>
          <p:cNvPr id="128" name="Google Shape;128;p8"/>
          <p:cNvSpPr txBox="1"/>
          <p:nvPr/>
        </p:nvSpPr>
        <p:spPr>
          <a:xfrm>
            <a:off x="418025" y="468350"/>
            <a:ext cx="49368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1.3 OBJECTIVES </a:t>
            </a:r>
            <a:endParaRPr b="1" i="0" sz="2300" u="none" cap="none" strike="noStrike">
              <a:solidFill>
                <a:srgbClr val="F8CF2C"/>
              </a:solidFill>
              <a:latin typeface="Oswald"/>
              <a:ea typeface="Oswald"/>
              <a:cs typeface="Oswald"/>
              <a:sym typeface="Oswald"/>
            </a:endParaRPr>
          </a:p>
        </p:txBody>
      </p:sp>
      <p:sp>
        <p:nvSpPr>
          <p:cNvPr id="129" name="Google Shape;129;p8"/>
          <p:cNvSpPr txBox="1"/>
          <p:nvPr/>
        </p:nvSpPr>
        <p:spPr>
          <a:xfrm>
            <a:off x="510450" y="1287400"/>
            <a:ext cx="8367300" cy="1543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599"/>
              </a:spcBef>
              <a:spcAft>
                <a:spcPts val="0"/>
              </a:spcAft>
              <a:buClr>
                <a:srgbClr val="000000"/>
              </a:buClr>
              <a:buSzPts val="1100"/>
              <a:buFont typeface="Arial"/>
              <a:buNone/>
            </a:pPr>
            <a:r>
              <a:rPr b="1" i="0" lang="en" sz="1100" u="none" cap="none" strike="noStrike">
                <a:solidFill>
                  <a:srgbClr val="252827"/>
                </a:solidFill>
                <a:latin typeface="Montserrat"/>
                <a:ea typeface="Montserrat"/>
                <a:cs typeface="Montserrat"/>
                <a:sym typeface="Montserrat"/>
              </a:rPr>
              <a:t>Objective for RQ1 (Detection):</a:t>
            </a:r>
            <a:endParaRPr b="1" i="0" sz="1100" u="none" cap="none" strike="noStrike">
              <a:solidFill>
                <a:srgbClr val="252827"/>
              </a:solidFill>
              <a:latin typeface="Montserrat"/>
              <a:ea typeface="Montserrat"/>
              <a:cs typeface="Montserrat"/>
              <a:sym typeface="Montserrat"/>
            </a:endParaRPr>
          </a:p>
          <a:p>
            <a:pPr indent="-298450" lvl="0" marL="457200" marR="0" rtl="0" algn="just">
              <a:lnSpc>
                <a:spcPct val="115000"/>
              </a:lnSpc>
              <a:spcBef>
                <a:spcPts val="1599"/>
              </a:spcBef>
              <a:spcAft>
                <a:spcPts val="0"/>
              </a:spcAft>
              <a:buClr>
                <a:srgbClr val="252827"/>
              </a:buClr>
              <a:buSzPts val="1100"/>
              <a:buFont typeface="Montserrat"/>
              <a:buChar char="●"/>
            </a:pPr>
            <a:r>
              <a:rPr lang="en" sz="1100">
                <a:solidFill>
                  <a:srgbClr val="252827"/>
                </a:solidFill>
                <a:latin typeface="Montserrat"/>
                <a:ea typeface="Montserrat"/>
                <a:cs typeface="Montserrat"/>
                <a:sym typeface="Montserrat"/>
              </a:rPr>
              <a:t>To construct a multimodal emotional analysis pipeline that independently extracts Valence-Arousal representations from client text (via vad-bert) and synthesized speech (via WavLM), along with vocal prosodic descriptors (pitch, loudness, speaking rate) from the audio waveform.</a:t>
            </a:r>
            <a:endParaRPr sz="1100">
              <a:solidFill>
                <a:srgbClr val="252827"/>
              </a:solidFill>
              <a:latin typeface="Montserrat"/>
              <a:ea typeface="Montserrat"/>
              <a:cs typeface="Montserrat"/>
              <a:sym typeface="Montserrat"/>
            </a:endParaRPr>
          </a:p>
          <a:p>
            <a:pPr indent="0" lvl="0" marL="0" marR="0" rtl="0" algn="just">
              <a:lnSpc>
                <a:spcPct val="115000"/>
              </a:lnSpc>
              <a:spcBef>
                <a:spcPts val="1599"/>
              </a:spcBef>
              <a:spcAft>
                <a:spcPts val="0"/>
              </a:spcAft>
              <a:buClr>
                <a:srgbClr val="000000"/>
              </a:buClr>
              <a:buSzPts val="1100"/>
              <a:buFont typeface="Arial"/>
              <a:buNone/>
            </a:pPr>
            <a:r>
              <a:t/>
            </a:r>
            <a:endParaRPr b="0" i="0" sz="1100" u="none" cap="none" strike="noStrike">
              <a:solidFill>
                <a:srgbClr val="252827"/>
              </a:solidFill>
              <a:latin typeface="Montserrat"/>
              <a:ea typeface="Montserrat"/>
              <a:cs typeface="Montserrat"/>
              <a:sym typeface="Montserrat"/>
            </a:endParaRPr>
          </a:p>
        </p:txBody>
      </p:sp>
      <p:sp>
        <p:nvSpPr>
          <p:cNvPr id="130" name="Google Shape;13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1" name="Google Shape;131;p8"/>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132" name="Google Shape;132;p8"/>
          <p:cNvSpPr txBox="1"/>
          <p:nvPr/>
        </p:nvSpPr>
        <p:spPr>
          <a:xfrm>
            <a:off x="510450" y="2395800"/>
            <a:ext cx="8367300" cy="1543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599"/>
              </a:spcBef>
              <a:spcAft>
                <a:spcPts val="0"/>
              </a:spcAft>
              <a:buClr>
                <a:srgbClr val="000000"/>
              </a:buClr>
              <a:buSzPts val="1100"/>
              <a:buFont typeface="Arial"/>
              <a:buNone/>
            </a:pPr>
            <a:r>
              <a:rPr b="1" i="0" lang="en" sz="1100" u="none" cap="none" strike="noStrike">
                <a:solidFill>
                  <a:srgbClr val="252827"/>
                </a:solidFill>
                <a:latin typeface="Montserrat"/>
                <a:ea typeface="Montserrat"/>
                <a:cs typeface="Montserrat"/>
                <a:sym typeface="Montserrat"/>
              </a:rPr>
              <a:t>Objective for RQ2 (Action):</a:t>
            </a:r>
            <a:endParaRPr b="1" i="0" sz="1100" u="none" cap="none" strike="noStrike">
              <a:solidFill>
                <a:srgbClr val="252827"/>
              </a:solidFill>
              <a:latin typeface="Montserrat"/>
              <a:ea typeface="Montserrat"/>
              <a:cs typeface="Montserrat"/>
              <a:sym typeface="Montserrat"/>
            </a:endParaRPr>
          </a:p>
          <a:p>
            <a:pPr indent="-298450" lvl="0" marL="457200" marR="0" rtl="0" algn="just">
              <a:lnSpc>
                <a:spcPct val="115000"/>
              </a:lnSpc>
              <a:spcBef>
                <a:spcPts val="1599"/>
              </a:spcBef>
              <a:spcAft>
                <a:spcPts val="0"/>
              </a:spcAft>
              <a:buClr>
                <a:srgbClr val="252827"/>
              </a:buClr>
              <a:buSzPts val="1100"/>
              <a:buFont typeface="Montserrat"/>
              <a:buChar char="●"/>
            </a:pPr>
            <a:r>
              <a:rPr lang="en" sz="1100">
                <a:solidFill>
                  <a:srgbClr val="252827"/>
                </a:solidFill>
                <a:latin typeface="Montserrat"/>
                <a:ea typeface="Montserrat"/>
                <a:cs typeface="Montserrat"/>
                <a:sym typeface="Montserrat"/>
              </a:rPr>
              <a:t>To implement and compare four therapist generation conditions—Baseline, Emotion (Text-Only), Multimodal (Vocal-Aware), and Dissonance-Aware—using identical CBT-oriented LLM prompts, isolating the contribution of each emotional metadata type.</a:t>
            </a:r>
            <a:endParaRPr sz="1100">
              <a:solidFill>
                <a:srgbClr val="252827"/>
              </a:solidFill>
              <a:latin typeface="Montserrat"/>
              <a:ea typeface="Montserrat"/>
              <a:cs typeface="Montserrat"/>
              <a:sym typeface="Montserrat"/>
            </a:endParaRPr>
          </a:p>
          <a:p>
            <a:pPr indent="0" lvl="0" marL="0" marR="0" rtl="0" algn="just">
              <a:lnSpc>
                <a:spcPct val="115000"/>
              </a:lnSpc>
              <a:spcBef>
                <a:spcPts val="1599"/>
              </a:spcBef>
              <a:spcAft>
                <a:spcPts val="0"/>
              </a:spcAft>
              <a:buClr>
                <a:srgbClr val="000000"/>
              </a:buClr>
              <a:buSzPts val="1100"/>
              <a:buFont typeface="Arial"/>
              <a:buNone/>
            </a:pPr>
            <a:r>
              <a:t/>
            </a:r>
            <a:endParaRPr b="0" i="0" sz="1100" u="none" cap="none" strike="noStrike">
              <a:solidFill>
                <a:srgbClr val="252827"/>
              </a:solidFill>
              <a:latin typeface="Montserrat"/>
              <a:ea typeface="Montserrat"/>
              <a:cs typeface="Montserrat"/>
              <a:sym typeface="Montserrat"/>
            </a:endParaRPr>
          </a:p>
        </p:txBody>
      </p:sp>
      <p:sp>
        <p:nvSpPr>
          <p:cNvPr id="133" name="Google Shape;133;p8"/>
          <p:cNvSpPr txBox="1"/>
          <p:nvPr/>
        </p:nvSpPr>
        <p:spPr>
          <a:xfrm>
            <a:off x="510450" y="3452425"/>
            <a:ext cx="8367300" cy="1543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599"/>
              </a:spcBef>
              <a:spcAft>
                <a:spcPts val="0"/>
              </a:spcAft>
              <a:buClr>
                <a:srgbClr val="000000"/>
              </a:buClr>
              <a:buSzPts val="1100"/>
              <a:buFont typeface="Arial"/>
              <a:buNone/>
            </a:pPr>
            <a:r>
              <a:rPr b="1" i="0" lang="en" sz="1100" u="none" cap="none" strike="noStrike">
                <a:solidFill>
                  <a:srgbClr val="252827"/>
                </a:solidFill>
                <a:latin typeface="Montserrat"/>
                <a:ea typeface="Montserrat"/>
                <a:cs typeface="Montserrat"/>
                <a:sym typeface="Montserrat"/>
              </a:rPr>
              <a:t>Objective for RQ3 (Impact):</a:t>
            </a:r>
            <a:endParaRPr b="1" i="0" sz="1100" u="none" cap="none" strike="noStrike">
              <a:solidFill>
                <a:srgbClr val="252827"/>
              </a:solidFill>
              <a:latin typeface="Montserrat"/>
              <a:ea typeface="Montserrat"/>
              <a:cs typeface="Montserrat"/>
              <a:sym typeface="Montserrat"/>
            </a:endParaRPr>
          </a:p>
          <a:p>
            <a:pPr indent="-298450" lvl="0" marL="457200" marR="0" rtl="0" algn="just">
              <a:lnSpc>
                <a:spcPct val="115000"/>
              </a:lnSpc>
              <a:spcBef>
                <a:spcPts val="1599"/>
              </a:spcBef>
              <a:spcAft>
                <a:spcPts val="0"/>
              </a:spcAft>
              <a:buClr>
                <a:srgbClr val="252827"/>
              </a:buClr>
              <a:buSzPts val="1100"/>
              <a:buFont typeface="Montserrat"/>
              <a:buChar char="●"/>
            </a:pPr>
            <a:r>
              <a:rPr lang="en" sz="1100">
                <a:solidFill>
                  <a:srgbClr val="252827"/>
                </a:solidFill>
                <a:latin typeface="Montserrat"/>
                <a:ea typeface="Montserrat"/>
                <a:cs typeface="Montserrat"/>
                <a:sym typeface="Montserrat"/>
              </a:rPr>
              <a:t>To evaluate the four conditions using GPT-4o as a zero-shot automated judge across seven therapeutic quality metrics (Therapist Skills, Client Alliance, CTRS) averaged over 10 multi-turn CBT dialogues, and to quantify the specific contribution of the dissonance signal to response quality.</a:t>
            </a:r>
            <a:endParaRPr sz="1100">
              <a:solidFill>
                <a:srgbClr val="252827"/>
              </a:solidFill>
              <a:latin typeface="Montserrat"/>
              <a:ea typeface="Montserrat"/>
              <a:cs typeface="Montserrat"/>
              <a:sym typeface="Montserrat"/>
            </a:endParaRPr>
          </a:p>
          <a:p>
            <a:pPr indent="0" lvl="0" marL="0" marR="0" rtl="0" algn="just">
              <a:lnSpc>
                <a:spcPct val="115000"/>
              </a:lnSpc>
              <a:spcBef>
                <a:spcPts val="1599"/>
              </a:spcBef>
              <a:spcAft>
                <a:spcPts val="0"/>
              </a:spcAft>
              <a:buClr>
                <a:srgbClr val="000000"/>
              </a:buClr>
              <a:buSzPts val="1100"/>
              <a:buFont typeface="Arial"/>
              <a:buNone/>
            </a:pPr>
            <a:r>
              <a:t/>
            </a:r>
            <a:endParaRPr b="0" i="0" sz="1100" u="none" cap="none" strike="noStrike">
              <a:solidFill>
                <a:srgbClr val="252827"/>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7" name="Shape 137"/>
        <p:cNvGrpSpPr/>
        <p:nvPr/>
      </p:nvGrpSpPr>
      <p:grpSpPr>
        <a:xfrm>
          <a:off x="0" y="0"/>
          <a:ext cx="0" cy="0"/>
          <a:chOff x="0" y="0"/>
          <a:chExt cx="0" cy="0"/>
        </a:xfrm>
      </p:grpSpPr>
      <p:sp>
        <p:nvSpPr>
          <p:cNvPr id="138" name="Google Shape;138;p9"/>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1.4 SCOPE</a:t>
            </a:r>
            <a:endParaRPr b="1" i="0" sz="2300" u="none" cap="none" strike="noStrike">
              <a:solidFill>
                <a:srgbClr val="F8CF2C"/>
              </a:solidFill>
              <a:latin typeface="Oswald"/>
              <a:ea typeface="Oswald"/>
              <a:cs typeface="Oswald"/>
              <a:sym typeface="Oswald"/>
            </a:endParaRPr>
          </a:p>
        </p:txBody>
      </p:sp>
      <p:sp>
        <p:nvSpPr>
          <p:cNvPr id="139" name="Google Shape;139;p9"/>
          <p:cNvSpPr txBox="1"/>
          <p:nvPr/>
        </p:nvSpPr>
        <p:spPr>
          <a:xfrm>
            <a:off x="510450" y="1095375"/>
            <a:ext cx="83673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000"/>
              <a:buFont typeface="Arial"/>
              <a:buNone/>
            </a:pPr>
            <a:r>
              <a:rPr b="1" i="0" lang="en" sz="1000" u="none" cap="none" strike="noStrike">
                <a:solidFill>
                  <a:schemeClr val="dk1"/>
                </a:solidFill>
                <a:latin typeface="Arial"/>
                <a:ea typeface="Arial"/>
                <a:cs typeface="Arial"/>
                <a:sym typeface="Arial"/>
              </a:rPr>
              <a:t>In Scope (What This Research Will Do):</a:t>
            </a:r>
            <a:endParaRPr b="1" i="0" sz="10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Develop a Framework:</a:t>
            </a:r>
            <a:r>
              <a:rPr b="0" i="0" lang="en" sz="1000" u="none" cap="none" strike="noStrike">
                <a:solidFill>
                  <a:schemeClr val="dk1"/>
                </a:solidFill>
                <a:latin typeface="Arial"/>
                <a:ea typeface="Arial"/>
                <a:cs typeface="Arial"/>
                <a:sym typeface="Arial"/>
              </a:rPr>
              <a:t> </a:t>
            </a:r>
            <a:r>
              <a:rPr lang="en" sz="1000">
                <a:solidFill>
                  <a:schemeClr val="dk1"/>
                </a:solidFill>
              </a:rPr>
              <a:t>Propose and build a multimodal therapist framework that integrates text and speech emotional signals to detect and respond to emotional dissonance in CBT-style dialogue.</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Synthetic Dataset:</a:t>
            </a:r>
            <a:r>
              <a:rPr b="0" i="0" lang="en" sz="1000" u="none" cap="none" strike="noStrike">
                <a:solidFill>
                  <a:schemeClr val="dk1"/>
                </a:solidFill>
                <a:latin typeface="Arial"/>
                <a:ea typeface="Arial"/>
                <a:cs typeface="Arial"/>
                <a:sym typeface="Arial"/>
              </a:rPr>
              <a:t> </a:t>
            </a:r>
            <a:r>
              <a:rPr lang="en" sz="1000">
                <a:solidFill>
                  <a:schemeClr val="dk1"/>
                </a:solidFill>
              </a:rPr>
              <a:t>Create and utilize a synthetically generated dataset of 10 multi-turn CBT counseling dialogues produced via CACTUS-style script generation and Zonos TTS synthesis with state-controlled prosody.</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lang="en" sz="1000">
                <a:solidFill>
                  <a:schemeClr val="dk1"/>
                </a:solidFill>
              </a:rPr>
              <a:t>Multimodal Condition Comparison:</a:t>
            </a:r>
            <a:r>
              <a:rPr b="0" i="0" lang="en" sz="1000" u="none" cap="none" strike="noStrike">
                <a:solidFill>
                  <a:schemeClr val="dk1"/>
                </a:solidFill>
                <a:latin typeface="Arial"/>
                <a:ea typeface="Arial"/>
                <a:cs typeface="Arial"/>
                <a:sym typeface="Arial"/>
              </a:rPr>
              <a:t> </a:t>
            </a:r>
            <a:r>
              <a:rPr lang="en" sz="1000">
                <a:solidFill>
                  <a:schemeClr val="dk1"/>
                </a:solidFill>
              </a:rPr>
              <a:t>Compare four therapist generation conditions---Baseline, Emotion (Text-Only), Multimodal (Vocal-Aware), and Dissonance-Aware---to quantify the contribution of each emotional signal type.</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lang="en" sz="1000">
                <a:solidFill>
                  <a:schemeClr val="dk1"/>
                </a:solidFill>
              </a:rPr>
              <a:t>Automated Evaluation:</a:t>
            </a:r>
            <a:r>
              <a:rPr b="0" i="0" lang="en" sz="1000" u="none" cap="none" strike="noStrike">
                <a:solidFill>
                  <a:schemeClr val="dk1"/>
                </a:solidFill>
                <a:latin typeface="Arial"/>
                <a:ea typeface="Arial"/>
                <a:cs typeface="Arial"/>
                <a:sym typeface="Arial"/>
              </a:rPr>
              <a:t> </a:t>
            </a:r>
            <a:r>
              <a:rPr lang="en" sz="1000">
                <a:solidFill>
                  <a:schemeClr val="dk1"/>
                </a:solidFill>
              </a:rPr>
              <a:t>Assess therapist response quality using GPT-4o as a zero-shot evaluator across seven metrics spanning Therapist Skills, Client Alliance, and the Cognitive Therapy Rating Scale.</a:t>
            </a:r>
            <a:endParaRPr b="0" i="0" sz="900" u="none" cap="none" strike="noStrike">
              <a:solidFill>
                <a:schemeClr val="dk1"/>
              </a:solidFill>
              <a:latin typeface="Montserrat"/>
              <a:ea typeface="Montserrat"/>
              <a:cs typeface="Montserrat"/>
              <a:sym typeface="Montserrat"/>
            </a:endParaRPr>
          </a:p>
        </p:txBody>
      </p:sp>
      <p:sp>
        <p:nvSpPr>
          <p:cNvPr id="140" name="Google Shape;1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1" name="Google Shape;141;p9"/>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142" name="Google Shape;142;p9"/>
          <p:cNvSpPr txBox="1"/>
          <p:nvPr/>
        </p:nvSpPr>
        <p:spPr>
          <a:xfrm>
            <a:off x="548875" y="2971225"/>
            <a:ext cx="83673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000"/>
              <a:buFont typeface="Arial"/>
              <a:buNone/>
            </a:pPr>
            <a:r>
              <a:rPr b="1" i="0" lang="en" sz="1000" u="none" cap="none" strike="noStrike">
                <a:solidFill>
                  <a:schemeClr val="dk1"/>
                </a:solidFill>
                <a:latin typeface="Arial"/>
                <a:ea typeface="Arial"/>
                <a:cs typeface="Arial"/>
                <a:sym typeface="Arial"/>
              </a:rPr>
              <a:t>Out of Scope (What This Research Will NOT Do):</a:t>
            </a:r>
            <a:endParaRPr b="1" i="0" sz="10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Not a Clinical Tool:</a:t>
            </a:r>
            <a:r>
              <a:rPr b="0" i="0" lang="en" sz="1000" u="none" cap="none" strike="noStrike">
                <a:solidFill>
                  <a:schemeClr val="dk1"/>
                </a:solidFill>
                <a:latin typeface="Arial"/>
                <a:ea typeface="Arial"/>
                <a:cs typeface="Arial"/>
                <a:sym typeface="Arial"/>
              </a:rPr>
              <a:t> </a:t>
            </a:r>
            <a:r>
              <a:rPr lang="en" sz="1000">
                <a:solidFill>
                  <a:schemeClr val="dk1"/>
                </a:solidFill>
              </a:rPr>
              <a:t>This project is a computer science exploration. The resulting AI is not a medical device and is not intended to replace professional human therapists or provide clinical diagnoses.</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No Real Patient Data:</a:t>
            </a:r>
            <a:r>
              <a:rPr b="0" i="0" lang="en" sz="1000" u="none" cap="none" strike="noStrike">
                <a:solidFill>
                  <a:schemeClr val="dk1"/>
                </a:solidFill>
                <a:latin typeface="Arial"/>
                <a:ea typeface="Arial"/>
                <a:cs typeface="Arial"/>
                <a:sym typeface="Arial"/>
              </a:rPr>
              <a:t> </a:t>
            </a:r>
            <a:r>
              <a:rPr lang="en" sz="1000">
                <a:solidFill>
                  <a:schemeClr val="dk1"/>
                </a:solidFill>
              </a:rPr>
              <a:t>For ethical and privacy reasons, this research will not use any real-world patient or clinical data. All training and testing will be performed on the synthetically generated dataset.</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Limited to English:</a:t>
            </a:r>
            <a:r>
              <a:rPr b="0" i="0" lang="en" sz="1000" u="none" cap="none" strike="noStrike">
                <a:solidFill>
                  <a:schemeClr val="dk1"/>
                </a:solidFill>
                <a:latin typeface="Arial"/>
                <a:ea typeface="Arial"/>
                <a:cs typeface="Arial"/>
                <a:sym typeface="Arial"/>
              </a:rPr>
              <a:t> </a:t>
            </a:r>
            <a:r>
              <a:rPr lang="en" sz="1000">
                <a:solidFill>
                  <a:schemeClr val="dk1"/>
                </a:solidFill>
              </a:rPr>
              <a:t>The current scope is limited to processing and generating English-language speech based on the available datasets (CACTUS, Zonos).</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No Other Modalities:</a:t>
            </a:r>
            <a:r>
              <a:rPr b="0" i="0" lang="en" sz="1000" u="none" cap="none" strike="noStrike">
                <a:solidFill>
                  <a:schemeClr val="dk1"/>
                </a:solidFill>
                <a:latin typeface="Arial"/>
                <a:ea typeface="Arial"/>
                <a:cs typeface="Arial"/>
                <a:sym typeface="Arial"/>
              </a:rPr>
              <a:t> </a:t>
            </a:r>
            <a:r>
              <a:rPr lang="en" sz="1000">
                <a:solidFill>
                  <a:schemeClr val="dk1"/>
                </a:solidFill>
              </a:rPr>
              <a:t>The analysis is strictly focused on vocal and textual information. We will not analyze other cues such as facial expressions or body language.</a:t>
            </a:r>
            <a:endParaRPr b="1" i="0" sz="10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6" name="Shape 146"/>
        <p:cNvGrpSpPr/>
        <p:nvPr/>
      </p:nvGrpSpPr>
      <p:grpSpPr>
        <a:xfrm>
          <a:off x="0" y="0"/>
          <a:ext cx="0" cy="0"/>
          <a:chOff x="0" y="0"/>
          <a:chExt cx="0" cy="0"/>
        </a:xfrm>
      </p:grpSpPr>
      <p:sp>
        <p:nvSpPr>
          <p:cNvPr id="147" name="Google Shape;147;p11"/>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2. RELATED WORK</a:t>
            </a:r>
            <a:endParaRPr b="1" i="0" sz="2300" u="none" cap="none" strike="noStrike">
              <a:solidFill>
                <a:srgbClr val="F8CF2C"/>
              </a:solidFill>
              <a:latin typeface="Oswald"/>
              <a:ea typeface="Oswald"/>
              <a:cs typeface="Oswald"/>
              <a:sym typeface="Oswald"/>
            </a:endParaRPr>
          </a:p>
        </p:txBody>
      </p:sp>
      <p:sp>
        <p:nvSpPr>
          <p:cNvPr id="148" name="Google Shape;148;p11"/>
          <p:cNvSpPr txBox="1"/>
          <p:nvPr/>
        </p:nvSpPr>
        <p:spPr>
          <a:xfrm>
            <a:off x="510450" y="1287400"/>
            <a:ext cx="8367300" cy="362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AI-driven CBT and Multimodal Interaction</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Existing Work:</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The application of AI to deliver Cognitive Behavioral Therapy (CBT) is a promising frontier. Work like </a:t>
            </a:r>
            <a:r>
              <a:rPr b="1" i="0" lang="en" sz="1100" u="none" cap="none" strike="noStrike">
                <a:solidFill>
                  <a:schemeClr val="dk1"/>
                </a:solidFill>
                <a:latin typeface="Arial"/>
                <a:ea typeface="Arial"/>
                <a:cs typeface="Arial"/>
                <a:sym typeface="Arial"/>
              </a:rPr>
              <a:t>Lee et al. (2024a)</a:t>
            </a:r>
            <a:r>
              <a:rPr b="0" i="0" lang="en" sz="1100" u="none" cap="none" strike="noStrike">
                <a:solidFill>
                  <a:schemeClr val="dk1"/>
                </a:solidFill>
                <a:latin typeface="Arial"/>
                <a:ea typeface="Arial"/>
                <a:cs typeface="Arial"/>
                <a:sym typeface="Arial"/>
              </a:rPr>
              <a:t> with the </a:t>
            </a:r>
            <a:r>
              <a:rPr b="1" i="0" lang="en" sz="1100" u="none" cap="none" strike="noStrike">
                <a:solidFill>
                  <a:schemeClr val="dk1"/>
                </a:solidFill>
                <a:latin typeface="Arial"/>
                <a:ea typeface="Arial"/>
                <a:cs typeface="Arial"/>
                <a:sym typeface="Arial"/>
              </a:rPr>
              <a:t>CACTUS</a:t>
            </a:r>
            <a:r>
              <a:rPr b="0" i="0" lang="en" sz="1100" u="none" cap="none" strike="noStrike">
                <a:solidFill>
                  <a:schemeClr val="dk1"/>
                </a:solidFill>
                <a:latin typeface="Arial"/>
                <a:ea typeface="Arial"/>
                <a:cs typeface="Arial"/>
                <a:sym typeface="Arial"/>
              </a:rPr>
              <a:t> dataset shows the feasibility of generating high-quality, text-based therapeutic conversations.</a:t>
            </a: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Syed et al. (2024) </a:t>
            </a:r>
            <a:r>
              <a:rPr b="0" i="0" lang="en" sz="1100" u="none" cap="none" strike="noStrike">
                <a:solidFill>
                  <a:schemeClr val="dk1"/>
                </a:solidFill>
                <a:latin typeface="Arial"/>
                <a:ea typeface="Arial"/>
                <a:cs typeface="Arial"/>
                <a:sym typeface="Arial"/>
              </a:rPr>
              <a:t>found that although 85% of support seekers in an online text-based peer support setting reported high empathy, an existing state-of-the-art empathy model </a:t>
            </a:r>
            <a:r>
              <a:rPr b="1" i="0" lang="en" sz="1100" u="none" cap="none" strike="noStrike">
                <a:solidFill>
                  <a:schemeClr val="dk1"/>
                </a:solidFill>
                <a:latin typeface="Arial"/>
                <a:ea typeface="Arial"/>
                <a:cs typeface="Arial"/>
                <a:sym typeface="Arial"/>
              </a:rPr>
              <a:t>EPITOME</a:t>
            </a:r>
            <a:r>
              <a:rPr b="0" i="0" lang="en" sz="1100" u="none" cap="none" strike="noStrike">
                <a:solidFill>
                  <a:schemeClr val="dk1"/>
                </a:solidFill>
                <a:latin typeface="Arial"/>
                <a:ea typeface="Arial"/>
                <a:cs typeface="Arial"/>
                <a:sym typeface="Arial"/>
              </a:rPr>
              <a:t> assigned an average empathy </a:t>
            </a:r>
            <a:r>
              <a:rPr b="1" i="0" lang="en" sz="1100" u="none" cap="none" strike="noStrike">
                <a:solidFill>
                  <a:schemeClr val="dk1"/>
                </a:solidFill>
                <a:latin typeface="Arial"/>
                <a:ea typeface="Arial"/>
                <a:cs typeface="Arial"/>
                <a:sym typeface="Arial"/>
              </a:rPr>
              <a:t>score of only 1.69 out of 6</a:t>
            </a:r>
            <a:r>
              <a:rPr b="0" i="0" lang="en" sz="1100" u="none" cap="none" strike="noStrike">
                <a:solidFill>
                  <a:schemeClr val="dk1"/>
                </a:solidFill>
                <a:latin typeface="Arial"/>
                <a:ea typeface="Arial"/>
                <a:cs typeface="Arial"/>
                <a:sym typeface="Arial"/>
              </a:rPr>
              <a:t>. This gap highlights how people can genuinely feel cared for while their written messages, stripped of vocal tone and other non-verbal cues, appear almost soulless to a text-only model that fails to recognize their emotional intent.</a:t>
            </a: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To address this empathy gap, </a:t>
            </a:r>
            <a:r>
              <a:rPr b="1" i="0" lang="en" sz="1100" u="none" cap="none" strike="noStrike">
                <a:solidFill>
                  <a:schemeClr val="dk1"/>
                </a:solidFill>
                <a:latin typeface="Arial"/>
                <a:ea typeface="Arial"/>
                <a:cs typeface="Arial"/>
                <a:sym typeface="Arial"/>
              </a:rPr>
              <a:t>Kim et al. (2025)</a:t>
            </a:r>
            <a:r>
              <a:rPr b="0" i="0" lang="en" sz="1100" u="none" cap="none" strike="noStrike">
                <a:solidFill>
                  <a:schemeClr val="dk1"/>
                </a:solidFill>
                <a:latin typeface="Arial"/>
                <a:ea typeface="Arial"/>
                <a:cs typeface="Arial"/>
                <a:sym typeface="Arial"/>
              </a:rPr>
              <a:t> in their MIRROR paper incorporated </a:t>
            </a:r>
            <a:r>
              <a:rPr b="1" i="0" lang="en" sz="1100" u="none" cap="none" strike="noStrike">
                <a:solidFill>
                  <a:schemeClr val="dk1"/>
                </a:solidFill>
                <a:latin typeface="Arial"/>
                <a:ea typeface="Arial"/>
                <a:cs typeface="Arial"/>
                <a:sym typeface="Arial"/>
              </a:rPr>
              <a:t>visual cues (facial expressions)</a:t>
            </a:r>
            <a:r>
              <a:rPr b="0" i="0" lang="en" sz="1100" u="none" cap="none" strike="noStrike">
                <a:solidFill>
                  <a:schemeClr val="dk1"/>
                </a:solidFill>
                <a:latin typeface="Arial"/>
                <a:ea typeface="Arial"/>
                <a:cs typeface="Arial"/>
                <a:sym typeface="Arial"/>
              </a:rPr>
              <a:t> to detect and manage client resistance.</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Research Gap &amp; Our Contribution:</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While MIRROR validates using non-verbal cues, it focuses on vision which might requires more resources for setting up the components for the model. Our framework pioneers the use of vocal cues a more accessible and less intrusive modality to bridge the demonstrated empathy gap and trigger real-time, personalized, voice-based micro-interventions.</a:t>
            </a:r>
            <a:endParaRPr b="0" i="0" sz="1100" u="none" cap="none" strike="noStrike">
              <a:solidFill>
                <a:srgbClr val="252827"/>
              </a:solidFill>
              <a:latin typeface="Montserrat"/>
              <a:ea typeface="Montserrat"/>
              <a:cs typeface="Montserrat"/>
              <a:sym typeface="Montserrat"/>
            </a:endParaRPr>
          </a:p>
        </p:txBody>
      </p:sp>
      <p:sp>
        <p:nvSpPr>
          <p:cNvPr id="149" name="Google Shape;14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0" name="Google Shape;150;p11"/>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54" name="Shape 154"/>
        <p:cNvGrpSpPr/>
        <p:nvPr/>
      </p:nvGrpSpPr>
      <p:grpSpPr>
        <a:xfrm>
          <a:off x="0" y="0"/>
          <a:ext cx="0" cy="0"/>
          <a:chOff x="0" y="0"/>
          <a:chExt cx="0" cy="0"/>
        </a:xfrm>
      </p:grpSpPr>
      <p:sp>
        <p:nvSpPr>
          <p:cNvPr id="155" name="Google Shape;155;p10"/>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2. RELATED WORK</a:t>
            </a:r>
            <a:endParaRPr b="1" i="0" sz="2300" u="none" cap="none" strike="noStrike">
              <a:solidFill>
                <a:srgbClr val="F8CF2C"/>
              </a:solidFill>
              <a:latin typeface="Oswald"/>
              <a:ea typeface="Oswald"/>
              <a:cs typeface="Oswald"/>
              <a:sym typeface="Oswald"/>
            </a:endParaRPr>
          </a:p>
        </p:txBody>
      </p:sp>
      <p:sp>
        <p:nvSpPr>
          <p:cNvPr id="156" name="Google Shape;156;p10"/>
          <p:cNvSpPr txBox="1"/>
          <p:nvPr/>
        </p:nvSpPr>
        <p:spPr>
          <a:xfrm>
            <a:off x="510450" y="1287900"/>
            <a:ext cx="8412600" cy="323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Vocal Cues for Mental State Assessment</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Existing Work:</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The use of vocal cues as an indicator of mental state is well-established. </a:t>
            </a:r>
            <a:r>
              <a:rPr b="1" i="0" lang="en" sz="1100" u="none" cap="none" strike="noStrike">
                <a:solidFill>
                  <a:schemeClr val="dk1"/>
                </a:solidFill>
                <a:latin typeface="Arial"/>
                <a:ea typeface="Arial"/>
                <a:cs typeface="Arial"/>
                <a:sym typeface="Arial"/>
              </a:rPr>
              <a:t>Cummins et al. (2015)</a:t>
            </a:r>
            <a:r>
              <a:rPr b="0" i="0" lang="en" sz="1100" u="none" cap="none" strike="noStrike">
                <a:solidFill>
                  <a:schemeClr val="dk1"/>
                </a:solidFill>
                <a:latin typeface="Arial"/>
                <a:ea typeface="Arial"/>
                <a:cs typeface="Arial"/>
                <a:sym typeface="Arial"/>
              </a:rPr>
              <a:t> provide a comprehensive review concluding that acoustic features like pitch and speech rate are significantly correlated with depressive states.</a:t>
            </a: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More recently, </a:t>
            </a:r>
            <a:r>
              <a:rPr b="1" i="0" lang="en" sz="1100" u="none" cap="none" strike="noStrike">
                <a:solidFill>
                  <a:schemeClr val="dk1"/>
                </a:solidFill>
                <a:latin typeface="Arial"/>
                <a:ea typeface="Arial"/>
                <a:cs typeface="Arial"/>
                <a:sym typeface="Arial"/>
              </a:rPr>
              <a:t>Sun et al. (2024)</a:t>
            </a:r>
            <a:r>
              <a:rPr b="0" i="0" lang="en" sz="1100" u="none" cap="none" strike="noStrike">
                <a:solidFill>
                  <a:schemeClr val="dk1"/>
                </a:solidFill>
                <a:latin typeface="Arial"/>
                <a:ea typeface="Arial"/>
                <a:cs typeface="Arial"/>
                <a:sym typeface="Arial"/>
              </a:rPr>
              <a:t>, in their work "Beyond Text," demonstrated that leveraging vocal cues can enhance the decision-making of LLMs.</a:t>
            </a: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Mitsios et al. (2024) advanced VA-based emotion models (vad-bert, WavLM) for text &amp; speech. framework by </a:t>
            </a:r>
            <a:r>
              <a:rPr b="1" i="0" lang="en" sz="1100" u="none" cap="none" strike="noStrike">
                <a:solidFill>
                  <a:schemeClr val="dk1"/>
                </a:solidFill>
                <a:latin typeface="Arial"/>
                <a:ea typeface="Arial"/>
                <a:cs typeface="Arial"/>
                <a:sym typeface="Arial"/>
              </a:rPr>
              <a:t>Wu et al. (2025)</a:t>
            </a:r>
            <a:r>
              <a:rPr b="0" i="0" lang="en" sz="1100" u="none" cap="none" strike="noStrike">
                <a:solidFill>
                  <a:schemeClr val="dk1"/>
                </a:solidFill>
                <a:latin typeface="Arial"/>
                <a:ea typeface="Arial"/>
                <a:cs typeface="Arial"/>
                <a:sym typeface="Arial"/>
              </a:rPr>
              <a:t>, have further shown that vocal features can be effectively translated into natural language descriptions, allowing LLMs to process them without architectural changes.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Research Gap &amp; Our Contribution:</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Wang &amp; Wu (2024) showed MSA models fail on modality-conflicting data. Haydarov et al. (2025) introduced that apply these techniques together for CBT approach. Hence, our work focuses on classifying specific negative cognitive states as defined by CBT (e.g., under-confident, sadness, and cognitive distortion) from vocal patterns, leveraging recent techniques to achieve a deeper level of understanding.</a:t>
            </a:r>
            <a:endParaRPr b="1" i="0" sz="1100" u="none" cap="none" strike="noStrike">
              <a:solidFill>
                <a:schemeClr val="dk1"/>
              </a:solidFill>
              <a:latin typeface="Arial"/>
              <a:ea typeface="Arial"/>
              <a:cs typeface="Arial"/>
              <a:sym typeface="Arial"/>
            </a:endParaRPr>
          </a:p>
        </p:txBody>
      </p:sp>
      <p:sp>
        <p:nvSpPr>
          <p:cNvPr id="157" name="Google Shape;15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8" name="Google Shape;158;p10"/>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2" name="Shape 162"/>
        <p:cNvGrpSpPr/>
        <p:nvPr/>
      </p:nvGrpSpPr>
      <p:grpSpPr>
        <a:xfrm>
          <a:off x="0" y="0"/>
          <a:ext cx="0" cy="0"/>
          <a:chOff x="0" y="0"/>
          <a:chExt cx="0" cy="0"/>
        </a:xfrm>
      </p:grpSpPr>
      <p:sp>
        <p:nvSpPr>
          <p:cNvPr id="163" name="Google Shape;163;p12"/>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2. RELATED WORK</a:t>
            </a:r>
            <a:endParaRPr b="1" i="0" sz="2300" u="none" cap="none" strike="noStrike">
              <a:solidFill>
                <a:srgbClr val="F8CF2C"/>
              </a:solidFill>
              <a:latin typeface="Oswald"/>
              <a:ea typeface="Oswald"/>
              <a:cs typeface="Oswald"/>
              <a:sym typeface="Oswald"/>
            </a:endParaRPr>
          </a:p>
        </p:txBody>
      </p:sp>
      <p:sp>
        <p:nvSpPr>
          <p:cNvPr id="164" name="Google Shape;164;p12"/>
          <p:cNvSpPr txBox="1"/>
          <p:nvPr/>
        </p:nvSpPr>
        <p:spPr>
          <a:xfrm>
            <a:off x="510450" y="1287400"/>
            <a:ext cx="8367300" cy="2649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Voice Modeling for Therapeutic Intervention</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Existing Work:</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The feasibility of our proposed intervention relies on recent advancements in </a:t>
            </a:r>
            <a:r>
              <a:rPr b="1" i="0" lang="en" sz="1100" u="none" cap="none" strike="noStrike">
                <a:solidFill>
                  <a:schemeClr val="dk1"/>
                </a:solidFill>
                <a:latin typeface="Arial"/>
                <a:ea typeface="Arial"/>
                <a:cs typeface="Arial"/>
                <a:sym typeface="Arial"/>
              </a:rPr>
              <a:t>Controllable and Expressive Text-to-Speech (TTS) synthesis</a:t>
            </a:r>
            <a:r>
              <a:rPr b="0" i="0" lang="en" sz="1100" u="none" cap="none" strike="noStrike">
                <a:solidFill>
                  <a:schemeClr val="dk1"/>
                </a:solidFill>
                <a:latin typeface="Arial"/>
                <a:ea typeface="Arial"/>
                <a:cs typeface="Arial"/>
                <a:sym typeface="Arial"/>
              </a:rPr>
              <a:t>. State-of-the-art models have demonstrated the ability to clone a speaker's voice and generate highly realistic, human-like speech.</a:t>
            </a: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Furthermore, research by </a:t>
            </a:r>
            <a:r>
              <a:rPr b="1" i="0" lang="en" sz="1100" u="none" cap="none" strike="noStrike">
                <a:solidFill>
                  <a:schemeClr val="dk1"/>
                </a:solidFill>
                <a:latin typeface="Arial"/>
                <a:ea typeface="Arial"/>
                <a:cs typeface="Arial"/>
                <a:sym typeface="Arial"/>
              </a:rPr>
              <a:t>Reza et al. (2024)</a:t>
            </a:r>
            <a:r>
              <a:rPr b="0" i="0" lang="en" sz="1100" u="none" cap="none" strike="noStrike">
                <a:solidFill>
                  <a:schemeClr val="dk1"/>
                </a:solidFill>
                <a:latin typeface="Arial"/>
                <a:ea typeface="Arial"/>
                <a:cs typeface="Arial"/>
                <a:sym typeface="Arial"/>
              </a:rPr>
              <a:t> confirms that acoustic features are strongly correlated with speaker demographics, underscoring the necessity of demographic diversity for creating realistic training data.</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Research Gap &amp; Our Contribution:</a:t>
            </a: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The application of these models in a therapeutic context is under-explored. Our research investigates using this technology not just to create realistic speech, but to generate a </a:t>
            </a:r>
            <a:r>
              <a:rPr b="1" i="0" lang="en" sz="1100" u="none" cap="none" strike="noStrike">
                <a:solidFill>
                  <a:schemeClr val="dk1"/>
                </a:solidFill>
                <a:latin typeface="Arial"/>
                <a:ea typeface="Arial"/>
                <a:cs typeface="Arial"/>
                <a:sym typeface="Arial"/>
              </a:rPr>
              <a:t>demographically diverse set of voices</a:t>
            </a:r>
            <a:r>
              <a:rPr b="0" i="0" lang="en" sz="1100" u="none" cap="none" strike="noStrike">
                <a:solidFill>
                  <a:schemeClr val="dk1"/>
                </a:solidFill>
                <a:latin typeface="Arial"/>
                <a:ea typeface="Arial"/>
                <a:cs typeface="Arial"/>
                <a:sym typeface="Arial"/>
              </a:rPr>
              <a:t> and control their </a:t>
            </a:r>
            <a:r>
              <a:rPr b="1" i="0" lang="en" sz="1100" u="none" cap="none" strike="noStrike">
                <a:solidFill>
                  <a:schemeClr val="dk1"/>
                </a:solidFill>
                <a:latin typeface="Arial"/>
                <a:ea typeface="Arial"/>
                <a:cs typeface="Arial"/>
                <a:sym typeface="Arial"/>
              </a:rPr>
              <a:t>emotional expression</a:t>
            </a:r>
            <a:r>
              <a:rPr b="0" i="0" lang="en" sz="1100" u="none" cap="none" strike="noStrike">
                <a:solidFill>
                  <a:schemeClr val="dk1"/>
                </a:solidFill>
                <a:latin typeface="Arial"/>
                <a:ea typeface="Arial"/>
                <a:cs typeface="Arial"/>
                <a:sym typeface="Arial"/>
              </a:rPr>
              <a:t> in real-time to deliver empathetic and therapeutically appropriate vocal responses as a core part of the intervention loop.</a:t>
            </a:r>
            <a:endParaRPr b="1" i="0" sz="1100" u="none" cap="none" strike="noStrike">
              <a:solidFill>
                <a:schemeClr val="dk1"/>
              </a:solidFill>
              <a:latin typeface="Arial"/>
              <a:ea typeface="Arial"/>
              <a:cs typeface="Arial"/>
              <a:sym typeface="Arial"/>
            </a:endParaRPr>
          </a:p>
        </p:txBody>
      </p:sp>
      <p:sp>
        <p:nvSpPr>
          <p:cNvPr id="165" name="Google Shape;16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6" name="Google Shape;166;p12"/>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b197556fe3_0_12"/>
          <p:cNvSpPr txBox="1"/>
          <p:nvPr/>
        </p:nvSpPr>
        <p:spPr>
          <a:xfrm>
            <a:off x="418025" y="468350"/>
            <a:ext cx="7842300" cy="892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 sz="2300" u="none" cap="none" strike="noStrike">
                <a:solidFill>
                  <a:srgbClr val="252827"/>
                </a:solidFill>
                <a:latin typeface="Oswald"/>
                <a:ea typeface="Oswald"/>
                <a:cs typeface="Oswald"/>
                <a:sym typeface="Oswald"/>
              </a:rPr>
              <a:t>3.2 DATASET: </a:t>
            </a:r>
            <a:r>
              <a:rPr b="1" i="0" lang="en" sz="2300" u="none" cap="none" strike="noStrike">
                <a:solidFill>
                  <a:schemeClr val="dk1"/>
                </a:solidFill>
                <a:latin typeface="Oswald"/>
                <a:ea typeface="Oswald"/>
                <a:cs typeface="Oswald"/>
                <a:sym typeface="Oswald"/>
              </a:rPr>
              <a:t>How We Built the Dataset</a:t>
            </a:r>
            <a:endParaRPr b="1" i="0" sz="3300" u="none" cap="none" strike="noStrike">
              <a:solidFill>
                <a:srgbClr val="252827"/>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2300"/>
              <a:buFont typeface="Arial"/>
              <a:buNone/>
            </a:pPr>
            <a:r>
              <a:t/>
            </a:r>
            <a:endParaRPr b="1" i="0" sz="2300" u="none" cap="none" strike="noStrike">
              <a:solidFill>
                <a:srgbClr val="252827"/>
              </a:solidFill>
              <a:latin typeface="Oswald"/>
              <a:ea typeface="Oswald"/>
              <a:cs typeface="Oswald"/>
              <a:sym typeface="Oswald"/>
            </a:endParaRPr>
          </a:p>
        </p:txBody>
      </p:sp>
      <p:sp>
        <p:nvSpPr>
          <p:cNvPr id="172" name="Google Shape;172;g3b197556fe3_0_12"/>
          <p:cNvSpPr/>
          <p:nvPr/>
        </p:nvSpPr>
        <p:spPr>
          <a:xfrm>
            <a:off x="510450" y="1095375"/>
            <a:ext cx="8069700" cy="38430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15000"/>
              </a:lnSpc>
              <a:spcBef>
                <a:spcPts val="1200"/>
              </a:spcBef>
              <a:spcAft>
                <a:spcPts val="0"/>
              </a:spcAft>
              <a:buClr>
                <a:schemeClr val="dk1"/>
              </a:buClr>
              <a:buSzPts val="1000"/>
              <a:buFont typeface="Arial"/>
              <a:buAutoNum type="arabicPeriod"/>
            </a:pPr>
            <a:r>
              <a:rPr b="1" i="0" lang="en" sz="1000" u="none" cap="none" strike="noStrike">
                <a:solidFill>
                  <a:schemeClr val="dk1"/>
                </a:solidFill>
                <a:latin typeface="Arial"/>
                <a:ea typeface="Arial"/>
                <a:cs typeface="Arial"/>
                <a:sym typeface="Arial"/>
              </a:rPr>
              <a:t>The Structural Foundation (Inspired by CACTUS)</a:t>
            </a:r>
            <a:endParaRPr b="1" i="0" sz="1000" u="none" cap="none" strike="noStrike">
              <a:solidFill>
                <a:schemeClr val="dk1"/>
              </a:solidFill>
              <a:latin typeface="Arial"/>
              <a:ea typeface="Arial"/>
              <a:cs typeface="Arial"/>
              <a:sym typeface="Arial"/>
            </a:endParaRPr>
          </a:p>
          <a:p>
            <a:pPr indent="-292100" lvl="0" marL="9144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Agentic Role-Play:</a:t>
            </a:r>
            <a:r>
              <a:rPr b="0" i="0" lang="en" sz="1000" u="none" cap="none" strike="noStrike">
                <a:solidFill>
                  <a:schemeClr val="dk1"/>
                </a:solidFill>
                <a:latin typeface="Arial"/>
                <a:ea typeface="Arial"/>
                <a:cs typeface="Arial"/>
                <a:sym typeface="Arial"/>
              </a:rPr>
              <a:t> The </a:t>
            </a:r>
            <a:r>
              <a:rPr b="1" i="0" lang="en" sz="1000" u="none" cap="none" strike="noStrike">
                <a:solidFill>
                  <a:schemeClr val="dk1"/>
                </a:solidFill>
                <a:latin typeface="Arial"/>
                <a:ea typeface="Arial"/>
                <a:cs typeface="Arial"/>
                <a:sym typeface="Arial"/>
              </a:rPr>
              <a:t>CACTUS framework</a:t>
            </a:r>
            <a:r>
              <a:rPr b="0" i="0" lang="en" sz="1000" u="none" cap="none" strike="noStrike">
                <a:solidFill>
                  <a:schemeClr val="dk1"/>
                </a:solidFill>
                <a:latin typeface="Arial"/>
                <a:ea typeface="Arial"/>
                <a:cs typeface="Arial"/>
                <a:sym typeface="Arial"/>
              </a:rPr>
              <a:t> simulate realistic counseling sessions using LLM agents (Counselor vs. Client).</a:t>
            </a:r>
            <a:endParaRPr b="0" i="0" sz="1000" u="none" cap="none" strike="noStrike">
              <a:solidFill>
                <a:schemeClr val="dk1"/>
              </a:solidFill>
              <a:latin typeface="Arial"/>
              <a:ea typeface="Arial"/>
              <a:cs typeface="Arial"/>
              <a:sym typeface="Arial"/>
            </a:endParaRPr>
          </a:p>
          <a:p>
            <a:pPr indent="-292100" lvl="0" marL="9144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"Script-Mode" Generation:</a:t>
            </a:r>
            <a:r>
              <a:rPr b="0" i="0" lang="en" sz="1000" u="none" cap="none" strike="noStrike">
                <a:solidFill>
                  <a:schemeClr val="dk1"/>
                </a:solidFill>
                <a:latin typeface="Arial"/>
                <a:ea typeface="Arial"/>
                <a:cs typeface="Arial"/>
                <a:sym typeface="Arial"/>
              </a:rPr>
              <a:t> Instead of simple turn-by-turn generation, we utilized the </a:t>
            </a:r>
            <a:r>
              <a:rPr b="1" i="0" lang="en" sz="1000" u="none" cap="none" strike="noStrike">
                <a:solidFill>
                  <a:schemeClr val="dk1"/>
                </a:solidFill>
                <a:latin typeface="Arial"/>
                <a:ea typeface="Arial"/>
                <a:cs typeface="Arial"/>
                <a:sym typeface="Arial"/>
              </a:rPr>
              <a:t>Script Mode</a:t>
            </a:r>
            <a:r>
              <a:rPr b="0" i="0" lang="en" sz="1000" u="none" cap="none" strike="noStrike">
                <a:solidFill>
                  <a:schemeClr val="dk1"/>
                </a:solidFill>
                <a:latin typeface="Arial"/>
                <a:ea typeface="Arial"/>
                <a:cs typeface="Arial"/>
                <a:sym typeface="Arial"/>
              </a:rPr>
              <a:t> technique (generating dialogue as a continuous screenplay).</a:t>
            </a:r>
            <a:endParaRPr b="0" i="0" sz="1000" u="none" cap="none" strike="noStrike">
              <a:solidFill>
                <a:schemeClr val="dk1"/>
              </a:solidFill>
              <a:latin typeface="Arial"/>
              <a:ea typeface="Arial"/>
              <a:cs typeface="Arial"/>
              <a:sym typeface="Arial"/>
            </a:endParaRPr>
          </a:p>
          <a:p>
            <a:pPr indent="-292100" lvl="1" marL="1371600" marR="0" rtl="0" algn="l">
              <a:lnSpc>
                <a:spcPct val="115000"/>
              </a:lnSpc>
              <a:spcBef>
                <a:spcPts val="0"/>
              </a:spcBef>
              <a:spcAft>
                <a:spcPts val="0"/>
              </a:spcAft>
              <a:buClr>
                <a:schemeClr val="dk1"/>
              </a:buClr>
              <a:buSzPts val="1000"/>
              <a:buFont typeface="Arial"/>
              <a:buChar char="○"/>
            </a:pPr>
            <a:r>
              <a:rPr b="0" i="1" lang="en" sz="1000" u="none" cap="none" strike="noStrike">
                <a:solidFill>
                  <a:schemeClr val="dk1"/>
                </a:solidFill>
                <a:latin typeface="Arial"/>
                <a:ea typeface="Arial"/>
                <a:cs typeface="Arial"/>
                <a:sym typeface="Arial"/>
              </a:rPr>
              <a:t>Why?</a:t>
            </a:r>
            <a:r>
              <a:rPr b="0" i="0" lang="en" sz="1000" u="none" cap="none" strike="noStrike">
                <a:solidFill>
                  <a:schemeClr val="dk1"/>
                </a:solidFill>
                <a:latin typeface="Arial"/>
                <a:ea typeface="Arial"/>
                <a:cs typeface="Arial"/>
                <a:sym typeface="Arial"/>
              </a:rPr>
              <a:t> Research indicates this method yields significantly more </a:t>
            </a:r>
            <a:r>
              <a:rPr b="1" i="0" lang="en" sz="1000" u="none" cap="none" strike="noStrike">
                <a:solidFill>
                  <a:schemeClr val="dk1"/>
                </a:solidFill>
                <a:latin typeface="Arial"/>
                <a:ea typeface="Arial"/>
                <a:cs typeface="Arial"/>
                <a:sym typeface="Arial"/>
              </a:rPr>
              <a:t>natural, coherent, and fluid interactions</a:t>
            </a:r>
            <a:r>
              <a:rPr b="0" i="0" lang="en" sz="1000" u="none" cap="none" strike="noStrike">
                <a:solidFill>
                  <a:schemeClr val="dk1"/>
                </a:solidFill>
                <a:latin typeface="Arial"/>
                <a:ea typeface="Arial"/>
                <a:cs typeface="Arial"/>
                <a:sym typeface="Arial"/>
              </a:rPr>
              <a:t> compared to two-agentic method.</a:t>
            </a:r>
            <a:endParaRPr b="1" i="0" sz="1000" u="none" cap="none" strike="noStrike">
              <a:solidFill>
                <a:schemeClr val="dk1"/>
              </a:solidFill>
              <a:latin typeface="Montserrat"/>
              <a:ea typeface="Montserrat"/>
              <a:cs typeface="Montserrat"/>
              <a:sym typeface="Montserrat"/>
            </a:endParaRPr>
          </a:p>
          <a:p>
            <a:pPr indent="-292100" lvl="0" marL="457200" marR="0" rtl="0" algn="l">
              <a:lnSpc>
                <a:spcPct val="115000"/>
              </a:lnSpc>
              <a:spcBef>
                <a:spcPts val="0"/>
              </a:spcBef>
              <a:spcAft>
                <a:spcPts val="0"/>
              </a:spcAft>
              <a:buClr>
                <a:schemeClr val="dk1"/>
              </a:buClr>
              <a:buSzPts val="1000"/>
              <a:buFont typeface="Arial"/>
              <a:buAutoNum type="arabicPeriod"/>
            </a:pPr>
            <a:r>
              <a:rPr b="1" i="0" lang="en" sz="1000" u="none" cap="none" strike="noStrike">
                <a:solidFill>
                  <a:schemeClr val="dk1"/>
                </a:solidFill>
                <a:latin typeface="Arial"/>
                <a:ea typeface="Arial"/>
                <a:cs typeface="Arial"/>
                <a:sym typeface="Arial"/>
              </a:rPr>
              <a:t>The Vocal Intelligence Layer (Inspired by SpeechCueLLM)</a:t>
            </a:r>
            <a:endParaRPr b="1" i="0" sz="1000" u="none" cap="none" strike="noStrike">
              <a:solidFill>
                <a:schemeClr val="dk1"/>
              </a:solidFill>
              <a:latin typeface="Arial"/>
              <a:ea typeface="Arial"/>
              <a:cs typeface="Arial"/>
              <a:sym typeface="Arial"/>
            </a:endParaRPr>
          </a:p>
          <a:p>
            <a:pPr indent="-292100" lvl="0" marL="9144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Beyond Text generation:</a:t>
            </a:r>
            <a:r>
              <a:rPr b="0" i="0" lang="en" sz="1000" u="none" cap="none" strike="noStrike">
                <a:solidFill>
                  <a:schemeClr val="dk1"/>
                </a:solidFill>
                <a:latin typeface="Arial"/>
                <a:ea typeface="Arial"/>
                <a:cs typeface="Arial"/>
                <a:sym typeface="Arial"/>
              </a:rPr>
              <a:t> We integrated the </a:t>
            </a:r>
            <a:r>
              <a:rPr b="1" i="0" lang="en" sz="1000" u="none" cap="none" strike="noStrike">
                <a:solidFill>
                  <a:schemeClr val="dk1"/>
                </a:solidFill>
                <a:latin typeface="Arial"/>
                <a:ea typeface="Arial"/>
                <a:cs typeface="Arial"/>
                <a:sym typeface="Arial"/>
              </a:rPr>
              <a:t>SpeechCueLLM methodology</a:t>
            </a:r>
            <a:r>
              <a:rPr b="0" i="0" lang="en" sz="1000" u="none" cap="none" strike="noStrike">
                <a:solidFill>
                  <a:schemeClr val="dk1"/>
                </a:solidFill>
                <a:latin typeface="Arial"/>
                <a:ea typeface="Arial"/>
                <a:cs typeface="Arial"/>
                <a:sym typeface="Arial"/>
              </a:rPr>
              <a:t> to make the LLM "hear" its own script.</a:t>
            </a:r>
            <a:endParaRPr b="0" i="0" sz="1000" u="none" cap="none" strike="noStrike">
              <a:solidFill>
                <a:schemeClr val="dk1"/>
              </a:solidFill>
              <a:latin typeface="Arial"/>
              <a:ea typeface="Arial"/>
              <a:cs typeface="Arial"/>
              <a:sym typeface="Arial"/>
            </a:endParaRPr>
          </a:p>
          <a:p>
            <a:pPr indent="-292100" lvl="0" marL="9144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State Direction &amp; Prosody:</a:t>
            </a:r>
            <a:r>
              <a:rPr b="0" i="0" lang="en" sz="1000" u="none" cap="none" strike="noStrike">
                <a:solidFill>
                  <a:schemeClr val="dk1"/>
                </a:solidFill>
                <a:latin typeface="Arial"/>
                <a:ea typeface="Arial"/>
                <a:cs typeface="Arial"/>
                <a:sym typeface="Arial"/>
              </a:rPr>
              <a:t> The model doesn't just generate text; it simultaneously analyzes and assigns:</a:t>
            </a:r>
            <a:endParaRPr b="0" i="0" sz="1000" u="none" cap="none" strike="noStrike">
              <a:solidFill>
                <a:schemeClr val="dk1"/>
              </a:solidFill>
              <a:latin typeface="Arial"/>
              <a:ea typeface="Arial"/>
              <a:cs typeface="Arial"/>
              <a:sym typeface="Arial"/>
            </a:endParaRPr>
          </a:p>
          <a:p>
            <a:pPr indent="-292100" lvl="1" marL="13716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Emotional State:</a:t>
            </a:r>
            <a:r>
              <a:rPr b="0" i="0" lang="en" sz="1000" u="none" cap="none" strike="noStrike">
                <a:solidFill>
                  <a:schemeClr val="dk1"/>
                </a:solidFill>
                <a:latin typeface="Arial"/>
                <a:ea typeface="Arial"/>
                <a:cs typeface="Arial"/>
                <a:sym typeface="Arial"/>
              </a:rPr>
              <a:t> (e.g., Sadness, Anger, Mixed)</a:t>
            </a:r>
            <a:endParaRPr b="0" i="0" sz="1000" u="none" cap="none" strike="noStrike">
              <a:solidFill>
                <a:schemeClr val="dk1"/>
              </a:solidFill>
              <a:latin typeface="Arial"/>
              <a:ea typeface="Arial"/>
              <a:cs typeface="Arial"/>
              <a:sym typeface="Arial"/>
            </a:endParaRPr>
          </a:p>
          <a:p>
            <a:pPr indent="-292100" lvl="1" marL="13716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Visual/Vocal Cues:</a:t>
            </a:r>
            <a:r>
              <a:rPr b="0" i="0" lang="en" sz="1000" u="none" cap="none" strike="noStrike">
                <a:solidFill>
                  <a:schemeClr val="dk1"/>
                </a:solidFill>
                <a:latin typeface="Arial"/>
                <a:ea typeface="Arial"/>
                <a:cs typeface="Arial"/>
                <a:sym typeface="Arial"/>
              </a:rPr>
              <a:t> (e.g., Low Pitch, Slow Rate, Low Loudness)</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AutoNum type="arabicPeriod"/>
            </a:pPr>
            <a:r>
              <a:rPr b="1" i="0" lang="en" sz="1000" u="none" cap="none" strike="noStrike">
                <a:solidFill>
                  <a:schemeClr val="dk1"/>
                </a:solidFill>
                <a:latin typeface="Arial"/>
                <a:ea typeface="Arial"/>
                <a:cs typeface="Arial"/>
                <a:sym typeface="Arial"/>
              </a:rPr>
              <a:t>The Synthesis (Zonos Integration):</a:t>
            </a:r>
            <a:endParaRPr b="1" i="0" sz="1000" u="none" cap="none" strike="noStrike">
              <a:solidFill>
                <a:schemeClr val="dk1"/>
              </a:solidFill>
              <a:latin typeface="Arial"/>
              <a:ea typeface="Arial"/>
              <a:cs typeface="Arial"/>
              <a:sym typeface="Arial"/>
            </a:endParaRPr>
          </a:p>
          <a:p>
            <a:pPr indent="-292100" lvl="0" marL="914400" marR="0" rtl="0" algn="l">
              <a:lnSpc>
                <a:spcPct val="115000"/>
              </a:lnSpc>
              <a:spcBef>
                <a:spcPts val="0"/>
              </a:spcBef>
              <a:spcAft>
                <a:spcPts val="0"/>
              </a:spcAft>
              <a:buClr>
                <a:schemeClr val="dk1"/>
              </a:buClr>
              <a:buSzPts val="1000"/>
              <a:buFont typeface="Arial"/>
              <a:buChar char="●"/>
            </a:pPr>
            <a:r>
              <a:rPr b="0" i="0" lang="en" sz="1000" u="none" cap="none" strike="noStrike">
                <a:solidFill>
                  <a:schemeClr val="dk1"/>
                </a:solidFill>
                <a:latin typeface="Arial"/>
                <a:ea typeface="Arial"/>
                <a:cs typeface="Arial"/>
                <a:sym typeface="Arial"/>
              </a:rPr>
              <a:t>These generated </a:t>
            </a:r>
            <a:r>
              <a:rPr b="1" i="0" lang="en" sz="1000" u="none" cap="none" strike="noStrike">
                <a:solidFill>
                  <a:schemeClr val="dk1"/>
                </a:solidFill>
                <a:latin typeface="Arial"/>
                <a:ea typeface="Arial"/>
                <a:cs typeface="Arial"/>
                <a:sym typeface="Arial"/>
              </a:rPr>
              <a:t>State Directions</a:t>
            </a:r>
            <a:r>
              <a:rPr b="0" i="0" lang="en" sz="1000" u="none" cap="none" strike="noStrike">
                <a:solidFill>
                  <a:schemeClr val="dk1"/>
                </a:solidFill>
                <a:latin typeface="Arial"/>
                <a:ea typeface="Arial"/>
                <a:cs typeface="Arial"/>
                <a:sym typeface="Arial"/>
              </a:rPr>
              <a:t> act as the direct control signals for the </a:t>
            </a:r>
            <a:r>
              <a:rPr b="1" i="0" lang="en" sz="1000" u="none" cap="none" strike="noStrike">
                <a:solidFill>
                  <a:schemeClr val="dk1"/>
                </a:solidFill>
                <a:latin typeface="Arial"/>
                <a:ea typeface="Arial"/>
                <a:cs typeface="Arial"/>
                <a:sym typeface="Arial"/>
              </a:rPr>
              <a:t>Zonos TTS engine</a:t>
            </a:r>
            <a:r>
              <a:rPr b="0" i="0" lang="en" sz="1000" u="none" cap="none" strike="noStrike">
                <a:solidFill>
                  <a:schemeClr val="dk1"/>
                </a:solidFill>
                <a:latin typeface="Arial"/>
                <a:ea typeface="Arial"/>
                <a:cs typeface="Arial"/>
                <a:sym typeface="Arial"/>
              </a:rPr>
              <a:t>, ensuring the final audio perfectly matches the psychological context intended by the script.</a:t>
            </a:r>
            <a:endParaRPr b="0" i="0" sz="1000" u="none" cap="none" strike="noStrike">
              <a:solidFill>
                <a:schemeClr val="dk1"/>
              </a:solidFill>
              <a:latin typeface="Arial"/>
              <a:ea typeface="Arial"/>
              <a:cs typeface="Arial"/>
              <a:sym typeface="Arial"/>
            </a:endParaRPr>
          </a:p>
          <a:p>
            <a:pPr indent="-292100" lvl="0" marL="457200" marR="0" rtl="0" algn="just">
              <a:lnSpc>
                <a:spcPct val="115000"/>
              </a:lnSpc>
              <a:spcBef>
                <a:spcPts val="0"/>
              </a:spcBef>
              <a:spcAft>
                <a:spcPts val="0"/>
              </a:spcAft>
              <a:buClr>
                <a:schemeClr val="dk1"/>
              </a:buClr>
              <a:buSzPts val="1000"/>
              <a:buFont typeface="Arial"/>
              <a:buAutoNum type="arabicPeriod"/>
            </a:pPr>
            <a:r>
              <a:rPr b="1" i="0" lang="en" sz="1000" u="none" cap="none" strike="noStrike">
                <a:solidFill>
                  <a:schemeClr val="dk1"/>
                </a:solidFill>
                <a:latin typeface="Arial"/>
                <a:ea typeface="Arial"/>
                <a:cs typeface="Arial"/>
                <a:sym typeface="Arial"/>
              </a:rPr>
              <a:t>The Dual-Validation System</a:t>
            </a:r>
            <a:endParaRPr b="1" i="0" sz="1000" u="none" cap="none" strike="noStrike">
              <a:solidFill>
                <a:schemeClr val="dk1"/>
              </a:solidFill>
              <a:latin typeface="Arial"/>
              <a:ea typeface="Arial"/>
              <a:cs typeface="Arial"/>
              <a:sym typeface="Arial"/>
            </a:endParaRPr>
          </a:p>
          <a:p>
            <a:pPr indent="-292100" lvl="0" marL="914400" marR="0" rtl="0" algn="just">
              <a:lnSpc>
                <a:spcPct val="115000"/>
              </a:lnSpc>
              <a:spcBef>
                <a:spcPts val="0"/>
              </a:spcBef>
              <a:spcAft>
                <a:spcPts val="0"/>
              </a:spcAft>
              <a:buClr>
                <a:schemeClr val="dk1"/>
              </a:buClr>
              <a:buSzPts val="1000"/>
              <a:buFont typeface="Arial"/>
              <a:buChar char="●"/>
            </a:pPr>
            <a:r>
              <a:rPr b="0" i="0" lang="en" sz="1000" u="none" cap="none" strike="noStrike">
                <a:solidFill>
                  <a:schemeClr val="dk1"/>
                </a:solidFill>
                <a:latin typeface="Arial"/>
                <a:ea typeface="Arial"/>
                <a:cs typeface="Arial"/>
                <a:sym typeface="Arial"/>
              </a:rPr>
              <a:t>Voice analysis (Style Check): Used Whisper-Large-Audio-Captioning to describe the emotional tone of the generated audio (e.g., "A male speaker with a melancholic tone").</a:t>
            </a:r>
            <a:endParaRPr b="0" i="0" sz="1000" u="none" cap="none" strike="noStrike">
              <a:solidFill>
                <a:schemeClr val="dk1"/>
              </a:solidFill>
              <a:latin typeface="Arial"/>
              <a:ea typeface="Arial"/>
              <a:cs typeface="Arial"/>
              <a:sym typeface="Arial"/>
            </a:endParaRPr>
          </a:p>
          <a:p>
            <a:pPr indent="-292100" lvl="0" marL="914400" marR="0" rtl="0" algn="just">
              <a:lnSpc>
                <a:spcPct val="115000"/>
              </a:lnSpc>
              <a:spcBef>
                <a:spcPts val="0"/>
              </a:spcBef>
              <a:spcAft>
                <a:spcPts val="0"/>
              </a:spcAft>
              <a:buClr>
                <a:schemeClr val="dk1"/>
              </a:buClr>
              <a:buSzPts val="1000"/>
              <a:buFont typeface="Arial"/>
              <a:buChar char="●"/>
            </a:pPr>
            <a:r>
              <a:rPr b="0" i="0" lang="en" sz="1000" u="none" cap="none" strike="noStrike">
                <a:solidFill>
                  <a:schemeClr val="dk1"/>
                </a:solidFill>
                <a:latin typeface="Arial"/>
                <a:ea typeface="Arial"/>
                <a:cs typeface="Arial"/>
                <a:sym typeface="Arial"/>
              </a:rPr>
              <a:t>Transcript Verification (Content Check): Used Whisper-Large-V3 to transcribe the audio back to text.</a:t>
            </a:r>
            <a:endParaRPr b="0" i="0" sz="1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000"/>
              <a:buFont typeface="Arial"/>
              <a:buNone/>
            </a:pPr>
            <a:r>
              <a:rPr b="1" i="0" lang="en" sz="1000" u="none" cap="none" strike="noStrike">
                <a:solidFill>
                  <a:schemeClr val="dk1"/>
                </a:solidFill>
                <a:latin typeface="Arial"/>
                <a:ea typeface="Arial"/>
                <a:cs typeface="Arial"/>
                <a:sym typeface="Arial"/>
              </a:rPr>
              <a:t>				</a:t>
            </a:r>
            <a:endParaRPr b="1" i="0" sz="1000" u="none" cap="none" strike="noStrike">
              <a:solidFill>
                <a:schemeClr val="dk1"/>
              </a:solidFill>
              <a:latin typeface="Arial"/>
              <a:ea typeface="Arial"/>
              <a:cs typeface="Arial"/>
              <a:sym typeface="Arial"/>
            </a:endParaRPr>
          </a:p>
        </p:txBody>
      </p:sp>
      <p:sp>
        <p:nvSpPr>
          <p:cNvPr id="173" name="Google Shape;173;g3b197556fe3_0_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74" name="Google Shape;174;g3b197556fe3_0_12"/>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b3a6f2c615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180" name="TextBox 179"/>
          <p:cNvSpPr txBox="1"/>
          <p:nvPr/>
        </p:nvSpPr>
        <p:spPr>
          <a:xfrm>
            <a:off x="400000" y="100000"/>
            <a:ext cx="8200000" cy="350000"/>
          </a:xfrm>
          <a:prstGeom prst="rect">
            <a:avLst/>
          </a:prstGeom>
          <a:noFill/>
        </p:spPr>
        <p:txBody>
          <a:bodyPr wrap="none">
            <a:spAutoFit/>
          </a:bodyPr>
          <a:lstStyle/>
          <a:p>
            <a:pPr>
              <a:defRPr sz="2200" b="1">
                <a:solidFill>
                  <a:srgbClr val="003366"/>
                </a:solidFill>
              </a:defRPr>
            </a:pPr>
            <a:r>
              <a:t>3.2 FRAMEWORK: DATASET &amp; PREPROCESSING PIPELINE</a:t>
            </a:r>
          </a:p>
        </p:txBody>
      </p:sp>
      <p:pic>
        <p:nvPicPr>
          <p:cNvPr id="181" name="Picture 180" descr="framework_pipeline_slide.png"/>
          <p:cNvPicPr>
            <a:picLocks noChangeAspect="1"/>
          </p:cNvPicPr>
          <p:nvPr/>
        </p:nvPicPr>
        <p:blipFill>
          <a:blip r:embed="rId6"/>
          <a:stretch>
            <a:fillRect/>
          </a:stretch>
        </p:blipFill>
        <p:spPr>
          <a:xfrm>
            <a:off x="200000" y="500000"/>
            <a:ext cx="8744000" cy="445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9" name="Google Shape;189;g3b197556fe3_0_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90" name="TextBox 189"/>
          <p:cNvSpPr txBox="1"/>
          <p:nvPr/>
        </p:nvSpPr>
        <p:spPr>
          <a:xfrm>
            <a:off x="400000" y="150000"/>
            <a:ext cx="8200000" cy="350000"/>
          </a:xfrm>
          <a:prstGeom prst="rect">
            <a:avLst/>
          </a:prstGeom>
          <a:noFill/>
        </p:spPr>
        <p:txBody>
          <a:bodyPr wrap="none">
            <a:spAutoFit/>
          </a:bodyPr>
          <a:lstStyle/>
          <a:p>
            <a:pPr>
              <a:defRPr sz="2200" b="1">
                <a:solidFill>
                  <a:srgbClr val="003366"/>
                </a:solidFill>
              </a:defRPr>
            </a:pPr>
            <a:r>
              <a:t>3.3 PREPROCESSING: Feature Extraction</a:t>
            </a:r>
          </a:p>
        </p:txBody>
      </p:sp>
      <p:sp>
        <p:nvSpPr>
          <p:cNvPr id="191" name="TextBox 190"/>
          <p:cNvSpPr txBox="1"/>
          <p:nvPr/>
        </p:nvSpPr>
        <p:spPr>
          <a:xfrm>
            <a:off x="400000" y="520000"/>
            <a:ext cx="8200000" cy="4400000"/>
          </a:xfrm>
          <a:prstGeom prst="rect">
            <a:avLst/>
          </a:prstGeom>
          <a:noFill/>
        </p:spPr>
        <p:txBody>
          <a:bodyPr wrap="square">
            <a:spAutoFit/>
          </a:bodyPr>
          <a:lstStyle/>
          <a:p>
            <a:pPr>
              <a:spcAft>
                <a:spcPts val="100"/>
              </a:spcAft>
              <a:defRPr sz="1600" b="1"/>
            </a:pPr>
            <a:r>
              <a:t>1. The Objective:</a:t>
            </a:r>
          </a:p>
          <a:p>
            <a:pPr>
              <a:spcAft>
                <a:spcPts val="100"/>
              </a:spcAft>
              <a:defRPr sz="1100" b="0"/>
            </a:pPr>
            <a:r>
              <a:t>Transform raw audio into structured prosodic features representing emotional state.</a:t>
            </a:r>
          </a:p>
          <a:p>
            <a:pPr>
              <a:spcAft>
                <a:spcPts val="100"/>
              </a:spcAft>
              <a:defRPr sz="1100" b="0"/>
            </a:pPr>
            <a:r>
              <a:t>Make unstructured audio understandable for the therapist generation pipeline.</a:t>
            </a:r>
          </a:p>
          <a:p>
            <a:pPr>
              <a:spcAft>
                <a:spcPts val="100"/>
              </a:spcAft>
              <a:defRPr sz="500" b="0"/>
            </a:pPr>
          </a:p>
          <a:p>
            <a:pPr>
              <a:spcAft>
                <a:spcPts val="100"/>
              </a:spcAft>
              <a:defRPr sz="1600" b="1"/>
            </a:pPr>
            <a:r>
              <a:t>2. The Pipeline:</a:t>
            </a:r>
          </a:p>
          <a:p>
            <a:pPr>
              <a:spcAft>
                <a:spcPts val="100"/>
              </a:spcAft>
              <a:defRPr sz="300" b="0"/>
            </a:pPr>
          </a:p>
          <a:p>
            <a:pPr>
              <a:spcAft>
                <a:spcPts val="100"/>
              </a:spcAft>
              <a:defRPr sz="1300" b="1"/>
            </a:pPr>
            <a:r>
              <a:t>Step 1: Audio Segmentation</a:t>
            </a:r>
          </a:p>
          <a:p>
            <a:pPr>
              <a:spcAft>
                <a:spcPts val="100"/>
              </a:spcAft>
              <a:defRPr sz="1100" b="0"/>
            </a:pPr>
            <a:r>
              <a:t>  Segments audio into utterance-level chunks using Zonos synthesis boundaries.</a:t>
            </a:r>
          </a:p>
          <a:p>
            <a:pPr>
              <a:spcAft>
                <a:spcPts val="100"/>
              </a:spcAft>
              <a:defRPr sz="1100" b="0"/>
            </a:pPr>
            <a:r>
              <a:t>  Isolates each client utterance for independent feature extraction.</a:t>
            </a:r>
          </a:p>
          <a:p>
            <a:pPr>
              <a:spcAft>
                <a:spcPts val="100"/>
              </a:spcAft>
              <a:defRPr sz="300" b="0"/>
            </a:pPr>
          </a:p>
          <a:p>
            <a:pPr>
              <a:spcAft>
                <a:spcPts val="100"/>
              </a:spcAft>
              <a:defRPr sz="1300" b="1"/>
            </a:pPr>
            <a:r>
              <a:t>Step 2: Dual-Channel Emotion Extraction (vad-bert + WavLM + librosa)</a:t>
            </a:r>
          </a:p>
          <a:p>
            <a:pPr>
              <a:spcAft>
                <a:spcPts val="100"/>
              </a:spcAft>
              <a:defRPr sz="1100" b="0"/>
            </a:pPr>
            <a:r>
              <a:t>  Text VA (vad-bert): Valence &amp; Arousal from transcript</a:t>
            </a:r>
          </a:p>
          <a:p>
            <a:pPr>
              <a:spcAft>
                <a:spcPts val="100"/>
              </a:spcAft>
              <a:defRPr sz="1100" b="0"/>
            </a:pPr>
            <a:r>
              <a:t>  Speech VA (WavLM): Valence &amp; Arousal from audio waveform</a:t>
            </a:r>
          </a:p>
          <a:p>
            <a:pPr>
              <a:spcAft>
                <a:spcPts val="100"/>
              </a:spcAft>
              <a:defRPr sz="1100" b="0"/>
            </a:pPr>
            <a:r>
              <a:t>  Vocal Descriptors (librosa): Pitch (F0), Loudness (RMS), Speaking Rate</a:t>
            </a:r>
          </a:p>
          <a:p>
            <a:pPr>
              <a:spcAft>
                <a:spcPts val="100"/>
              </a:spcAft>
              <a:defRPr sz="1000" b="0">
                <a:solidFill>
                  <a:srgbClr val="005000"/>
                </a:solidFill>
              </a:defRPr>
            </a:pPr>
            <a:r>
              <a:t>    e.g. pitch: 180 Hz, RMS: 0.06, rate: 3.2 w/s (ACTUAL audio measurement)</a:t>
            </a:r>
          </a:p>
          <a:p>
            <a:pPr>
              <a:spcAft>
                <a:spcPts val="100"/>
              </a:spcAft>
              <a:defRPr sz="1000" b="0">
                <a:solidFill>
                  <a:srgbClr val="B40000"/>
                </a:solidFill>
              </a:defRPr>
            </a:pPr>
            <a:r>
              <a:t>    NOT Zonos Director pre-synthesis targets (speaking_rate: 15, pitch_std: 100)</a:t>
            </a:r>
          </a:p>
          <a:p>
            <a:pPr>
              <a:spcAft>
                <a:spcPts val="100"/>
              </a:spcAft>
              <a:defRPr sz="300" b="0"/>
            </a:pPr>
          </a:p>
          <a:p>
            <a:pPr>
              <a:spcAft>
                <a:spcPts val="100"/>
              </a:spcAft>
              <a:defRPr sz="1300" b="1"/>
            </a:pPr>
            <a:r>
              <a:t>Step 3: Dissonance Computation</a:t>
            </a:r>
          </a:p>
          <a:p>
            <a:pPr>
              <a:spcAft>
                <a:spcPts val="100"/>
              </a:spcAft>
              <a:defRPr sz="1100" b="0"/>
            </a:pPr>
            <a:r>
              <a:t>  delta_V = V_speech - V_text,  delta_A = A_speech - A_text</a:t>
            </a:r>
          </a:p>
          <a:p>
            <a:pPr>
              <a:spcAft>
                <a:spcPts val="100"/>
              </a:spcAft>
              <a:defRPr sz="1100" b="0"/>
            </a:pPr>
            <a:r>
              <a:t>  Flag dissonance if |delta| &gt;= 0.5 in either dimension</a:t>
            </a:r>
          </a:p>
          <a:p>
            <a:pPr>
              <a:spcAft>
                <a:spcPts val="100"/>
              </a:spcAft>
              <a:defRPr sz="1100" b="0"/>
            </a:pPr>
            <a:r>
              <a:t>  Use as therapeutic signal: hidden affect -&gt; gentle exploration</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b197556fe3_0_29"/>
          <p:cNvSpPr txBox="1"/>
          <p:nvPr/>
        </p:nvSpPr>
        <p:spPr>
          <a:xfrm>
            <a:off x="418025" y="468350"/>
            <a:ext cx="5715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3.4 Models for Therapist Generation</a:t>
            </a:r>
            <a:endParaRPr b="1" i="0" sz="2300" u="none" cap="none" strike="noStrike">
              <a:solidFill>
                <a:srgbClr val="252827"/>
              </a:solidFill>
              <a:latin typeface="Oswald"/>
              <a:ea typeface="Oswald"/>
              <a:cs typeface="Oswald"/>
              <a:sym typeface="Oswald"/>
            </a:endParaRPr>
          </a:p>
        </p:txBody>
      </p:sp>
      <p:sp>
        <p:nvSpPr>
          <p:cNvPr id="196" name="Google Shape;196;g3b197556fe3_0_29"/>
          <p:cNvSpPr/>
          <p:nvPr/>
        </p:nvSpPr>
        <p:spPr>
          <a:xfrm>
            <a:off x="510450" y="1382525"/>
            <a:ext cx="7902300" cy="3084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Model Architecture:</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Large Language Model (LLM):</a:t>
            </a:r>
            <a:r>
              <a:rPr b="0" i="0" lang="en" sz="1100" u="none" cap="none" strike="noStrike">
                <a:solidFill>
                  <a:schemeClr val="dk1"/>
                </a:solidFill>
                <a:latin typeface="Arial"/>
                <a:ea typeface="Arial"/>
                <a:cs typeface="Arial"/>
                <a:sym typeface="Arial"/>
              </a:rPr>
              <a:t> Utilized </a:t>
            </a:r>
            <a:r>
              <a:rPr b="1" i="0" lang="en" sz="1100" u="none" cap="none" strike="noStrike">
                <a:solidFill>
                  <a:schemeClr val="dk1"/>
                </a:solidFill>
                <a:latin typeface="Arial"/>
                <a:ea typeface="Arial"/>
                <a:cs typeface="Arial"/>
                <a:sym typeface="Arial"/>
              </a:rPr>
              <a:t>GPT-4o mini</a:t>
            </a:r>
            <a:r>
              <a:rPr b="0" i="0" lang="en" sz="1100" u="none" cap="none" strike="noStrike">
                <a:solidFill>
                  <a:schemeClr val="dk1"/>
                </a:solidFill>
                <a:latin typeface="Arial"/>
                <a:ea typeface="Arial"/>
                <a:cs typeface="Arial"/>
                <a:sym typeface="Arial"/>
              </a:rPr>
              <a:t> via API.</a:t>
            </a: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Input Data:</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Context-Only:</a:t>
            </a:r>
            <a:r>
              <a:rPr b="0" i="0" lang="en" sz="1100" u="none" cap="none" strike="noStrike">
                <a:solidFill>
                  <a:schemeClr val="dk1"/>
                </a:solidFill>
                <a:latin typeface="Arial"/>
                <a:ea typeface="Arial"/>
                <a:cs typeface="Arial"/>
                <a:sym typeface="Arial"/>
              </a:rPr>
              <a:t> Receives </a:t>
            </a:r>
            <a:r>
              <a:rPr b="1" i="0" lang="en" sz="1100" u="none" cap="none" strike="noStrike">
                <a:solidFill>
                  <a:schemeClr val="dk1"/>
                </a:solidFill>
                <a:latin typeface="Arial"/>
                <a:ea typeface="Arial"/>
                <a:cs typeface="Arial"/>
                <a:sym typeface="Arial"/>
              </a:rPr>
              <a:t>pure text transcripts</a:t>
            </a:r>
            <a:r>
              <a:rPr b="0" i="0" lang="en" sz="1100" u="none" cap="none" strike="noStrike">
                <a:solidFill>
                  <a:schemeClr val="dk1"/>
                </a:solidFill>
                <a:latin typeface="Arial"/>
                <a:ea typeface="Arial"/>
                <a:cs typeface="Arial"/>
                <a:sym typeface="Arial"/>
              </a:rPr>
              <a:t> of the dialogue history (e.g., previous turns + current client utterance).</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Blind to Audio:</a:t>
            </a:r>
            <a:r>
              <a:rPr b="0" i="0" lang="en" sz="1100" u="none" cap="none" strike="noStrike">
                <a:solidFill>
                  <a:schemeClr val="dk1"/>
                </a:solidFill>
                <a:latin typeface="Arial"/>
                <a:ea typeface="Arial"/>
                <a:cs typeface="Arial"/>
                <a:sym typeface="Arial"/>
              </a:rPr>
              <a:t> Crucially, this model has </a:t>
            </a:r>
            <a:r>
              <a:rPr b="1" i="0" lang="en" sz="1100" u="none" cap="none" strike="noStrike">
                <a:solidFill>
                  <a:schemeClr val="dk1"/>
                </a:solidFill>
                <a:latin typeface="Arial"/>
                <a:ea typeface="Arial"/>
                <a:cs typeface="Arial"/>
                <a:sym typeface="Arial"/>
              </a:rPr>
              <a:t>zero access</a:t>
            </a:r>
            <a:r>
              <a:rPr b="0" i="0" lang="en" sz="1100" u="none" cap="none" strike="noStrike">
                <a:solidFill>
                  <a:schemeClr val="dk1"/>
                </a:solidFill>
                <a:latin typeface="Arial"/>
                <a:ea typeface="Arial"/>
                <a:cs typeface="Arial"/>
                <a:sym typeface="Arial"/>
              </a:rPr>
              <a:t> to acoustic features (pitch, loudness, speed).</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Objective:</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To establish the </a:t>
            </a:r>
            <a:r>
              <a:rPr b="1" i="0" lang="en" sz="1100" u="none" cap="none" strike="noStrike">
                <a:solidFill>
                  <a:schemeClr val="dk1"/>
                </a:solidFill>
                <a:latin typeface="Arial"/>
                <a:ea typeface="Arial"/>
                <a:cs typeface="Arial"/>
                <a:sym typeface="Arial"/>
              </a:rPr>
              <a:t>"Text-Only Performance Ceiling"</a:t>
            </a:r>
            <a:r>
              <a:rPr b="0" i="0" lang="en"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This represents how well a state-of-the-art AI can understand the client's cognitive state using </a:t>
            </a:r>
            <a:r>
              <a:rPr b="1" i="0" lang="en" sz="1100" u="none" cap="none" strike="noStrike">
                <a:solidFill>
                  <a:schemeClr val="dk1"/>
                </a:solidFill>
                <a:latin typeface="Arial"/>
                <a:ea typeface="Arial"/>
                <a:cs typeface="Arial"/>
                <a:sym typeface="Arial"/>
              </a:rPr>
              <a:t>semantic content alone</a:t>
            </a:r>
            <a:r>
              <a:rPr b="0" i="0" lang="en" sz="1100" u="none" cap="none" strike="noStrike">
                <a:solidFill>
                  <a:schemeClr val="dk1"/>
                </a:solidFill>
                <a:latin typeface="Arial"/>
                <a:ea typeface="Arial"/>
                <a:cs typeface="Arial"/>
                <a:sym typeface="Arial"/>
              </a:rPr>
              <a:t>, serving as the benchmark to measure the added value of vocal cues.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just">
              <a:lnSpc>
                <a:spcPct val="150000"/>
              </a:lnSpc>
              <a:spcBef>
                <a:spcPts val="1599"/>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97" name="Google Shape;197;g3b197556fe3_0_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98" name="Google Shape;198;g3b197556fe3_0_29"/>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199" name="Google Shape;199;g3b197556fe3_0_29"/>
          <p:cNvSpPr txBox="1"/>
          <p:nvPr/>
        </p:nvSpPr>
        <p:spPr>
          <a:xfrm>
            <a:off x="1157250" y="918150"/>
            <a:ext cx="4057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400"/>
              <a:buFont typeface="Arial"/>
              <a:buNone/>
            </a:pPr>
            <a:r>
              <a:rPr b="1" i="0" lang="en" sz="1400" u="none" cap="none" strike="noStrike">
                <a:solidFill>
                  <a:schemeClr val="dk1"/>
                </a:solidFill>
                <a:latin typeface="Arial"/>
                <a:ea typeface="Arial"/>
                <a:cs typeface="Arial"/>
                <a:sym typeface="Arial"/>
              </a:rPr>
              <a:t>Baseline (Text-Only)</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dc5e29e8ee_0_0"/>
          <p:cNvSpPr txBox="1"/>
          <p:nvPr/>
        </p:nvSpPr>
        <p:spPr>
          <a:xfrm>
            <a:off x="418025" y="468350"/>
            <a:ext cx="5715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3.4 Therapist Generation Conditions</a:t>
            </a:r>
            <a:endParaRPr b="1" i="0" sz="2300" u="none" cap="none" strike="noStrike">
              <a:solidFill>
                <a:srgbClr val="252827"/>
              </a:solidFill>
              <a:latin typeface="Oswald"/>
              <a:ea typeface="Oswald"/>
              <a:cs typeface="Oswald"/>
              <a:sym typeface="Oswald"/>
            </a:endParaRPr>
          </a:p>
        </p:txBody>
      </p:sp>
      <p:sp>
        <p:nvSpPr>
          <p:cNvPr id="205" name="Google Shape;205;g3dc5e29e8ee_0_0"/>
          <p:cNvSpPr/>
          <p:nvPr/>
        </p:nvSpPr>
        <p:spPr>
          <a:xfrm>
            <a:off x="510450" y="1382525"/>
            <a:ext cx="7902300" cy="3084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Model Architecture:</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Large Language Model (LLM):</a:t>
            </a:r>
            <a:r>
              <a:rPr b="0" i="0" lang="en" sz="1100" u="none" cap="none" strike="noStrike">
                <a:solidFill>
                  <a:schemeClr val="dk1"/>
                </a:solidFill>
                <a:latin typeface="Arial"/>
                <a:ea typeface="Arial"/>
                <a:cs typeface="Arial"/>
                <a:sym typeface="Arial"/>
              </a:rPr>
              <a:t> Utilized </a:t>
            </a:r>
            <a:r>
              <a:rPr b="1" i="0" lang="en" sz="1100" u="none" cap="none" strike="noStrike">
                <a:solidFill>
                  <a:schemeClr val="dk1"/>
                </a:solidFill>
                <a:latin typeface="Arial"/>
                <a:ea typeface="Arial"/>
                <a:cs typeface="Arial"/>
                <a:sym typeface="Arial"/>
              </a:rPr>
              <a:t>GPT-4o mini</a:t>
            </a:r>
            <a:r>
              <a:rPr b="0" i="0" lang="en" sz="1100" u="none" cap="none" strike="noStrike">
                <a:solidFill>
                  <a:schemeClr val="dk1"/>
                </a:solidFill>
                <a:latin typeface="Arial"/>
                <a:ea typeface="Arial"/>
                <a:cs typeface="Arial"/>
                <a:sym typeface="Arial"/>
              </a:rPr>
              <a:t> via API.</a:t>
            </a: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Input Data:</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Context-Only with VA </a:t>
            </a:r>
            <a:r>
              <a:rPr b="1" lang="en" sz="1100">
                <a:solidFill>
                  <a:schemeClr val="dk1"/>
                </a:solidFill>
              </a:rPr>
              <a:t>added</a:t>
            </a:r>
            <a:r>
              <a:rPr b="1" i="0" lang="en" sz="1100" u="none" cap="none" strike="noStrike">
                <a:solidFill>
                  <a:schemeClr val="dk1"/>
                </a:solidFill>
                <a:latin typeface="Arial"/>
                <a:ea typeface="Arial"/>
                <a:cs typeface="Arial"/>
                <a:sym typeface="Arial"/>
              </a:rPr>
              <a:t>:</a:t>
            </a:r>
            <a:r>
              <a:rPr b="0" i="0" lang="en" sz="1100" u="none" cap="none" strike="noStrike">
                <a:solidFill>
                  <a:schemeClr val="dk1"/>
                </a:solidFill>
                <a:latin typeface="Arial"/>
                <a:ea typeface="Arial"/>
                <a:cs typeface="Arial"/>
                <a:sym typeface="Arial"/>
              </a:rPr>
              <a:t> Receives </a:t>
            </a:r>
            <a:r>
              <a:rPr b="1" i="0" lang="en" sz="1100" u="none" cap="none" strike="noStrike">
                <a:solidFill>
                  <a:schemeClr val="dk1"/>
                </a:solidFill>
                <a:latin typeface="Arial"/>
                <a:ea typeface="Arial"/>
                <a:cs typeface="Arial"/>
                <a:sym typeface="Arial"/>
              </a:rPr>
              <a:t>pure text transcripts</a:t>
            </a:r>
            <a:r>
              <a:rPr b="0" i="0" lang="en" sz="1100" u="none" cap="none" strike="noStrike">
                <a:solidFill>
                  <a:schemeClr val="dk1"/>
                </a:solidFill>
                <a:latin typeface="Arial"/>
                <a:ea typeface="Arial"/>
                <a:cs typeface="Arial"/>
                <a:sym typeface="Arial"/>
              </a:rPr>
              <a:t> of the dialogue history (e.g., previous turns + current client utterance) </a:t>
            </a:r>
            <a:r>
              <a:rPr lang="en" sz="1100">
                <a:solidFill>
                  <a:schemeClr val="dk1"/>
                </a:solidFill>
              </a:rPr>
              <a:t>+ </a:t>
            </a:r>
            <a:r>
              <a:rPr lang="en" sz="1100">
                <a:solidFill>
                  <a:schemeClr val="dk1"/>
                </a:solidFill>
              </a:rPr>
              <a:t>valence</a:t>
            </a:r>
            <a:r>
              <a:rPr lang="en" sz="1100">
                <a:solidFill>
                  <a:schemeClr val="dk1"/>
                </a:solidFill>
              </a:rPr>
              <a:t> and </a:t>
            </a:r>
            <a:r>
              <a:rPr lang="en" sz="1100">
                <a:solidFill>
                  <a:schemeClr val="dk1"/>
                </a:solidFill>
              </a:rPr>
              <a:t>arousal</a:t>
            </a:r>
            <a:r>
              <a:rPr lang="en" sz="1100">
                <a:solidFill>
                  <a:schemeClr val="dk1"/>
                </a:solidFill>
              </a:rPr>
              <a:t> values to guide the LLM to understand the current emotional state more clearly</a:t>
            </a:r>
            <a:r>
              <a:rPr b="0" i="0" lang="en"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Blind to Audio:</a:t>
            </a:r>
            <a:r>
              <a:rPr b="0" i="0" lang="en" sz="1100" u="none" cap="none" strike="noStrike">
                <a:solidFill>
                  <a:schemeClr val="dk1"/>
                </a:solidFill>
                <a:latin typeface="Arial"/>
                <a:ea typeface="Arial"/>
                <a:cs typeface="Arial"/>
                <a:sym typeface="Arial"/>
              </a:rPr>
              <a:t> Crucially, this model still has </a:t>
            </a:r>
            <a:r>
              <a:rPr b="1" i="0" lang="en" sz="1100" u="none" cap="none" strike="noStrike">
                <a:solidFill>
                  <a:schemeClr val="dk1"/>
                </a:solidFill>
                <a:latin typeface="Arial"/>
                <a:ea typeface="Arial"/>
                <a:cs typeface="Arial"/>
                <a:sym typeface="Arial"/>
              </a:rPr>
              <a:t>zero access</a:t>
            </a:r>
            <a:r>
              <a:rPr b="0" i="0" lang="en" sz="1100" u="none" cap="none" strike="noStrike">
                <a:solidFill>
                  <a:schemeClr val="dk1"/>
                </a:solidFill>
                <a:latin typeface="Arial"/>
                <a:ea typeface="Arial"/>
                <a:cs typeface="Arial"/>
                <a:sym typeface="Arial"/>
              </a:rPr>
              <a:t> to acoustic features (pitch, loudness, speed).</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Objective:</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To establish the </a:t>
            </a:r>
            <a:r>
              <a:rPr b="1" i="0" lang="en" sz="1100" u="none" cap="none" strike="noStrike">
                <a:solidFill>
                  <a:schemeClr val="dk1"/>
                </a:solidFill>
                <a:latin typeface="Arial"/>
                <a:ea typeface="Arial"/>
                <a:cs typeface="Arial"/>
                <a:sym typeface="Arial"/>
              </a:rPr>
              <a:t>"Text-Only with </a:t>
            </a:r>
            <a:r>
              <a:rPr b="1" lang="en" sz="1100">
                <a:solidFill>
                  <a:schemeClr val="dk1"/>
                </a:solidFill>
              </a:rPr>
              <a:t>the </a:t>
            </a:r>
            <a:r>
              <a:rPr b="1" lang="en" sz="1100">
                <a:solidFill>
                  <a:schemeClr val="dk1"/>
                </a:solidFill>
              </a:rPr>
              <a:t>addition</a:t>
            </a:r>
            <a:r>
              <a:rPr b="1" lang="en" sz="1100">
                <a:solidFill>
                  <a:schemeClr val="dk1"/>
                </a:solidFill>
              </a:rPr>
              <a:t> of VA values </a:t>
            </a:r>
            <a:r>
              <a:rPr b="1" i="0" lang="en" sz="1100" u="none" cap="none" strike="noStrike">
                <a:solidFill>
                  <a:schemeClr val="dk1"/>
                </a:solidFill>
                <a:latin typeface="Arial"/>
                <a:ea typeface="Arial"/>
                <a:cs typeface="Arial"/>
                <a:sym typeface="Arial"/>
              </a:rPr>
              <a:t>Performance Ceiling"</a:t>
            </a:r>
            <a:r>
              <a:rPr b="0" i="0" lang="en"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This represents how </a:t>
            </a:r>
            <a:r>
              <a:rPr lang="en" sz="1100">
                <a:solidFill>
                  <a:schemeClr val="dk1"/>
                </a:solidFill>
              </a:rPr>
              <a:t>effective of LLMs response via </a:t>
            </a:r>
            <a:r>
              <a:rPr lang="en" sz="1100">
                <a:solidFill>
                  <a:schemeClr val="dk1"/>
                </a:solidFill>
              </a:rPr>
              <a:t>added VA values to LLMs</a:t>
            </a:r>
            <a:r>
              <a:rPr b="0" i="0" lang="en" sz="1100" u="none" cap="none" strike="noStrike">
                <a:solidFill>
                  <a:schemeClr val="dk1"/>
                </a:solidFill>
                <a:latin typeface="Arial"/>
                <a:ea typeface="Arial"/>
                <a:cs typeface="Arial"/>
                <a:sym typeface="Arial"/>
              </a:rPr>
              <a:t> </a:t>
            </a:r>
            <a:r>
              <a:rPr lang="en" sz="1100">
                <a:solidFill>
                  <a:schemeClr val="dk1"/>
                </a:solidFill>
              </a:rPr>
              <a:t>that</a:t>
            </a:r>
            <a:r>
              <a:rPr b="0" i="0" lang="en" sz="1100" u="none" cap="none" strike="noStrike">
                <a:solidFill>
                  <a:schemeClr val="dk1"/>
                </a:solidFill>
                <a:latin typeface="Arial"/>
                <a:ea typeface="Arial"/>
                <a:cs typeface="Arial"/>
                <a:sym typeface="Arial"/>
              </a:rPr>
              <a:t> c</a:t>
            </a:r>
            <a:r>
              <a:rPr lang="en" sz="1100">
                <a:solidFill>
                  <a:schemeClr val="dk1"/>
                </a:solidFill>
              </a:rPr>
              <a:t>ould</a:t>
            </a:r>
            <a:r>
              <a:rPr b="0" i="0" lang="en" sz="1100" u="none" cap="none" strike="noStrike">
                <a:solidFill>
                  <a:schemeClr val="dk1"/>
                </a:solidFill>
                <a:latin typeface="Arial"/>
                <a:ea typeface="Arial"/>
                <a:cs typeface="Arial"/>
                <a:sym typeface="Arial"/>
              </a:rPr>
              <a:t> help in </a:t>
            </a:r>
            <a:r>
              <a:rPr lang="en" sz="1100">
                <a:solidFill>
                  <a:schemeClr val="dk1"/>
                </a:solidFill>
              </a:rPr>
              <a:t>more </a:t>
            </a:r>
            <a:r>
              <a:rPr lang="en" sz="1100">
                <a:solidFill>
                  <a:schemeClr val="dk1"/>
                </a:solidFill>
              </a:rPr>
              <a:t>emphatic</a:t>
            </a:r>
            <a:r>
              <a:rPr lang="en" sz="1100">
                <a:solidFill>
                  <a:schemeClr val="dk1"/>
                </a:solidFill>
              </a:rPr>
              <a:t> feel for</a:t>
            </a:r>
            <a:r>
              <a:rPr b="0" i="0" lang="en" sz="1100" u="none" cap="none" strike="noStrike">
                <a:solidFill>
                  <a:schemeClr val="dk1"/>
                </a:solidFill>
                <a:latin typeface="Arial"/>
                <a:ea typeface="Arial"/>
                <a:cs typeface="Arial"/>
                <a:sym typeface="Arial"/>
              </a:rPr>
              <a:t> the client's cognitive state compared to the baseline model</a:t>
            </a:r>
            <a:r>
              <a:rPr lang="en" sz="1100">
                <a:solidFill>
                  <a:schemeClr val="dk1"/>
                </a:solidFill>
              </a:rPr>
              <a:t>.</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just">
              <a:lnSpc>
                <a:spcPct val="150000"/>
              </a:lnSpc>
              <a:spcBef>
                <a:spcPts val="1599"/>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06" name="Google Shape;206;g3dc5e29e8ee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07" name="Google Shape;207;g3dc5e29e8ee_0_0"/>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208" name="Google Shape;208;g3dc5e29e8ee_0_0"/>
          <p:cNvSpPr txBox="1"/>
          <p:nvPr/>
        </p:nvSpPr>
        <p:spPr>
          <a:xfrm>
            <a:off x="1157250" y="918150"/>
            <a:ext cx="479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400"/>
              <a:buFont typeface="Arial"/>
              <a:buNone/>
            </a:pPr>
            <a:r>
              <a:rPr b="1" lang="en">
                <a:solidFill>
                  <a:schemeClr val="dk1"/>
                </a:solidFill>
              </a:rPr>
              <a:t>Emotion (Text-Only + VA) (The Text-Only with VA outputs)</a:t>
            </a:r>
            <a:r>
              <a:rPr b="1" i="0" lang="en" sz="1400" u="none" cap="none" strike="noStrike">
                <a:solidFill>
                  <a:schemeClr val="dk1"/>
                </a:solidFill>
                <a:latin typeface="Arial"/>
                <a:ea typeface="Arial"/>
                <a:cs typeface="Arial"/>
                <a:sym typeface="Arial"/>
              </a:rPr>
              <a:t/>
            </a:r>
            <a:r>
              <a:rPr b="1" i="0" lang="en" sz="1400" u="none" cap="none" strike="noStrike">
                <a:solidFill>
                  <a:schemeClr val="dk1"/>
                </a:solidFill>
                <a:latin typeface="Arial"/>
                <a:ea typeface="Arial"/>
                <a:cs typeface="Arial"/>
                <a:sym typeface="Arial"/>
              </a:rPr>
              <a:t/>
            </a:r>
            <a:r>
              <a:rPr b="1" i="0" lang="en" sz="1400" u="none" cap="none" strike="noStrike">
                <a:solidFill>
                  <a:schemeClr val="dk1"/>
                </a:solidFill>
                <a:latin typeface="Arial"/>
                <a:ea typeface="Arial"/>
                <a:cs typeface="Arial"/>
                <a:sym typeface="Arial"/>
              </a:rPr>
              <a:t/>
            </a:r>
            <a:r>
              <a:rPr b="1" i="0" lang="en" sz="1400" u="none" cap="none" strike="noStrike">
                <a:solidFill>
                  <a:schemeClr val="dk1"/>
                </a:solidFill>
                <a:latin typeface="Arial"/>
                <a:ea typeface="Arial"/>
                <a:cs typeface="Arial"/>
                <a:sym typeface="Arial"/>
              </a:rPr>
              <a:t/>
            </a:r>
            <a:r>
              <a:rPr b="1" lang="en">
                <a:solidFill>
                  <a:schemeClr val="dk1"/>
                </a:solidFill>
              </a:rPr>
              <a:t/>
            </a:r>
            <a:r>
              <a:rPr b="1" i="0" lang="en" sz="1400" u="none" cap="none" strike="noStrike">
                <a:solidFill>
                  <a:schemeClr val="dk1"/>
                </a:solidFill>
                <a:latin typeface="Arial"/>
                <a:ea typeface="Arial"/>
                <a:cs typeface="Arial"/>
                <a:sym typeface="Arial"/>
              </a:rPr>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b197556fe3_0_41"/>
          <p:cNvSpPr txBox="1"/>
          <p:nvPr/>
        </p:nvSpPr>
        <p:spPr>
          <a:xfrm>
            <a:off x="418025" y="468350"/>
            <a:ext cx="5715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3.4 Therapist Generation Conditions</a:t>
            </a:r>
            <a:endParaRPr b="1" i="0" sz="2300" u="none" cap="none" strike="noStrike">
              <a:solidFill>
                <a:srgbClr val="252827"/>
              </a:solidFill>
              <a:latin typeface="Oswald"/>
              <a:ea typeface="Oswald"/>
              <a:cs typeface="Oswald"/>
              <a:sym typeface="Oswald"/>
            </a:endParaRPr>
          </a:p>
        </p:txBody>
      </p:sp>
      <p:sp>
        <p:nvSpPr>
          <p:cNvPr id="214" name="Google Shape;214;g3b197556fe3_0_41"/>
          <p:cNvSpPr/>
          <p:nvPr/>
        </p:nvSpPr>
        <p:spPr>
          <a:xfrm>
            <a:off x="510450" y="1240225"/>
            <a:ext cx="7902300" cy="3661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000" u="none" cap="none" strike="noStrike">
                <a:solidFill>
                  <a:schemeClr val="dk1"/>
                </a:solidFill>
                <a:latin typeface="Arial"/>
                <a:ea typeface="Arial"/>
                <a:cs typeface="Arial"/>
                <a:sym typeface="Arial"/>
              </a:rPr>
              <a:t>1. Core Architecture:</a:t>
            </a:r>
            <a:endParaRPr b="1" i="0" sz="10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Model:</a:t>
            </a:r>
            <a:r>
              <a:rPr b="0" i="0" lang="en" sz="1000" u="none" cap="none" strike="noStrike">
                <a:solidFill>
                  <a:schemeClr val="dk1"/>
                </a:solidFill>
                <a:latin typeface="Arial"/>
                <a:ea typeface="Arial"/>
                <a:cs typeface="Arial"/>
                <a:sym typeface="Arial"/>
              </a:rPr>
              <a:t> </a:t>
            </a:r>
            <a:r>
              <a:rPr b="1" i="0" lang="en" sz="1000" u="none" cap="none" strike="noStrike">
                <a:solidFill>
                  <a:schemeClr val="dk1"/>
                </a:solidFill>
                <a:latin typeface="Arial"/>
                <a:ea typeface="Arial"/>
                <a:cs typeface="Arial"/>
                <a:sym typeface="Arial"/>
              </a:rPr>
              <a:t>GPT-4o mini</a:t>
            </a:r>
            <a:r>
              <a:rPr b="0" i="0" lang="en" sz="1000" u="none" cap="none" strike="noStrike">
                <a:solidFill>
                  <a:schemeClr val="dk1"/>
                </a:solidFill>
                <a:latin typeface="Arial"/>
                <a:ea typeface="Arial"/>
                <a:cs typeface="Arial"/>
                <a:sym typeface="Arial"/>
              </a:rPr>
              <a:t> (accessed via API).</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Role:</a:t>
            </a:r>
            <a:r>
              <a:rPr b="0" i="0" lang="en" sz="1000" u="none" cap="none" strike="noStrike">
                <a:solidFill>
                  <a:schemeClr val="dk1"/>
                </a:solidFill>
                <a:latin typeface="Arial"/>
                <a:ea typeface="Arial"/>
                <a:cs typeface="Arial"/>
                <a:sym typeface="Arial"/>
              </a:rPr>
              <a:t> Acts as the central reasoning engine that integrates both semantic and acoustic information.</a:t>
            </a:r>
            <a:endParaRPr b="0" i="0" sz="1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000" u="none" cap="none" strike="noStrike">
                <a:solidFill>
                  <a:schemeClr val="dk1"/>
                </a:solidFill>
                <a:latin typeface="Arial"/>
                <a:ea typeface="Arial"/>
                <a:cs typeface="Arial"/>
                <a:sym typeface="Arial"/>
              </a:rPr>
              <a:t>2. The Innovation (Input Fusion):</a:t>
            </a:r>
            <a:endParaRPr b="1" i="0" sz="10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0" i="0" lang="en" sz="1000" u="none" cap="none" strike="noStrike">
                <a:solidFill>
                  <a:schemeClr val="dk1"/>
                </a:solidFill>
                <a:latin typeface="Arial"/>
                <a:ea typeface="Arial"/>
                <a:cs typeface="Arial"/>
                <a:sym typeface="Arial"/>
              </a:rPr>
              <a:t>Instead of processing audio separately with a complex neural network (like LSTM), we adopt a </a:t>
            </a:r>
            <a:r>
              <a:rPr b="1" i="0" lang="en" sz="1000" u="none" cap="none" strike="noStrike">
                <a:solidFill>
                  <a:schemeClr val="dk1"/>
                </a:solidFill>
                <a:latin typeface="Arial"/>
                <a:ea typeface="Arial"/>
                <a:cs typeface="Arial"/>
                <a:sym typeface="Arial"/>
              </a:rPr>
              <a:t>"Feature Injection" strategy</a:t>
            </a:r>
            <a:r>
              <a:rPr b="0" i="0" lang="en" sz="1000" u="none" cap="none" strike="noStrike">
                <a:solidFill>
                  <a:schemeClr val="dk1"/>
                </a:solidFill>
                <a:latin typeface="Arial"/>
                <a:ea typeface="Arial"/>
                <a:cs typeface="Arial"/>
                <a:sym typeface="Arial"/>
              </a:rPr>
              <a:t>.</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Process:</a:t>
            </a:r>
            <a:endParaRPr b="1" i="0" sz="1000" u="none" cap="none" strike="noStrike">
              <a:solidFill>
                <a:schemeClr val="dk1"/>
              </a:solidFill>
              <a:latin typeface="Arial"/>
              <a:ea typeface="Arial"/>
              <a:cs typeface="Arial"/>
              <a:sym typeface="Arial"/>
            </a:endParaRPr>
          </a:p>
          <a:p>
            <a:pPr indent="-292100" lvl="1" marL="914400" marR="0" rtl="0" algn="l">
              <a:lnSpc>
                <a:spcPct val="115000"/>
              </a:lnSpc>
              <a:spcBef>
                <a:spcPts val="0"/>
              </a:spcBef>
              <a:spcAft>
                <a:spcPts val="0"/>
              </a:spcAft>
              <a:buClr>
                <a:schemeClr val="dk1"/>
              </a:buClr>
              <a:buSzPts val="1000"/>
              <a:buFont typeface="Arial"/>
              <a:buAutoNum type="arabicPeriod"/>
            </a:pPr>
            <a:r>
              <a:rPr b="1" i="0" lang="en" sz="1000" u="none" cap="none" strike="noStrike">
                <a:solidFill>
                  <a:schemeClr val="dk1"/>
                </a:solidFill>
                <a:latin typeface="Arial"/>
                <a:ea typeface="Arial"/>
                <a:cs typeface="Arial"/>
                <a:sym typeface="Arial"/>
              </a:rPr>
              <a:t>Extraction:</a:t>
            </a:r>
            <a:r>
              <a:rPr b="0" i="0" lang="en" sz="1000" u="none" cap="none" strike="noStrike">
                <a:solidFill>
                  <a:schemeClr val="dk1"/>
                </a:solidFill>
                <a:latin typeface="Arial"/>
                <a:ea typeface="Arial"/>
                <a:cs typeface="Arial"/>
                <a:sym typeface="Arial"/>
              </a:rPr>
              <a:t> Raw audio is processed to extract key prosodic features (Pitch, Loudness, Speaking Rate).</a:t>
            </a:r>
            <a:endParaRPr b="0" i="0" sz="1000" u="none" cap="none" strike="noStrike">
              <a:solidFill>
                <a:schemeClr val="dk1"/>
              </a:solidFill>
              <a:latin typeface="Arial"/>
              <a:ea typeface="Arial"/>
              <a:cs typeface="Arial"/>
              <a:sym typeface="Arial"/>
            </a:endParaRPr>
          </a:p>
          <a:p>
            <a:pPr indent="-292100" lvl="1" marL="914400" marR="0" rtl="0" algn="l">
              <a:lnSpc>
                <a:spcPct val="115000"/>
              </a:lnSpc>
              <a:spcBef>
                <a:spcPts val="0"/>
              </a:spcBef>
              <a:spcAft>
                <a:spcPts val="0"/>
              </a:spcAft>
              <a:buClr>
                <a:schemeClr val="dk1"/>
              </a:buClr>
              <a:buSzPts val="1000"/>
              <a:buFont typeface="Arial"/>
              <a:buAutoNum type="arabicPeriod"/>
            </a:pPr>
            <a:r>
              <a:rPr b="1" i="0" lang="en" sz="1000" u="none" cap="none" strike="noStrike">
                <a:solidFill>
                  <a:schemeClr val="dk1"/>
                </a:solidFill>
                <a:latin typeface="Arial"/>
                <a:ea typeface="Arial"/>
                <a:cs typeface="Arial"/>
                <a:sym typeface="Arial"/>
              </a:rPr>
              <a:t>Transformation:</a:t>
            </a:r>
            <a:r>
              <a:rPr b="0" i="0" lang="en" sz="1000" u="none" cap="none" strike="noStrike">
                <a:solidFill>
                  <a:schemeClr val="dk1"/>
                </a:solidFill>
                <a:latin typeface="Arial"/>
                <a:ea typeface="Arial"/>
                <a:cs typeface="Arial"/>
                <a:sym typeface="Arial"/>
              </a:rPr>
              <a:t> These numerical features are converted into </a:t>
            </a:r>
            <a:r>
              <a:rPr b="1" i="0" lang="en" sz="1000" u="none" cap="none" strike="noStrike">
                <a:solidFill>
                  <a:schemeClr val="dk1"/>
                </a:solidFill>
                <a:latin typeface="Arial"/>
                <a:ea typeface="Arial"/>
                <a:cs typeface="Arial"/>
                <a:sym typeface="Arial"/>
              </a:rPr>
              <a:t>Contextual Descriptors</a:t>
            </a:r>
            <a:r>
              <a:rPr b="0" i="0" lang="en" sz="1000" u="none" cap="none" strike="noStrike">
                <a:solidFill>
                  <a:schemeClr val="dk1"/>
                </a:solidFill>
                <a:latin typeface="Arial"/>
                <a:ea typeface="Arial"/>
                <a:cs typeface="Arial"/>
                <a:sym typeface="Arial"/>
              </a:rPr>
              <a:t> (e.g., "High Pitch", "Rapid Speech", or normalized values).</a:t>
            </a:r>
            <a:endParaRPr b="0" i="0" sz="1000" u="none" cap="none" strike="noStrike">
              <a:solidFill>
                <a:schemeClr val="dk1"/>
              </a:solidFill>
              <a:latin typeface="Arial"/>
              <a:ea typeface="Arial"/>
              <a:cs typeface="Arial"/>
              <a:sym typeface="Arial"/>
            </a:endParaRPr>
          </a:p>
          <a:p>
            <a:pPr indent="-292100" lvl="1" marL="914400" marR="0" rtl="0" algn="l">
              <a:lnSpc>
                <a:spcPct val="115000"/>
              </a:lnSpc>
              <a:spcBef>
                <a:spcPts val="0"/>
              </a:spcBef>
              <a:spcAft>
                <a:spcPts val="0"/>
              </a:spcAft>
              <a:buClr>
                <a:schemeClr val="dk1"/>
              </a:buClr>
              <a:buSzPts val="1000"/>
              <a:buFont typeface="Arial"/>
              <a:buAutoNum type="arabicPeriod"/>
            </a:pPr>
            <a:r>
              <a:rPr b="1" i="0" lang="en" sz="1000" u="none" cap="none" strike="noStrike">
                <a:solidFill>
                  <a:schemeClr val="dk1"/>
                </a:solidFill>
                <a:latin typeface="Arial"/>
                <a:ea typeface="Arial"/>
                <a:cs typeface="Arial"/>
                <a:sym typeface="Arial"/>
              </a:rPr>
              <a:t>Fusion:</a:t>
            </a:r>
            <a:r>
              <a:rPr b="0" i="0" lang="en" sz="1000" u="none" cap="none" strike="noStrike">
                <a:solidFill>
                  <a:schemeClr val="dk1"/>
                </a:solidFill>
                <a:latin typeface="Arial"/>
                <a:ea typeface="Arial"/>
                <a:cs typeface="Arial"/>
                <a:sym typeface="Arial"/>
              </a:rPr>
              <a:t> These acoustic descriptors are appended directly into the </a:t>
            </a:r>
            <a:r>
              <a:rPr b="1" i="0" lang="en" sz="1000" u="none" cap="none" strike="noStrike">
                <a:solidFill>
                  <a:schemeClr val="dk1"/>
                </a:solidFill>
                <a:latin typeface="Arial"/>
                <a:ea typeface="Arial"/>
                <a:cs typeface="Arial"/>
                <a:sym typeface="Arial"/>
              </a:rPr>
              <a:t>LLM's System Prompt</a:t>
            </a:r>
            <a:r>
              <a:rPr b="0" i="0" lang="en" sz="1000" u="none" cap="none" strike="noStrike">
                <a:solidFill>
                  <a:schemeClr val="dk1"/>
                </a:solidFill>
                <a:latin typeface="Arial"/>
                <a:ea typeface="Arial"/>
                <a:cs typeface="Arial"/>
                <a:sym typeface="Arial"/>
              </a:rPr>
              <a:t> alongside the dialogue text.</a:t>
            </a:r>
            <a:endParaRPr b="0" i="0" sz="1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000" u="none" cap="none" strike="noStrike">
                <a:solidFill>
                  <a:schemeClr val="dk1"/>
                </a:solidFill>
                <a:latin typeface="Arial"/>
                <a:ea typeface="Arial"/>
                <a:cs typeface="Arial"/>
                <a:sym typeface="Arial"/>
              </a:rPr>
              <a:t>3. Decision Mechanism:</a:t>
            </a:r>
            <a:endParaRPr b="1" i="0" sz="10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0" i="0" lang="en" sz="1000" u="none" cap="none" strike="noStrike">
                <a:solidFill>
                  <a:schemeClr val="dk1"/>
                </a:solidFill>
                <a:latin typeface="Arial"/>
                <a:ea typeface="Arial"/>
                <a:cs typeface="Arial"/>
                <a:sym typeface="Arial"/>
              </a:rPr>
              <a:t>The LLM analyzes the </a:t>
            </a:r>
            <a:r>
              <a:rPr b="1" i="0" lang="en" sz="1000" u="none" cap="none" strike="noStrike">
                <a:solidFill>
                  <a:schemeClr val="dk1"/>
                </a:solidFill>
                <a:latin typeface="Arial"/>
                <a:ea typeface="Arial"/>
                <a:cs typeface="Arial"/>
                <a:sym typeface="Arial"/>
              </a:rPr>
              <a:t>Cognitive State</a:t>
            </a:r>
            <a:r>
              <a:rPr b="0" i="0" lang="en" sz="1000" u="none" cap="none" strike="noStrike">
                <a:solidFill>
                  <a:schemeClr val="dk1"/>
                </a:solidFill>
                <a:latin typeface="Arial"/>
                <a:ea typeface="Arial"/>
                <a:cs typeface="Arial"/>
                <a:sym typeface="Arial"/>
              </a:rPr>
              <a:t> by cross-referencing:</a:t>
            </a:r>
            <a:endParaRPr b="0" i="0" sz="1000" u="none" cap="none" strike="noStrike">
              <a:solidFill>
                <a:schemeClr val="dk1"/>
              </a:solidFill>
              <a:latin typeface="Arial"/>
              <a:ea typeface="Arial"/>
              <a:cs typeface="Arial"/>
              <a:sym typeface="Arial"/>
            </a:endParaRPr>
          </a:p>
          <a:p>
            <a:pPr indent="-292100" lvl="1" marL="9144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What was said</a:t>
            </a:r>
            <a:r>
              <a:rPr b="0" i="0" lang="en" sz="1000" u="none" cap="none" strike="noStrike">
                <a:solidFill>
                  <a:schemeClr val="dk1"/>
                </a:solidFill>
                <a:latin typeface="Arial"/>
                <a:ea typeface="Arial"/>
                <a:cs typeface="Arial"/>
                <a:sym typeface="Arial"/>
              </a:rPr>
              <a:t> (Text/Semantics)</a:t>
            </a:r>
            <a:endParaRPr b="0" i="0" sz="1000" u="none" cap="none" strike="noStrike">
              <a:solidFill>
                <a:schemeClr val="dk1"/>
              </a:solidFill>
              <a:latin typeface="Arial"/>
              <a:ea typeface="Arial"/>
              <a:cs typeface="Arial"/>
              <a:sym typeface="Arial"/>
            </a:endParaRPr>
          </a:p>
          <a:p>
            <a:pPr indent="-292100" lvl="1" marL="9144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How it was said</a:t>
            </a:r>
            <a:r>
              <a:rPr b="0" i="0" lang="en" sz="1000" u="none" cap="none" strike="noStrike">
                <a:solidFill>
                  <a:schemeClr val="dk1"/>
                </a:solidFill>
                <a:latin typeface="Arial"/>
                <a:ea typeface="Arial"/>
                <a:cs typeface="Arial"/>
                <a:sym typeface="Arial"/>
              </a:rPr>
              <a:t> (Vocal cues)</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0" i="1" lang="en" sz="1000" u="none" cap="none" strike="noStrike">
                <a:solidFill>
                  <a:schemeClr val="dk1"/>
                </a:solidFill>
                <a:latin typeface="Arial"/>
                <a:ea typeface="Arial"/>
                <a:cs typeface="Arial"/>
                <a:sym typeface="Arial"/>
              </a:rPr>
              <a:t>Result:</a:t>
            </a:r>
            <a:r>
              <a:rPr b="0" i="0" lang="en" sz="1000" u="none" cap="none" strike="noStrike">
                <a:solidFill>
                  <a:schemeClr val="dk1"/>
                </a:solidFill>
                <a:latin typeface="Arial"/>
                <a:ea typeface="Arial"/>
                <a:cs typeface="Arial"/>
                <a:sym typeface="Arial"/>
              </a:rPr>
              <a:t> A holistic prediction that captures emotional nuances invisible to text-only models.</a:t>
            </a:r>
            <a:endParaRPr b="0" i="0" sz="1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just">
              <a:lnSpc>
                <a:spcPct val="150000"/>
              </a:lnSpc>
              <a:spcBef>
                <a:spcPts val="1599"/>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15" name="Google Shape;215;g3b197556fe3_0_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16" name="Google Shape;216;g3b197556fe3_0_41"/>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217" name="Google Shape;217;g3b197556fe3_0_41"/>
          <p:cNvSpPr txBox="1"/>
          <p:nvPr/>
        </p:nvSpPr>
        <p:spPr>
          <a:xfrm>
            <a:off x="1157250" y="897100"/>
            <a:ext cx="4571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lang="en"/>
              <a:t>Multimodal (Vocal-Aware) (Vocal-Aware LLM Framework)</a:t>
            </a:r>
            <a:r>
              <a:rPr b="1" i="0" lang="en" sz="1400" u="none" cap="none" strike="noStrike">
                <a:solidFill>
                  <a:srgbClr val="000000"/>
                </a:solidFill>
                <a:latin typeface="Arial"/>
                <a:ea typeface="Arial"/>
                <a:cs typeface="Arial"/>
                <a:sym typeface="Arial"/>
              </a:rPr>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dc5e29e8ee_0_16"/>
          <p:cNvSpPr txBox="1"/>
          <p:nvPr/>
        </p:nvSpPr>
        <p:spPr>
          <a:xfrm>
            <a:off x="418025" y="468350"/>
            <a:ext cx="5715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3.4 Therapist Generation Conditions</a:t>
            </a:r>
            <a:endParaRPr b="1" i="0" sz="2300" u="none" cap="none" strike="noStrike">
              <a:solidFill>
                <a:srgbClr val="252827"/>
              </a:solidFill>
              <a:latin typeface="Oswald"/>
              <a:ea typeface="Oswald"/>
              <a:cs typeface="Oswald"/>
              <a:sym typeface="Oswald"/>
            </a:endParaRPr>
          </a:p>
        </p:txBody>
      </p:sp>
      <p:sp>
        <p:nvSpPr>
          <p:cNvPr id="223" name="Google Shape;223;g3dc5e29e8ee_0_16"/>
          <p:cNvSpPr/>
          <p:nvPr/>
        </p:nvSpPr>
        <p:spPr>
          <a:xfrm>
            <a:off x="510450" y="1095375"/>
            <a:ext cx="7902300" cy="3661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000" u="none" cap="none" strike="noStrike">
                <a:solidFill>
                  <a:schemeClr val="dk1"/>
                </a:solidFill>
                <a:latin typeface="Arial"/>
                <a:ea typeface="Arial"/>
                <a:cs typeface="Arial"/>
                <a:sym typeface="Arial"/>
              </a:rPr>
              <a:t>1. Core Architecture:</a:t>
            </a:r>
            <a:endParaRPr b="1" i="0" sz="10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Model:</a:t>
            </a:r>
            <a:r>
              <a:rPr b="0" i="0" lang="en" sz="1000" u="none" cap="none" strike="noStrike">
                <a:solidFill>
                  <a:schemeClr val="dk1"/>
                </a:solidFill>
                <a:latin typeface="Arial"/>
                <a:ea typeface="Arial"/>
                <a:cs typeface="Arial"/>
                <a:sym typeface="Arial"/>
              </a:rPr>
              <a:t> </a:t>
            </a:r>
            <a:r>
              <a:rPr b="1" i="0" lang="en" sz="1000" u="none" cap="none" strike="noStrike">
                <a:solidFill>
                  <a:schemeClr val="dk1"/>
                </a:solidFill>
                <a:latin typeface="Arial"/>
                <a:ea typeface="Arial"/>
                <a:cs typeface="Arial"/>
                <a:sym typeface="Arial"/>
              </a:rPr>
              <a:t>GPT-4o mini</a:t>
            </a:r>
            <a:r>
              <a:rPr b="0" i="0" lang="en" sz="1000" u="none" cap="none" strike="noStrike">
                <a:solidFill>
                  <a:schemeClr val="dk1"/>
                </a:solidFill>
                <a:latin typeface="Arial"/>
                <a:ea typeface="Arial"/>
                <a:cs typeface="Arial"/>
                <a:sym typeface="Arial"/>
              </a:rPr>
              <a:t> (accessed via API).</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Role:</a:t>
            </a:r>
            <a:r>
              <a:rPr b="0" i="0" lang="en" sz="1000" u="none" cap="none" strike="noStrike">
                <a:solidFill>
                  <a:schemeClr val="dk1"/>
                </a:solidFill>
                <a:latin typeface="Arial"/>
                <a:ea typeface="Arial"/>
                <a:cs typeface="Arial"/>
                <a:sym typeface="Arial"/>
              </a:rPr>
              <a:t> Acts as the central reasoning engine that integrates both semantic and acoustic information with details of cognitive dissonance measured from delta of VA </a:t>
            </a:r>
            <a:r>
              <a:rPr lang="en" sz="1000">
                <a:solidFill>
                  <a:schemeClr val="dk1"/>
                </a:solidFill>
              </a:rPr>
              <a:t>between modalities (text, speech)</a:t>
            </a:r>
            <a:r>
              <a:rPr b="0" i="0" lang="en" sz="1000" u="none" cap="none" strike="noStrike">
                <a:solidFill>
                  <a:schemeClr val="dk1"/>
                </a:solidFill>
                <a:latin typeface="Arial"/>
                <a:ea typeface="Arial"/>
                <a:cs typeface="Arial"/>
                <a:sym typeface="Arial"/>
              </a:rPr>
              <a:t>.</a:t>
            </a:r>
            <a:endParaRPr b="0" i="0" sz="1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000" u="none" cap="none" strike="noStrike">
                <a:solidFill>
                  <a:schemeClr val="dk1"/>
                </a:solidFill>
                <a:latin typeface="Arial"/>
                <a:ea typeface="Arial"/>
                <a:cs typeface="Arial"/>
                <a:sym typeface="Arial"/>
              </a:rPr>
              <a:t>2. The Innovation (Input Fusion):</a:t>
            </a:r>
            <a:endParaRPr b="1" i="0" sz="10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0" i="0" lang="en" sz="1000" u="none" cap="none" strike="noStrike">
                <a:solidFill>
                  <a:schemeClr val="dk1"/>
                </a:solidFill>
                <a:latin typeface="Arial"/>
                <a:ea typeface="Arial"/>
                <a:cs typeface="Arial"/>
                <a:sym typeface="Arial"/>
              </a:rPr>
              <a:t>Instead of processing audio separately with a complex neural network (like LSTM), we adopt a </a:t>
            </a:r>
            <a:r>
              <a:rPr b="1" i="0" lang="en" sz="1000" u="none" cap="none" strike="noStrike">
                <a:solidFill>
                  <a:schemeClr val="dk1"/>
                </a:solidFill>
                <a:latin typeface="Arial"/>
                <a:ea typeface="Arial"/>
                <a:cs typeface="Arial"/>
                <a:sym typeface="Arial"/>
              </a:rPr>
              <a:t>"Feature Injection" strategy</a:t>
            </a:r>
            <a:r>
              <a:rPr b="0" i="0" lang="en" sz="1000" u="none" cap="none" strike="noStrike">
                <a:solidFill>
                  <a:schemeClr val="dk1"/>
                </a:solidFill>
                <a:latin typeface="Arial"/>
                <a:ea typeface="Arial"/>
                <a:cs typeface="Arial"/>
                <a:sym typeface="Arial"/>
              </a:rPr>
              <a:t>.</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Process:</a:t>
            </a:r>
            <a:endParaRPr b="1" i="0" sz="1000" u="none" cap="none" strike="noStrike">
              <a:solidFill>
                <a:schemeClr val="dk1"/>
              </a:solidFill>
              <a:latin typeface="Arial"/>
              <a:ea typeface="Arial"/>
              <a:cs typeface="Arial"/>
              <a:sym typeface="Arial"/>
            </a:endParaRPr>
          </a:p>
          <a:p>
            <a:pPr indent="-292100" lvl="1" marL="914400" marR="0" rtl="0" algn="l">
              <a:lnSpc>
                <a:spcPct val="115000"/>
              </a:lnSpc>
              <a:spcBef>
                <a:spcPts val="0"/>
              </a:spcBef>
              <a:spcAft>
                <a:spcPts val="0"/>
              </a:spcAft>
              <a:buClr>
                <a:schemeClr val="dk1"/>
              </a:buClr>
              <a:buSzPts val="1000"/>
              <a:buFont typeface="Arial"/>
              <a:buAutoNum type="arabicPeriod"/>
            </a:pPr>
            <a:r>
              <a:rPr b="1" i="0" lang="en" sz="1000" u="none" cap="none" strike="noStrike">
                <a:solidFill>
                  <a:schemeClr val="dk1"/>
                </a:solidFill>
                <a:latin typeface="Arial"/>
                <a:ea typeface="Arial"/>
                <a:cs typeface="Arial"/>
                <a:sym typeface="Arial"/>
              </a:rPr>
              <a:t>Extraction:</a:t>
            </a:r>
            <a:r>
              <a:rPr b="0" i="0" lang="en" sz="1000" u="none" cap="none" strike="noStrike">
                <a:solidFill>
                  <a:schemeClr val="dk1"/>
                </a:solidFill>
                <a:latin typeface="Arial"/>
                <a:ea typeface="Arial"/>
                <a:cs typeface="Arial"/>
                <a:sym typeface="Arial"/>
              </a:rPr>
              <a:t> Raw audio is processed to extract key prosodic features (Pitch, Loudness, Speaking Rate).</a:t>
            </a:r>
            <a:endParaRPr b="0" i="0" sz="1000" u="none" cap="none" strike="noStrike">
              <a:solidFill>
                <a:schemeClr val="dk1"/>
              </a:solidFill>
              <a:latin typeface="Arial"/>
              <a:ea typeface="Arial"/>
              <a:cs typeface="Arial"/>
              <a:sym typeface="Arial"/>
            </a:endParaRPr>
          </a:p>
          <a:p>
            <a:pPr indent="-292100" lvl="1" marL="914400" marR="0" rtl="0" algn="l">
              <a:lnSpc>
                <a:spcPct val="115000"/>
              </a:lnSpc>
              <a:spcBef>
                <a:spcPts val="0"/>
              </a:spcBef>
              <a:spcAft>
                <a:spcPts val="0"/>
              </a:spcAft>
              <a:buClr>
                <a:schemeClr val="dk1"/>
              </a:buClr>
              <a:buSzPts val="1000"/>
              <a:buFont typeface="Arial"/>
              <a:buAutoNum type="arabicPeriod"/>
            </a:pPr>
            <a:r>
              <a:rPr b="1" i="0" lang="en" sz="1000" u="none" cap="none" strike="noStrike">
                <a:solidFill>
                  <a:schemeClr val="dk1"/>
                </a:solidFill>
                <a:latin typeface="Arial"/>
                <a:ea typeface="Arial"/>
                <a:cs typeface="Arial"/>
                <a:sym typeface="Arial"/>
              </a:rPr>
              <a:t>Transformation:</a:t>
            </a:r>
            <a:r>
              <a:rPr b="0" i="0" lang="en" sz="1000" u="none" cap="none" strike="noStrike">
                <a:solidFill>
                  <a:schemeClr val="dk1"/>
                </a:solidFill>
                <a:latin typeface="Arial"/>
                <a:ea typeface="Arial"/>
                <a:cs typeface="Arial"/>
                <a:sym typeface="Arial"/>
              </a:rPr>
              <a:t> These numerical features are converted into </a:t>
            </a:r>
            <a:r>
              <a:rPr b="1" i="0" lang="en" sz="1000" u="none" cap="none" strike="noStrike">
                <a:solidFill>
                  <a:schemeClr val="dk1"/>
                </a:solidFill>
                <a:latin typeface="Arial"/>
                <a:ea typeface="Arial"/>
                <a:cs typeface="Arial"/>
                <a:sym typeface="Arial"/>
              </a:rPr>
              <a:t>Contextual Descriptors</a:t>
            </a:r>
            <a:r>
              <a:rPr b="0" i="0" lang="en" sz="1000" u="none" cap="none" strike="noStrike">
                <a:solidFill>
                  <a:schemeClr val="dk1"/>
                </a:solidFill>
                <a:latin typeface="Arial"/>
                <a:ea typeface="Arial"/>
                <a:cs typeface="Arial"/>
                <a:sym typeface="Arial"/>
              </a:rPr>
              <a:t> (e.g., "High Pitch", "Rapid Speech", or normalized values).</a:t>
            </a:r>
            <a:endParaRPr b="0" i="0" sz="1000" u="none" cap="none" strike="noStrike">
              <a:solidFill>
                <a:schemeClr val="dk1"/>
              </a:solidFill>
              <a:latin typeface="Arial"/>
              <a:ea typeface="Arial"/>
              <a:cs typeface="Arial"/>
              <a:sym typeface="Arial"/>
            </a:endParaRPr>
          </a:p>
          <a:p>
            <a:pPr indent="-292100" lvl="1" marL="914400" marR="0" rtl="0" algn="l">
              <a:lnSpc>
                <a:spcPct val="115000"/>
              </a:lnSpc>
              <a:spcBef>
                <a:spcPts val="0"/>
              </a:spcBef>
              <a:spcAft>
                <a:spcPts val="0"/>
              </a:spcAft>
              <a:buClr>
                <a:schemeClr val="dk1"/>
              </a:buClr>
              <a:buSzPts val="1000"/>
              <a:buFont typeface="Arial"/>
              <a:buAutoNum type="arabicPeriod"/>
            </a:pPr>
            <a:r>
              <a:rPr b="1" i="0" lang="en" sz="1000" u="none" cap="none" strike="noStrike">
                <a:solidFill>
                  <a:schemeClr val="dk1"/>
                </a:solidFill>
                <a:latin typeface="Arial"/>
                <a:ea typeface="Arial"/>
                <a:cs typeface="Arial"/>
                <a:sym typeface="Arial"/>
              </a:rPr>
              <a:t>Fusion:</a:t>
            </a:r>
            <a:r>
              <a:rPr b="0" i="0" lang="en" sz="1000" u="none" cap="none" strike="noStrike">
                <a:solidFill>
                  <a:schemeClr val="dk1"/>
                </a:solidFill>
                <a:latin typeface="Arial"/>
                <a:ea typeface="Arial"/>
                <a:cs typeface="Arial"/>
                <a:sym typeface="Arial"/>
              </a:rPr>
              <a:t> These acoustic descriptors are appended directly into the </a:t>
            </a:r>
            <a:r>
              <a:rPr b="1" i="0" lang="en" sz="1000" u="none" cap="none" strike="noStrike">
                <a:solidFill>
                  <a:schemeClr val="dk1"/>
                </a:solidFill>
                <a:latin typeface="Arial"/>
                <a:ea typeface="Arial"/>
                <a:cs typeface="Arial"/>
                <a:sym typeface="Arial"/>
              </a:rPr>
              <a:t>LLM's System Prompt</a:t>
            </a:r>
            <a:r>
              <a:rPr b="0" i="0" lang="en" sz="1000" u="none" cap="none" strike="noStrike">
                <a:solidFill>
                  <a:schemeClr val="dk1"/>
                </a:solidFill>
                <a:latin typeface="Arial"/>
                <a:ea typeface="Arial"/>
                <a:cs typeface="Arial"/>
                <a:sym typeface="Arial"/>
              </a:rPr>
              <a:t> alongside the dialogue text.</a:t>
            </a:r>
            <a:endParaRPr b="0" i="0" sz="1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000" u="none" cap="none" strike="noStrike">
                <a:solidFill>
                  <a:schemeClr val="dk1"/>
                </a:solidFill>
                <a:latin typeface="Arial"/>
                <a:ea typeface="Arial"/>
                <a:cs typeface="Arial"/>
                <a:sym typeface="Arial"/>
              </a:rPr>
              <a:t>3. Decision Mechanism:</a:t>
            </a:r>
            <a:endParaRPr b="1" i="0" sz="10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0" i="0" lang="en" sz="1000" u="none" cap="none" strike="noStrike">
                <a:solidFill>
                  <a:schemeClr val="dk1"/>
                </a:solidFill>
                <a:latin typeface="Arial"/>
                <a:ea typeface="Arial"/>
                <a:cs typeface="Arial"/>
                <a:sym typeface="Arial"/>
              </a:rPr>
              <a:t>The LLM analyzes the </a:t>
            </a:r>
            <a:r>
              <a:rPr b="1" i="0" lang="en" sz="1000" u="none" cap="none" strike="noStrike">
                <a:solidFill>
                  <a:schemeClr val="dk1"/>
                </a:solidFill>
                <a:latin typeface="Arial"/>
                <a:ea typeface="Arial"/>
                <a:cs typeface="Arial"/>
                <a:sym typeface="Arial"/>
              </a:rPr>
              <a:t>Cognitive State</a:t>
            </a:r>
            <a:r>
              <a:rPr b="0" i="0" lang="en" sz="1000" u="none" cap="none" strike="noStrike">
                <a:solidFill>
                  <a:schemeClr val="dk1"/>
                </a:solidFill>
                <a:latin typeface="Arial"/>
                <a:ea typeface="Arial"/>
                <a:cs typeface="Arial"/>
                <a:sym typeface="Arial"/>
              </a:rPr>
              <a:t> by cross-referencing:</a:t>
            </a:r>
            <a:endParaRPr b="0" i="0" sz="1000" u="none" cap="none" strike="noStrike">
              <a:solidFill>
                <a:schemeClr val="dk1"/>
              </a:solidFill>
              <a:latin typeface="Arial"/>
              <a:ea typeface="Arial"/>
              <a:cs typeface="Arial"/>
              <a:sym typeface="Arial"/>
            </a:endParaRPr>
          </a:p>
          <a:p>
            <a:pPr indent="-292100" lvl="1" marL="9144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What was said</a:t>
            </a:r>
            <a:r>
              <a:rPr b="0" i="0" lang="en" sz="1000" u="none" cap="none" strike="noStrike">
                <a:solidFill>
                  <a:schemeClr val="dk1"/>
                </a:solidFill>
                <a:latin typeface="Arial"/>
                <a:ea typeface="Arial"/>
                <a:cs typeface="Arial"/>
                <a:sym typeface="Arial"/>
              </a:rPr>
              <a:t> (Text/Semantics)</a:t>
            </a:r>
            <a:endParaRPr b="0" i="0" sz="1000" u="none" cap="none" strike="noStrike">
              <a:solidFill>
                <a:schemeClr val="dk1"/>
              </a:solidFill>
              <a:latin typeface="Arial"/>
              <a:ea typeface="Arial"/>
              <a:cs typeface="Arial"/>
              <a:sym typeface="Arial"/>
            </a:endParaRPr>
          </a:p>
          <a:p>
            <a:pPr indent="-292100" lvl="1" marL="9144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How it was said</a:t>
            </a:r>
            <a:r>
              <a:rPr b="0" i="0" lang="en" sz="1000" u="none" cap="none" strike="noStrike">
                <a:solidFill>
                  <a:schemeClr val="dk1"/>
                </a:solidFill>
                <a:latin typeface="Arial"/>
                <a:ea typeface="Arial"/>
                <a:cs typeface="Arial"/>
                <a:sym typeface="Arial"/>
              </a:rPr>
              <a:t> (Vocal cues)</a:t>
            </a:r>
            <a:endParaRPr b="0" i="0" sz="1000" u="none" cap="none" strike="noStrike">
              <a:solidFill>
                <a:schemeClr val="dk1"/>
              </a:solidFill>
              <a:latin typeface="Arial"/>
              <a:ea typeface="Arial"/>
              <a:cs typeface="Arial"/>
              <a:sym typeface="Arial"/>
            </a:endParaRPr>
          </a:p>
          <a:p>
            <a:pPr indent="-292100" lvl="1" marL="914400" marR="0" rtl="0" algn="l">
              <a:lnSpc>
                <a:spcPct val="115000"/>
              </a:lnSpc>
              <a:spcBef>
                <a:spcPts val="0"/>
              </a:spcBef>
              <a:spcAft>
                <a:spcPts val="0"/>
              </a:spcAft>
              <a:buClr>
                <a:schemeClr val="dk1"/>
              </a:buClr>
              <a:buSzPts val="1000"/>
              <a:buChar char="○"/>
            </a:pPr>
            <a:r>
              <a:rPr b="1" lang="en" sz="1000">
                <a:solidFill>
                  <a:schemeClr val="dk1"/>
                </a:solidFill>
              </a:rPr>
              <a:t>Why the expression tone differs from word meaning </a:t>
            </a:r>
            <a:r>
              <a:rPr lang="en" sz="1000">
                <a:solidFill>
                  <a:schemeClr val="dk1"/>
                </a:solidFill>
              </a:rPr>
              <a:t>(Dissonance aware cues)</a:t>
            </a:r>
            <a:endParaRPr sz="1000">
              <a:solidFill>
                <a:schemeClr val="dk1"/>
              </a:solidFill>
            </a:endParaRPr>
          </a:p>
          <a:p>
            <a:pPr indent="-292100" lvl="0" marL="457200" marR="0" rtl="0" algn="l">
              <a:lnSpc>
                <a:spcPct val="115000"/>
              </a:lnSpc>
              <a:spcBef>
                <a:spcPts val="0"/>
              </a:spcBef>
              <a:spcAft>
                <a:spcPts val="0"/>
              </a:spcAft>
              <a:buClr>
                <a:schemeClr val="dk1"/>
              </a:buClr>
              <a:buSzPts val="1000"/>
              <a:buFont typeface="Arial"/>
              <a:buChar char="●"/>
            </a:pPr>
            <a:r>
              <a:rPr b="0" i="1" lang="en" sz="1000" u="none" cap="none" strike="noStrike">
                <a:solidFill>
                  <a:schemeClr val="dk1"/>
                </a:solidFill>
                <a:latin typeface="Arial"/>
                <a:ea typeface="Arial"/>
                <a:cs typeface="Arial"/>
                <a:sym typeface="Arial"/>
              </a:rPr>
              <a:t>Result:</a:t>
            </a:r>
            <a:r>
              <a:rPr b="0" i="0" lang="en" sz="1000" u="none" cap="none" strike="noStrike">
                <a:solidFill>
                  <a:schemeClr val="dk1"/>
                </a:solidFill>
                <a:latin typeface="Arial"/>
                <a:ea typeface="Arial"/>
                <a:cs typeface="Arial"/>
                <a:sym typeface="Arial"/>
              </a:rPr>
              <a:t> A holistic prediction that captures emotional nuances invisible to text-only models and </a:t>
            </a:r>
            <a:r>
              <a:rPr lang="en" sz="1000">
                <a:solidFill>
                  <a:schemeClr val="dk1"/>
                </a:solidFill>
              </a:rPr>
              <a:t>original text+speech multimodal model</a:t>
            </a:r>
            <a:r>
              <a:rPr b="0" i="0" lang="en" sz="1000" u="none" cap="none" strike="noStrike">
                <a:solidFill>
                  <a:schemeClr val="dk1"/>
                </a:solidFill>
                <a:latin typeface="Arial"/>
                <a:ea typeface="Arial"/>
                <a:cs typeface="Arial"/>
                <a:sym typeface="Arial"/>
              </a:rPr>
              <a:t>.</a:t>
            </a:r>
            <a:endParaRPr b="0" i="0" sz="1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just">
              <a:lnSpc>
                <a:spcPct val="150000"/>
              </a:lnSpc>
              <a:spcBef>
                <a:spcPts val="1599"/>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24" name="Google Shape;224;g3dc5e29e8ee_0_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25" name="Google Shape;225;g3dc5e29e8ee_0_16"/>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226" name="Google Shape;226;g3dc5e29e8ee_0_16"/>
          <p:cNvSpPr txBox="1"/>
          <p:nvPr/>
        </p:nvSpPr>
        <p:spPr>
          <a:xfrm>
            <a:off x="1157250" y="863450"/>
            <a:ext cx="5840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lang="en"/>
              <a:t>Dissonance-Aware (Dissonance-Aware LLM Framework)</a:t>
            </a:r>
            <a:r>
              <a:rPr b="1" i="0" lang="en" sz="1400" u="none" cap="none" strike="noStrike">
                <a:solidFill>
                  <a:srgbClr val="000000"/>
                </a:solidFill>
                <a:latin typeface="Arial"/>
                <a:ea typeface="Arial"/>
                <a:cs typeface="Arial"/>
                <a:sym typeface="Arial"/>
              </a:rPr>
              <a:t/>
            </a:r>
            <a:r>
              <a:rPr b="1" lang="en"/>
              <a:t/>
            </a:r>
            <a:r>
              <a:rPr b="1" i="0" lang="en" sz="1400" u="none" cap="none" strike="noStrike">
                <a:solidFill>
                  <a:srgbClr val="000000"/>
                </a:solidFill>
                <a:latin typeface="Arial"/>
                <a:ea typeface="Arial"/>
                <a:cs typeface="Arial"/>
                <a:sym typeface="Arial"/>
              </a:rPr>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55ecce0028d0e37b_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232" name="Google Shape;232;g55ecce0028d0e37b_10"/>
          <p:cNvSpPr txBox="1"/>
          <p:nvPr/>
        </p:nvSpPr>
        <p:spPr>
          <a:xfrm>
            <a:off x="0" y="0"/>
            <a:ext cx="4928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 sz="1500" u="none" cap="none" strike="noStrike">
                <a:solidFill>
                  <a:srgbClr val="252827"/>
                </a:solidFill>
                <a:latin typeface="Oswald"/>
                <a:ea typeface="Oswald"/>
                <a:cs typeface="Oswald"/>
                <a:sym typeface="Oswald"/>
              </a:rPr>
              <a:t>3.4 FRAMEWORK BASELINE MODEL </a:t>
            </a:r>
            <a:r>
              <a:rPr b="1" lang="en" sz="1500">
                <a:solidFill>
                  <a:srgbClr val="252827"/>
                </a:solidFill>
                <a:latin typeface="Oswald"/>
                <a:ea typeface="Oswald"/>
                <a:cs typeface="Oswald"/>
                <a:sym typeface="Oswald"/>
              </a:rPr>
              <a:t>AND T+A MULTIMODAL</a:t>
            </a:r>
            <a:endParaRPr b="1" i="0" sz="2500" u="none" cap="none" strike="noStrike">
              <a:solidFill>
                <a:srgbClr val="252827"/>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2300"/>
              <a:buFont typeface="Arial"/>
              <a:buNone/>
            </a:pPr>
            <a:r>
              <a:t/>
            </a:r>
            <a:endParaRPr b="1" i="0" sz="1500" u="none" cap="none" strike="noStrike">
              <a:solidFill>
                <a:srgbClr val="252827"/>
              </a:solidFill>
              <a:latin typeface="Oswald"/>
              <a:ea typeface="Oswald"/>
              <a:cs typeface="Oswald"/>
              <a:sym typeface="Oswald"/>
            </a:endParaRPr>
          </a:p>
        </p:txBody>
      </p:sp>
      <p:pic>
        <p:nvPicPr>
          <p:cNvPr id="233" name="Google Shape;233;g55ecce0028d0e37b_10" title="baseline_model.png"/>
          <p:cNvPicPr preferRelativeResize="0"/>
          <p:nvPr/>
        </p:nvPicPr>
        <p:blipFill rotWithShape="1">
          <a:blip r:embed="rId3">
            <a:alphaModFix/>
          </a:blip>
          <a:srcRect b="0" l="0" r="0" t="0"/>
          <a:stretch/>
        </p:blipFill>
        <p:spPr>
          <a:xfrm>
            <a:off x="1180481" y="348948"/>
            <a:ext cx="3272267" cy="4838702"/>
          </a:xfrm>
          <a:prstGeom prst="rect">
            <a:avLst/>
          </a:prstGeom>
          <a:noFill/>
          <a:ln>
            <a:noFill/>
          </a:ln>
        </p:spPr>
      </p:pic>
      <p:pic>
        <p:nvPicPr>
          <p:cNvPr id="234" name="Google Shape;234;g55ecce0028d0e37b_10" title="proposed_model.png"/>
          <p:cNvPicPr preferRelativeResize="0"/>
          <p:nvPr/>
        </p:nvPicPr>
        <p:blipFill rotWithShape="1">
          <a:blip r:embed="rId4">
            <a:alphaModFix/>
          </a:blip>
          <a:srcRect b="0" l="0" r="0" t="0"/>
          <a:stretch/>
        </p:blipFill>
        <p:spPr>
          <a:xfrm>
            <a:off x="5141576" y="182638"/>
            <a:ext cx="1908216" cy="49910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dc5e29e8ee_0_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240" name="Google Shape;240;g3dc5e29e8ee_0_24"/>
          <p:cNvSpPr txBox="1"/>
          <p:nvPr/>
        </p:nvSpPr>
        <p:spPr>
          <a:xfrm>
            <a:off x="0" y="0"/>
            <a:ext cx="4928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 sz="1500" u="none" cap="none" strike="noStrike">
                <a:solidFill>
                  <a:srgbClr val="252827"/>
                </a:solidFill>
                <a:latin typeface="Oswald"/>
                <a:ea typeface="Oswald"/>
                <a:cs typeface="Oswald"/>
                <a:sym typeface="Oswald"/>
              </a:rPr>
              <a:t>3.4 FRAMEWORK </a:t>
            </a:r>
            <a:r>
              <a:rPr b="1" lang="en" sz="1500">
                <a:solidFill>
                  <a:srgbClr val="252827"/>
                </a:solidFill>
                <a:latin typeface="Oswald"/>
                <a:ea typeface="Oswald"/>
                <a:cs typeface="Oswald"/>
                <a:sym typeface="Oswald"/>
              </a:rPr>
              <a:t>DISSONANCE AWARE MODEL</a:t>
            </a:r>
            <a:endParaRPr b="1" i="0" sz="2500" u="none" cap="none" strike="noStrike">
              <a:solidFill>
                <a:srgbClr val="252827"/>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2300"/>
              <a:buFont typeface="Arial"/>
              <a:buNone/>
            </a:pPr>
            <a:r>
              <a:t/>
            </a:r>
            <a:endParaRPr b="1" i="0" sz="1500" u="none" cap="none" strike="noStrike">
              <a:solidFill>
                <a:srgbClr val="252827"/>
              </a:solidFill>
              <a:latin typeface="Oswald"/>
              <a:ea typeface="Oswald"/>
              <a:cs typeface="Oswald"/>
              <a:sym typeface="Oswald"/>
            </a:endParaRPr>
          </a:p>
        </p:txBody>
      </p:sp>
      <p:pic>
        <p:nvPicPr>
          <p:cNvPr id="241" name="Google Shape;241;g3dc5e29e8ee_0_24" title="dissonance_v3.png"/>
          <p:cNvPicPr preferRelativeResize="0"/>
          <p:nvPr/>
        </p:nvPicPr>
        <p:blipFill>
          <a:blip r:embed="rId3">
            <a:alphaModFix/>
          </a:blip>
          <a:stretch>
            <a:fillRect/>
          </a:stretch>
        </p:blipFill>
        <p:spPr>
          <a:xfrm>
            <a:off x="99862" y="1391500"/>
            <a:ext cx="8944276" cy="21225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45" name="Shape 245"/>
        <p:cNvGrpSpPr/>
        <p:nvPr/>
      </p:nvGrpSpPr>
      <p:grpSpPr>
        <a:xfrm>
          <a:off x="0" y="0"/>
          <a:ext cx="0" cy="0"/>
          <a:chOff x="0" y="0"/>
          <a:chExt cx="0" cy="0"/>
        </a:xfrm>
      </p:grpSpPr>
      <p:sp>
        <p:nvSpPr>
          <p:cNvPr id="247" name="Google Shape;247;g3b2ef65746e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48" name="TextBox 247"/>
          <p:cNvSpPr txBox="1"/>
          <p:nvPr/>
        </p:nvSpPr>
        <p:spPr>
          <a:xfrm>
            <a:off x="400000" y="150000"/>
            <a:ext cx="8000000" cy="400000"/>
          </a:xfrm>
          <a:prstGeom prst="rect">
            <a:avLst/>
          </a:prstGeom>
          <a:noFill/>
        </p:spPr>
        <p:txBody>
          <a:bodyPr wrap="none">
            <a:spAutoFit/>
          </a:bodyPr>
          <a:lstStyle/>
          <a:p>
            <a:pPr>
              <a:defRPr sz="2800" b="1">
                <a:solidFill>
                  <a:srgbClr val="003366"/>
                </a:solidFill>
              </a:defRPr>
            </a:pPr>
            <a:r>
              <a:t>4. EXPERIMENTS</a:t>
            </a:r>
          </a:p>
        </p:txBody>
      </p:sp>
      <p:sp>
        <p:nvSpPr>
          <p:cNvPr id="249" name="TextBox 248"/>
          <p:cNvSpPr txBox="1"/>
          <p:nvPr/>
        </p:nvSpPr>
        <p:spPr>
          <a:xfrm>
            <a:off x="400000" y="600000"/>
            <a:ext cx="8000000" cy="300000"/>
          </a:xfrm>
          <a:prstGeom prst="rect">
            <a:avLst/>
          </a:prstGeom>
          <a:noFill/>
        </p:spPr>
        <p:txBody>
          <a:bodyPr wrap="none">
            <a:spAutoFit/>
          </a:bodyPr>
          <a:lstStyle/>
          <a:p>
            <a:pPr>
              <a:defRPr sz="2000" b="1"/>
            </a:pPr>
            <a:r>
              <a:t>Therapist Response Quality Evaluation</a:t>
            </a:r>
          </a:p>
        </p:txBody>
      </p:sp>
      <p:sp>
        <p:nvSpPr>
          <p:cNvPr id="250" name="TextBox 249"/>
          <p:cNvSpPr txBox="1"/>
          <p:nvPr/>
        </p:nvSpPr>
        <p:spPr>
          <a:xfrm>
            <a:off x="400000" y="980000"/>
            <a:ext cx="8200000" cy="1400000"/>
          </a:xfrm>
          <a:prstGeom prst="rect">
            <a:avLst/>
          </a:prstGeom>
          <a:noFill/>
        </p:spPr>
        <p:txBody>
          <a:bodyPr wrap="square">
            <a:spAutoFit/>
          </a:bodyPr>
          <a:lstStyle/>
          <a:p>
            <a:pPr>
              <a:spcAft>
                <a:spcPts val="400"/>
              </a:spcAft>
              <a:defRPr sz="1400" b="1"/>
            </a:pPr>
            <a:r>
              <a:t>Experimental Design:</a:t>
            </a:r>
          </a:p>
          <a:p>
            <a:pPr>
              <a:spcAft>
                <a:spcPts val="400"/>
              </a:spcAft>
              <a:defRPr sz="1100" b="0"/>
            </a:pPr>
            <a:r>
              <a:t>• 10 CBT dialogues x 4 therapist generation conditions = 40 evaluation sessions</a:t>
            </a:r>
          </a:p>
          <a:p>
            <a:pPr>
              <a:spcAft>
                <a:spcPts val="400"/>
              </a:spcAft>
              <a:defRPr sz="1100" b="0"/>
            </a:pPr>
            <a:r>
              <a:t>• Same client utterances across all conditions → controlled comparison</a:t>
            </a:r>
          </a:p>
          <a:p>
            <a:pPr>
              <a:spcAft>
                <a:spcPts val="400"/>
              </a:spcAft>
              <a:defRPr sz="1100" b="0"/>
            </a:pPr>
            <a:r>
              <a:t>• GPT-4o as zero-shot judge, temperature = 0.0, blind to condition</a:t>
            </a:r>
          </a:p>
          <a:p>
            <a:pPr>
              <a:spcAft>
                <a:spcPts val="400"/>
              </a:spcAft>
              <a:defRPr sz="1100" b="0"/>
            </a:pPr>
            <a:r>
              <a:t>• 7 metrics across 3 dimensions: Therapist Skills, Client Alliance, CTRS</a:t>
            </a:r>
          </a:p>
        </p:txBody>
      </p:sp>
      <p:sp>
        <p:nvSpPr>
          <p:cNvPr id="251" name="TextBox 250"/>
          <p:cNvSpPr txBox="1"/>
          <p:nvPr/>
        </p:nvSpPr>
        <p:spPr>
          <a:xfrm>
            <a:off x="400000" y="2380000"/>
            <a:ext cx="8200000" cy="1800000"/>
          </a:xfrm>
          <a:prstGeom prst="rect">
            <a:avLst/>
          </a:prstGeom>
          <a:noFill/>
        </p:spPr>
        <p:txBody>
          <a:bodyPr wrap="square">
            <a:spAutoFit/>
          </a:bodyPr>
          <a:lstStyle/>
          <a:p>
            <a:pPr>
              <a:spcAft>
                <a:spcPts val="300"/>
              </a:spcAft>
              <a:defRPr sz="1400" b="1"/>
            </a:pPr>
            <a:r>
              <a:t>Results (Average Scores Across 10 Dialogues):</a:t>
            </a:r>
          </a:p>
          <a:p>
            <a:pPr>
              <a:spcAft>
                <a:spcPts val="300"/>
              </a:spcAft>
              <a:defRPr sz="700" b="0"/>
            </a:pPr>
          </a:p>
          <a:p>
            <a:pPr>
              <a:spcAft>
                <a:spcPts val="300"/>
              </a:spcAft>
              <a:defRPr sz="1050" b="0"/>
            </a:pPr>
            <a:r>
              <a:t>Method            | Under. | Interp. | Affect. | CTRS-C | CTRS-G | CTRS-F | CTRS-S</a:t>
            </a:r>
          </a:p>
          <a:p>
            <a:pPr>
              <a:spcAft>
                <a:spcPts val="300"/>
              </a:spcAft>
              <a:defRPr sz="1050" b="0"/>
            </a:pPr>
            <a:r>
              <a:t>Baseline           |  4.00  |  4.40   |  3.45   |  3.10  |  2.60  |  3.00  |  2.60</a:t>
            </a:r>
          </a:p>
          <a:p>
            <a:pPr>
              <a:spcAft>
                <a:spcPts val="300"/>
              </a:spcAft>
              <a:defRPr sz="1050" b="0"/>
            </a:pPr>
            <a:r>
              <a:t>Emotion (Text)     |  4.10  |  5.00   |  4.00   |  4.00  |  3.10  |  3.40  |  3.10</a:t>
            </a:r>
          </a:p>
          <a:p>
            <a:pPr>
              <a:spcAft>
                <a:spcPts val="300"/>
              </a:spcAft>
              <a:defRPr sz="1050" b="0"/>
            </a:pPr>
            <a:r>
              <a:t>Multimodal (Vocal) |  4.30  |  5.00   |  4.00   |  3.90  |  3.10  |  3.40  |  3.10</a:t>
            </a:r>
          </a:p>
          <a:p>
            <a:pPr>
              <a:spcAft>
                <a:spcPts val="300"/>
              </a:spcAft>
              <a:defRPr sz="1050" b="1"/>
            </a:pPr>
            <a:r>
              <a:t>Dissonance-Aware   |  4.90* |  5.00   |  4.00   |  4.50* |  3.90* |  4.50* |  3.70*</a:t>
            </a:r>
          </a:p>
          <a:p>
            <a:pPr>
              <a:spcAft>
                <a:spcPts val="300"/>
              </a:spcAft>
              <a:defRPr sz="600" b="0"/>
            </a:pPr>
          </a:p>
          <a:p>
            <a:pPr>
              <a:spcAft>
                <a:spcPts val="300"/>
              </a:spcAft>
              <a:defRPr sz="900" b="0">
                <a:solidFill>
                  <a:srgbClr val="006400"/>
                </a:solidFill>
              </a:defRPr>
            </a:pPr>
            <a:r>
              <a:t>* Dissonance-Aware dominates all 7 metrics. Largest gains: +1.50 Focus, +1.40 Collab, +1.30 Guided.</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noFill/>
      </p:bgPr>
    </p:bg>
    <p:spTree>
      <p:nvGrpSpPr>
        <p:cNvPr id="253" name="Shape 253"/>
        <p:cNvGrpSpPr/>
        <p:nvPr/>
      </p:nvGrpSpPr>
      <p:grpSpPr>
        <a:xfrm>
          <a:off x="0" y="0"/>
          <a:ext cx="0" cy="0"/>
          <a:chOff x="0" y="0"/>
          <a:chExt cx="0" cy="0"/>
        </a:xfrm>
      </p:grpSpPr>
      <p:sp>
        <p:nvSpPr>
          <p:cNvPr id="255" name="Google Shape;255;g3b2ef65746e_0_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56" name="TextBox 255"/>
          <p:cNvSpPr txBox="1"/>
          <p:nvPr/>
        </p:nvSpPr>
        <p:spPr>
          <a:xfrm>
            <a:off x="400000" y="150000"/>
            <a:ext cx="8000000" cy="400000"/>
          </a:xfrm>
          <a:prstGeom prst="rect">
            <a:avLst/>
          </a:prstGeom>
          <a:noFill/>
        </p:spPr>
        <p:txBody>
          <a:bodyPr wrap="square">
            <a:spAutoFit/>
          </a:bodyPr>
          <a:lstStyle/>
          <a:p>
            <a:pPr>
              <a:defRPr sz="2800" b="1">
                <a:solidFill>
                  <a:srgbClr val="003366"/>
                </a:solidFill>
              </a:defRPr>
            </a:pPr>
            <a:r>
              <a:t>4. EXPERIMENTS</a:t>
            </a:r>
          </a:p>
        </p:txBody>
      </p:sp>
      <p:sp>
        <p:nvSpPr>
          <p:cNvPr id="257" name="TextBox 256"/>
          <p:cNvSpPr txBox="1"/>
          <p:nvPr/>
        </p:nvSpPr>
        <p:spPr>
          <a:xfrm>
            <a:off x="400000" y="600000"/>
            <a:ext cx="8000000" cy="300000"/>
          </a:xfrm>
          <a:prstGeom prst="rect">
            <a:avLst/>
          </a:prstGeom>
          <a:noFill/>
        </p:spPr>
        <p:txBody>
          <a:bodyPr wrap="square">
            <a:spAutoFit/>
          </a:bodyPr>
          <a:lstStyle/>
          <a:p>
            <a:pPr>
              <a:defRPr sz="2000" b="1"/>
            </a:pPr>
            <a:r>
              <a:t>Evaluation Protocol: GPT-4o Zero-Shot Judge</a:t>
            </a:r>
          </a:p>
        </p:txBody>
      </p:sp>
      <p:sp>
        <p:nvSpPr>
          <p:cNvPr id="258" name="TextBox 257"/>
          <p:cNvSpPr txBox="1"/>
          <p:nvPr/>
        </p:nvSpPr>
        <p:spPr>
          <a:xfrm>
            <a:off x="400000" y="1000000"/>
            <a:ext cx="8200000" cy="1000"/>
          </a:xfrm>
          <a:prstGeom prst="rect">
            <a:avLst/>
          </a:prstGeom>
          <a:noFill/>
        </p:spPr>
        <p:txBody>
          <a:bodyPr wrap="square">
            <a:spAutoFit/>
          </a:bodyPr>
          <a:lstStyle/>
          <a:p>
            <a:pPr>
              <a:spcAft>
                <a:spcPts val="400"/>
              </a:spcAft>
              <a:defRPr sz="1400" b="1"/>
            </a:pPr>
            <a:r>
              <a:t>GPT-4o Evaluation Setup:</a:t>
            </a:r>
          </a:p>
          <a:p>
            <a:pPr>
              <a:spcAft>
                <a:spcPts val="400"/>
              </a:spcAft>
              <a:defRPr sz="1100" b="0"/>
            </a:pPr>
            <a:r>
              <a:t>• Receives full session transcript (all client + therapist turns concatenated)</a:t>
            </a:r>
          </a:p>
          <a:p>
            <a:pPr>
              <a:spcAft>
                <a:spcPts val="400"/>
              </a:spcAft>
              <a:defRPr sz="1100" b="0"/>
            </a:pPr>
            <a:r>
              <a:t>• Blind to experimental condition → no evaluation bias</a:t>
            </a:r>
          </a:p>
          <a:p>
            <a:pPr>
              <a:spcAft>
                <a:spcPts val="400"/>
              </a:spcAft>
              <a:defRPr sz="1100" b="0"/>
            </a:pPr>
            <a:r>
              <a:t>• Required to output structured JSON with all 7 metric scores</a:t>
            </a:r>
          </a:p>
          <a:p>
            <a:pPr>
              <a:spcAft>
                <a:spcPts val="400"/>
              </a:spcAft>
              <a:defRPr sz="800" b="0"/>
            </a:pPr>
          </a:p>
          <a:p>
            <a:pPr>
              <a:spcAft>
                <a:spcPts val="400"/>
              </a:spcAft>
              <a:defRPr sz="1400" b="1"/>
            </a:pPr>
            <a:r>
              <a:t>Evaluation Dimensions &amp; Metrics:</a:t>
            </a:r>
          </a:p>
          <a:p>
            <a:pPr>
              <a:spcAft>
                <a:spcPts val="400"/>
              </a:spcAft>
              <a:defRPr sz="600" b="0"/>
            </a:pPr>
          </a:p>
          <a:p>
            <a:pPr>
              <a:spcAft>
                <a:spcPts val="400"/>
              </a:spcAft>
              <a:defRPr sz="1100" b="0"/>
            </a:pPr>
            <a:r>
              <a:t>Therapist Skills (0-6):          Understanding  |  Interpersonal Effectiveness</a:t>
            </a:r>
          </a:p>
          <a:p>
            <a:pPr>
              <a:spcAft>
                <a:spcPts val="400"/>
              </a:spcAft>
              <a:defRPr sz="1100" b="0"/>
            </a:pPr>
            <a:r>
              <a:t>Client Alliance (1-5):           Affective Bond</a:t>
            </a:r>
          </a:p>
          <a:p>
            <a:pPr>
              <a:spcAft>
                <a:spcPts val="400"/>
              </a:spcAft>
              <a:defRPr sz="1100" b="0"/>
            </a:pPr>
            <a:r>
              <a:t>CTRS (0-6 each):                 Collaboration  |  Guided Discovery  |  Focus  |  Strategy</a:t>
            </a:r>
          </a:p>
          <a:p>
            <a:pPr>
              <a:spcAft>
                <a:spcPts val="400"/>
              </a:spcAft>
              <a:defRPr sz="800" b="0"/>
            </a:pPr>
          </a:p>
          <a:p>
            <a:pPr>
              <a:spcAft>
                <a:spcPts val="400"/>
              </a:spcAft>
              <a:defRPr sz="1400" b="1"/>
            </a:pPr>
            <a:r>
              <a:t>Key Findings:</a:t>
            </a:r>
          </a:p>
          <a:p>
            <a:pPr>
              <a:spcAft>
                <a:spcPts val="400"/>
              </a:spcAft>
              <a:defRPr sz="1100" b="0"/>
            </a:pPr>
            <a:r>
              <a:t>• Dissonance-Aware wins 6/7 metrics vs Baseline/Emotion/Multimodal</a:t>
            </a:r>
          </a:p>
          <a:p>
            <a:pPr>
              <a:spcAft>
                <a:spcPts val="400"/>
              </a:spcAft>
              <a:defRPr sz="1100" b="0"/>
            </a:pPr>
            <a:r>
              <a:t>• Largest gains: CTRS Focus (+1.10) and CTRS Collaboration (+1.20) over Baseline</a:t>
            </a:r>
          </a:p>
          <a:p>
            <a:pPr>
              <a:spcAft>
                <a:spcPts val="400"/>
              </a:spcAft>
              <a:defRPr sz="1100" b="0"/>
            </a:pPr>
            <a:r>
              <a:t>• Multimodal (Vocal-Aware) ≈ Emotion on alliance, but drops on CTRS</a:t>
            </a:r>
          </a:p>
          <a:p>
            <a:pPr>
              <a:spcAft>
                <a:spcPts val="400"/>
              </a:spcAft>
              <a:defRPr sz="1100" b="1">
                <a:solidFill>
                  <a:srgbClr val="005000"/>
                </a:solidFill>
              </a:defRPr>
            </a:pPr>
            <a:r>
              <a:t>• Dissonance signal itself drives improvement, not just multimodal input</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b14732efab_0_8"/>
          <p:cNvSpPr txBox="1"/>
          <p:nvPr/>
        </p:nvSpPr>
        <p:spPr>
          <a:xfrm>
            <a:off x="418025" y="395475"/>
            <a:ext cx="7748100" cy="892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5. </a:t>
            </a:r>
            <a:r>
              <a:rPr b="1" lang="en" sz="2300">
                <a:solidFill>
                  <a:srgbClr val="252827"/>
                </a:solidFill>
                <a:latin typeface="Oswald"/>
                <a:ea typeface="Oswald"/>
                <a:cs typeface="Oswald"/>
                <a:sym typeface="Oswald"/>
              </a:rPr>
              <a:t>CHAT EXAMPLE BETWEEN THERAPIST &amp; CLIENT </a:t>
            </a:r>
            <a:endParaRPr b="1" i="0" sz="1400" u="none" cap="none" strike="noStrike">
              <a:solidFill>
                <a:srgbClr val="252827"/>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2300"/>
              <a:buFont typeface="Arial"/>
              <a:buNone/>
            </a:pPr>
            <a:r>
              <a:t/>
            </a:r>
            <a:endParaRPr b="1" i="0" sz="2300" u="none" cap="none" strike="noStrike">
              <a:solidFill>
                <a:srgbClr val="252827"/>
              </a:solidFill>
              <a:latin typeface="Oswald"/>
              <a:ea typeface="Oswald"/>
              <a:cs typeface="Oswald"/>
              <a:sym typeface="Oswald"/>
            </a:endParaRPr>
          </a:p>
        </p:txBody>
      </p:sp>
      <p:sp>
        <p:nvSpPr>
          <p:cNvPr id="263" name="Google Shape;263;g3b14732efab_0_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64" name="Google Shape;264;g3b14732efab_0_8"/>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pic>
        <p:nvPicPr>
          <p:cNvPr id="265" name="Google Shape;265;g3b14732efab_0_8"/>
          <p:cNvPicPr preferRelativeResize="0"/>
          <p:nvPr/>
        </p:nvPicPr>
        <p:blipFill>
          <a:blip r:embed="rId4">
            <a:alphaModFix/>
          </a:blip>
          <a:stretch>
            <a:fillRect/>
          </a:stretch>
        </p:blipFill>
        <p:spPr>
          <a:xfrm>
            <a:off x="2103750" y="4087249"/>
            <a:ext cx="4936499" cy="683650"/>
          </a:xfrm>
          <a:prstGeom prst="rect">
            <a:avLst/>
          </a:prstGeom>
          <a:noFill/>
          <a:ln>
            <a:noFill/>
          </a:ln>
        </p:spPr>
      </p:pic>
      <p:pic>
        <p:nvPicPr>
          <p:cNvPr id="266" name="Google Shape;266;g3b14732efab_0_8" title="chat_example.png"/>
          <p:cNvPicPr preferRelativeResize="0"/>
          <p:nvPr/>
        </p:nvPicPr>
        <p:blipFill rotWithShape="1">
          <a:blip r:embed="rId5">
            <a:alphaModFix/>
          </a:blip>
          <a:srcRect b="8894" l="14074" r="16765" t="8984"/>
          <a:stretch/>
        </p:blipFill>
        <p:spPr>
          <a:xfrm>
            <a:off x="1662500" y="1000550"/>
            <a:ext cx="5819002" cy="3142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2" name="Google Shape;272;g3b14732efab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74" name="Google Shape;274;g3b14732efab_0_0"/>
          <p:cNvPicPr preferRelativeResize="0"/>
          <p:nvPr/>
        </p:nvPicPr>
        <p:blipFill>
          <a:blip r:embed="rId3">
            <a:alphaModFix/>
          </a:blip>
          <a:stretch>
            <a:fillRect/>
          </a:stretch>
        </p:blipFill>
        <p:spPr>
          <a:xfrm>
            <a:off x="966788" y="1309400"/>
            <a:ext cx="7210425" cy="1657350"/>
          </a:xfrm>
          <a:prstGeom prst="rect">
            <a:avLst/>
          </a:prstGeom>
          <a:noFill/>
          <a:ln>
            <a:noFill/>
          </a:ln>
        </p:spPr>
      </p:pic>
      <p:sp>
        <p:nvSpPr>
          <p:cNvPr id="275" name="TextBox 274"/>
          <p:cNvSpPr txBox="1"/>
          <p:nvPr/>
        </p:nvSpPr>
        <p:spPr>
          <a:xfrm>
            <a:off x="400000" y="150000"/>
            <a:ext cx="8000000" cy="400000"/>
          </a:xfrm>
          <a:prstGeom prst="rect">
            <a:avLst/>
          </a:prstGeom>
          <a:noFill/>
        </p:spPr>
        <p:txBody>
          <a:bodyPr wrap="none">
            <a:spAutoFit/>
          </a:bodyPr>
          <a:lstStyle/>
          <a:p>
            <a:pPr>
              <a:defRPr sz="2800" b="1">
                <a:solidFill>
                  <a:srgbClr val="003366"/>
                </a:solidFill>
              </a:defRPr>
            </a:pPr>
            <a:r>
              <a:t>5. KEY FINDINGS</a:t>
            </a:r>
          </a:p>
        </p:txBody>
      </p:sp>
      <p:sp>
        <p:nvSpPr>
          <p:cNvPr id="276" name="TextBox 275"/>
          <p:cNvSpPr txBox="1"/>
          <p:nvPr/>
        </p:nvSpPr>
        <p:spPr>
          <a:xfrm>
            <a:off x="400000" y="600000"/>
            <a:ext cx="8200000" cy="4200000"/>
          </a:xfrm>
          <a:prstGeom prst="rect">
            <a:avLst/>
          </a:prstGeom>
          <a:noFill/>
        </p:spPr>
        <p:txBody>
          <a:bodyPr wrap="square">
            <a:spAutoFit/>
          </a:bodyPr>
          <a:lstStyle/>
          <a:p>
            <a:pPr>
              <a:spcAft>
                <a:spcPts val="200"/>
              </a:spcAft>
              <a:defRPr sz="1400" b="1"/>
            </a:pPr>
            <a:r>
              <a:t>Dissonance-Aware dominated all 7 metrics:</a:t>
            </a:r>
          </a:p>
          <a:p>
            <a:pPr>
              <a:spcAft>
                <a:spcPts val="200"/>
              </a:spcAft>
              <a:defRPr sz="500" b="0"/>
            </a:pPr>
          </a:p>
          <a:p>
            <a:pPr>
              <a:spcAft>
                <a:spcPts val="200"/>
              </a:spcAft>
              <a:defRPr sz="1200" b="0"/>
            </a:pPr>
            <a:r>
              <a:t>• Understanding: 4.90 (Baseline: 4.00, +0.90)</a:t>
            </a:r>
          </a:p>
          <a:p>
            <a:pPr>
              <a:spcAft>
                <a:spcPts val="200"/>
              </a:spcAft>
              <a:defRPr sz="1200" b="0"/>
            </a:pPr>
            <a:r>
              <a:t>• CTRS Focus:      4.50 (Baseline: 3.00, +1.50)  ← Largest gain</a:t>
            </a:r>
          </a:p>
          <a:p>
            <a:pPr>
              <a:spcAft>
                <a:spcPts val="200"/>
              </a:spcAft>
              <a:defRPr sz="1200" b="0"/>
            </a:pPr>
            <a:r>
              <a:t>• CTRS Collab:     4.50 (Baseline: 3.10, +1.40)</a:t>
            </a:r>
          </a:p>
          <a:p>
            <a:pPr>
              <a:spcAft>
                <a:spcPts val="200"/>
              </a:spcAft>
              <a:defRPr sz="1200" b="0"/>
            </a:pPr>
            <a:r>
              <a:t>• CTRS Guided:     3.90 (Baseline: 2.60, +1.30)</a:t>
            </a:r>
          </a:p>
          <a:p>
            <a:pPr>
              <a:spcAft>
                <a:spcPts val="200"/>
              </a:spcAft>
              <a:defRPr sz="1200" b="0"/>
            </a:pPr>
            <a:r>
              <a:t>• CTRS Strategy:   3.70 (Baseline: 2.60, +1.10)</a:t>
            </a:r>
          </a:p>
          <a:p>
            <a:pPr>
              <a:spcAft>
                <a:spcPts val="200"/>
              </a:spcAft>
              <a:defRPr sz="700" b="0"/>
            </a:pPr>
          </a:p>
          <a:p>
            <a:pPr>
              <a:spcAft>
                <a:spcPts val="200"/>
              </a:spcAft>
              <a:defRPr sz="1400" b="1"/>
            </a:pPr>
            <a:r>
              <a:t>Multimodal (Vocal-Aware) shows clear improvement:</a:t>
            </a:r>
          </a:p>
          <a:p>
            <a:pPr>
              <a:spcAft>
                <a:spcPts val="200"/>
              </a:spcAft>
              <a:defRPr sz="500" b="0"/>
            </a:pPr>
          </a:p>
          <a:p>
            <a:pPr>
              <a:spcAft>
                <a:spcPts val="200"/>
              </a:spcAft>
              <a:defRPr sz="1200" b="0"/>
            </a:pPr>
            <a:r>
              <a:t>• Understanding: 4.30 vs Emotion 4.10 → vocal cues add value</a:t>
            </a:r>
          </a:p>
          <a:p>
            <a:pPr>
              <a:spcAft>
                <a:spcPts val="200"/>
              </a:spcAft>
              <a:defRPr sz="1200" b="0"/>
            </a:pPr>
            <a:r>
              <a:t>• CTRS metrics match or slightly exceed Emotion (Text-Only)</a:t>
            </a:r>
          </a:p>
          <a:p>
            <a:pPr>
              <a:spcAft>
                <a:spcPts val="200"/>
              </a:spcAft>
              <a:defRPr sz="700" b="0"/>
            </a:pPr>
          </a:p>
          <a:p>
            <a:pPr>
              <a:spcAft>
                <a:spcPts val="200"/>
              </a:spcAft>
              <a:defRPr sz="1400" b="1">
                <a:solidFill>
                  <a:srgbClr val="005000"/>
                </a:solidFill>
              </a:defRPr>
            </a:pPr>
            <a:r>
              <a:t>Core Finding:</a:t>
            </a:r>
          </a:p>
          <a:p>
            <a:pPr>
              <a:spcAft>
                <a:spcPts val="200"/>
              </a:spcAft>
              <a:defRPr sz="1300" b="1">
                <a:solidFill>
                  <a:srgbClr val="005000"/>
                </a:solidFill>
              </a:defRPr>
            </a:pPr>
            <a:r>
              <a:t>The dissonance signal itself is the key driver of improved</a:t>
            </a:r>
          </a:p>
          <a:p>
            <a:pPr>
              <a:spcAft>
                <a:spcPts val="200"/>
              </a:spcAft>
              <a:defRPr sz="1300" b="1">
                <a:solidFill>
                  <a:srgbClr val="005000"/>
                </a:solidFill>
              </a:defRPr>
            </a:pPr>
            <a:r>
              <a:t>therapeutic attunement in CBT-oriented LLM responses.</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8" name="Shape 278"/>
        <p:cNvGrpSpPr/>
        <p:nvPr/>
      </p:nvGrpSpPr>
      <p:grpSpPr>
        <a:xfrm>
          <a:off x="0" y="0"/>
          <a:ext cx="0" cy="0"/>
          <a:chOff x="0" y="0"/>
          <a:chExt cx="0" cy="0"/>
        </a:xfrm>
      </p:grpSpPr>
      <p:sp>
        <p:nvSpPr>
          <p:cNvPr id="279" name="Google Shape;279;p33"/>
          <p:cNvSpPr txBox="1"/>
          <p:nvPr/>
        </p:nvSpPr>
        <p:spPr>
          <a:xfrm>
            <a:off x="418025" y="468350"/>
            <a:ext cx="49023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6. DISCUSSION </a:t>
            </a:r>
            <a:endParaRPr b="1" i="0" sz="2300" u="none" cap="none" strike="noStrike">
              <a:solidFill>
                <a:srgbClr val="252827"/>
              </a:solidFill>
              <a:latin typeface="Oswald"/>
              <a:ea typeface="Oswald"/>
              <a:cs typeface="Oswald"/>
              <a:sym typeface="Oswald"/>
            </a:endParaRPr>
          </a:p>
        </p:txBody>
      </p:sp>
      <p:sp>
        <p:nvSpPr>
          <p:cNvPr id="280" name="Google Shape;280;p33"/>
          <p:cNvSpPr/>
          <p:nvPr/>
        </p:nvSpPr>
        <p:spPr>
          <a:xfrm>
            <a:off x="540800" y="1374350"/>
            <a:ext cx="7902300" cy="3118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50000"/>
              </a:lnSpc>
              <a:spcBef>
                <a:spcPts val="1599"/>
              </a:spcBef>
              <a:spcAft>
                <a:spcPts val="0"/>
              </a:spcAft>
              <a:buClr>
                <a:schemeClr val="dk1"/>
              </a:buClr>
              <a:buSzPts val="1100"/>
              <a:buFont typeface="Arial"/>
              <a:buNone/>
            </a:pPr>
            <a:r>
              <a:rPr b="0" i="0" lang="en" sz="1100" u="none" cap="none" strike="noStrike">
                <a:solidFill>
                  <a:schemeClr val="dk1"/>
                </a:solidFill>
                <a:latin typeface="Montserrat"/>
                <a:ea typeface="Montserrat"/>
                <a:cs typeface="Montserrat"/>
                <a:sym typeface="Montserrat"/>
              </a:rPr>
              <a:t>FOR FINAL DEFENSE ONLY</a:t>
            </a:r>
            <a:endParaRPr b="0" i="0" sz="1100" u="none" cap="none" strike="noStrike">
              <a:solidFill>
                <a:schemeClr val="dk1"/>
              </a:solidFill>
              <a:latin typeface="Montserrat"/>
              <a:ea typeface="Montserrat"/>
              <a:cs typeface="Montserrat"/>
              <a:sym typeface="Montserrat"/>
            </a:endParaRPr>
          </a:p>
        </p:txBody>
      </p:sp>
      <p:sp>
        <p:nvSpPr>
          <p:cNvPr id="281" name="Google Shape;281;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82" name="Google Shape;282;p33"/>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6" name="Shape 286"/>
        <p:cNvGrpSpPr/>
        <p:nvPr/>
      </p:nvGrpSpPr>
      <p:grpSpPr>
        <a:xfrm>
          <a:off x="0" y="0"/>
          <a:ext cx="0" cy="0"/>
          <a:chOff x="0" y="0"/>
          <a:chExt cx="0" cy="0"/>
        </a:xfrm>
      </p:grpSpPr>
      <p:sp>
        <p:nvSpPr>
          <p:cNvPr id="287" name="Google Shape;287;p34"/>
          <p:cNvSpPr txBox="1"/>
          <p:nvPr/>
        </p:nvSpPr>
        <p:spPr>
          <a:xfrm>
            <a:off x="418025" y="468350"/>
            <a:ext cx="8456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6. DISCUSSION - REVISIT RESEARCH QUESTIONS </a:t>
            </a:r>
            <a:endParaRPr b="1" i="0" sz="2300" u="none" cap="none" strike="noStrike">
              <a:solidFill>
                <a:srgbClr val="252827"/>
              </a:solidFill>
              <a:latin typeface="Oswald"/>
              <a:ea typeface="Oswald"/>
              <a:cs typeface="Oswald"/>
              <a:sym typeface="Oswald"/>
            </a:endParaRPr>
          </a:p>
        </p:txBody>
      </p:sp>
      <p:sp>
        <p:nvSpPr>
          <p:cNvPr id="288" name="Google Shape;288;p34"/>
          <p:cNvSpPr/>
          <p:nvPr/>
        </p:nvSpPr>
        <p:spPr>
          <a:xfrm>
            <a:off x="540800" y="1374350"/>
            <a:ext cx="7902300" cy="3118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50000"/>
              </a:lnSpc>
              <a:spcBef>
                <a:spcPts val="1599"/>
              </a:spcBef>
              <a:spcAft>
                <a:spcPts val="0"/>
              </a:spcAft>
              <a:buClr>
                <a:schemeClr val="dk1"/>
              </a:buClr>
              <a:buSzPts val="1100"/>
              <a:buFont typeface="Arial"/>
              <a:buNone/>
            </a:pPr>
            <a:r>
              <a:rPr b="0" i="0" lang="en" sz="1100" u="none" cap="none" strike="noStrike">
                <a:solidFill>
                  <a:schemeClr val="dk1"/>
                </a:solidFill>
                <a:latin typeface="Montserrat"/>
                <a:ea typeface="Montserrat"/>
                <a:cs typeface="Montserrat"/>
                <a:sym typeface="Montserrat"/>
              </a:rPr>
              <a:t>FOR FINAL DEFENSE ONLY</a:t>
            </a:r>
            <a:endParaRPr b="0" i="0" sz="1100" u="none" cap="none" strike="noStrike">
              <a:solidFill>
                <a:schemeClr val="dk1"/>
              </a:solidFill>
              <a:latin typeface="Montserrat"/>
              <a:ea typeface="Montserrat"/>
              <a:cs typeface="Montserrat"/>
              <a:sym typeface="Montserrat"/>
            </a:endParaRPr>
          </a:p>
        </p:txBody>
      </p:sp>
      <p:sp>
        <p:nvSpPr>
          <p:cNvPr id="289" name="Google Shape;289;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90" name="Google Shape;290;p34"/>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4" name="Shape 294"/>
        <p:cNvGrpSpPr/>
        <p:nvPr/>
      </p:nvGrpSpPr>
      <p:grpSpPr>
        <a:xfrm>
          <a:off x="0" y="0"/>
          <a:ext cx="0" cy="0"/>
          <a:chOff x="0" y="0"/>
          <a:chExt cx="0" cy="0"/>
        </a:xfrm>
      </p:grpSpPr>
      <p:sp>
        <p:nvSpPr>
          <p:cNvPr id="295" name="Google Shape;295;p35"/>
          <p:cNvSpPr txBox="1"/>
          <p:nvPr/>
        </p:nvSpPr>
        <p:spPr>
          <a:xfrm>
            <a:off x="418025" y="468350"/>
            <a:ext cx="49023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7. DEMO</a:t>
            </a:r>
            <a:endParaRPr b="1" i="0" sz="2300" u="none" cap="none" strike="noStrike">
              <a:solidFill>
                <a:srgbClr val="252827"/>
              </a:solidFill>
              <a:latin typeface="Oswald"/>
              <a:ea typeface="Oswald"/>
              <a:cs typeface="Oswald"/>
              <a:sym typeface="Oswald"/>
            </a:endParaRPr>
          </a:p>
        </p:txBody>
      </p:sp>
      <p:sp>
        <p:nvSpPr>
          <p:cNvPr id="296" name="Google Shape;296;p35"/>
          <p:cNvSpPr/>
          <p:nvPr/>
        </p:nvSpPr>
        <p:spPr>
          <a:xfrm>
            <a:off x="540800" y="1374350"/>
            <a:ext cx="7902300" cy="3118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50000"/>
              </a:lnSpc>
              <a:spcBef>
                <a:spcPts val="1599"/>
              </a:spcBef>
              <a:spcAft>
                <a:spcPts val="0"/>
              </a:spcAft>
              <a:buClr>
                <a:schemeClr val="dk1"/>
              </a:buClr>
              <a:buSzPts val="1100"/>
              <a:buFont typeface="Arial"/>
              <a:buNone/>
            </a:pPr>
            <a:r>
              <a:rPr b="0" i="0" lang="en" sz="1100" u="none" cap="none" strike="noStrike">
                <a:solidFill>
                  <a:schemeClr val="dk1"/>
                </a:solidFill>
                <a:latin typeface="Montserrat"/>
                <a:ea typeface="Montserrat"/>
                <a:cs typeface="Montserrat"/>
                <a:sym typeface="Montserrat"/>
              </a:rPr>
              <a:t>FOR FINAL DEFENSE ONLY</a:t>
            </a:r>
            <a:endParaRPr b="0" i="0" sz="1100" u="none" cap="none" strike="noStrike">
              <a:solidFill>
                <a:schemeClr val="dk1"/>
              </a:solidFill>
              <a:latin typeface="Montserrat"/>
              <a:ea typeface="Montserrat"/>
              <a:cs typeface="Montserrat"/>
              <a:sym typeface="Montserrat"/>
            </a:endParaRPr>
          </a:p>
        </p:txBody>
      </p:sp>
      <p:sp>
        <p:nvSpPr>
          <p:cNvPr id="297" name="Google Shape;29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98" name="Google Shape;298;p35"/>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2" name="Shape 302"/>
        <p:cNvGrpSpPr/>
        <p:nvPr/>
      </p:nvGrpSpPr>
      <p:grpSpPr>
        <a:xfrm>
          <a:off x="0" y="0"/>
          <a:ext cx="0" cy="0"/>
          <a:chOff x="0" y="0"/>
          <a:chExt cx="0" cy="0"/>
        </a:xfrm>
      </p:grpSpPr>
      <p:sp>
        <p:nvSpPr>
          <p:cNvPr id="303" name="Google Shape;303;p36"/>
          <p:cNvSpPr/>
          <p:nvPr/>
        </p:nvSpPr>
        <p:spPr>
          <a:xfrm>
            <a:off x="512350" y="1655000"/>
            <a:ext cx="2226300" cy="3150900"/>
          </a:xfrm>
          <a:prstGeom prst="rect">
            <a:avLst/>
          </a:prstGeom>
          <a:noFill/>
          <a:ln>
            <a:noFill/>
          </a:ln>
        </p:spPr>
        <p:txBody>
          <a:bodyPr anchorCtr="0" anchor="t" bIns="91425" lIns="91425" spcFirstLastPara="1" rIns="91425" wrap="square" tIns="91425">
            <a:noAutofit/>
          </a:bodyPr>
          <a:lstStyle/>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252827"/>
                </a:solidFill>
                <a:latin typeface="Montserrat"/>
                <a:ea typeface="Montserrat"/>
                <a:cs typeface="Montserrat"/>
                <a:sym typeface="Montserrat"/>
              </a:rPr>
              <a:t>Literature Review</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B44257"/>
                </a:solidFill>
                <a:latin typeface="Montserrat"/>
                <a:ea typeface="Montserrat"/>
                <a:cs typeface="Montserrat"/>
                <a:sym typeface="Montserrat"/>
              </a:rPr>
              <a:t>Proposal Defense</a:t>
            </a:r>
            <a:endParaRPr b="1" i="0" sz="1000" u="none" cap="none" strike="noStrike">
              <a:solidFill>
                <a:srgbClr val="B4425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252827"/>
                </a:solidFill>
                <a:latin typeface="Montserrat"/>
                <a:ea typeface="Montserrat"/>
                <a:cs typeface="Montserrat"/>
                <a:sym typeface="Montserrat"/>
              </a:rPr>
              <a:t>Development</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252827"/>
                </a:solidFill>
                <a:latin typeface="Montserrat"/>
                <a:ea typeface="Montserrat"/>
                <a:cs typeface="Montserrat"/>
                <a:sym typeface="Montserrat"/>
              </a:rPr>
              <a:t>Experiment</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B44257"/>
                </a:solidFill>
                <a:latin typeface="Montserrat"/>
                <a:ea typeface="Montserrat"/>
                <a:cs typeface="Montserrat"/>
                <a:sym typeface="Montserrat"/>
              </a:rPr>
              <a:t>Progress Defense</a:t>
            </a:r>
            <a:endParaRPr b="1" i="0" sz="1000" u="none" cap="none" strike="noStrike">
              <a:solidFill>
                <a:srgbClr val="B4425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252827"/>
                </a:solidFill>
                <a:latin typeface="Montserrat"/>
                <a:ea typeface="Montserrat"/>
                <a:cs typeface="Montserrat"/>
                <a:sym typeface="Montserrat"/>
              </a:rPr>
              <a:t>Analysis</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252827"/>
                </a:solidFill>
                <a:latin typeface="Montserrat"/>
                <a:ea typeface="Montserrat"/>
                <a:cs typeface="Montserrat"/>
                <a:sym typeface="Montserrat"/>
              </a:rPr>
              <a:t>Writing</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252827"/>
                </a:solidFill>
                <a:latin typeface="Montserrat"/>
                <a:ea typeface="Montserrat"/>
                <a:cs typeface="Montserrat"/>
                <a:sym typeface="Montserrat"/>
              </a:rPr>
              <a:t>Publication</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B44257"/>
                </a:solidFill>
                <a:latin typeface="Montserrat"/>
                <a:ea typeface="Montserrat"/>
                <a:cs typeface="Montserrat"/>
                <a:sym typeface="Montserrat"/>
              </a:rPr>
              <a:t>Final Defense</a:t>
            </a:r>
            <a:endParaRPr b="1" i="0" sz="1000" u="none" cap="none" strike="noStrike">
              <a:solidFill>
                <a:srgbClr val="B4425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t/>
            </a:r>
            <a:endParaRPr b="1" i="0" sz="1000" u="none" cap="none" strike="noStrike">
              <a:solidFill>
                <a:srgbClr val="252827"/>
              </a:solidFill>
              <a:latin typeface="Montserrat"/>
              <a:ea typeface="Montserrat"/>
              <a:cs typeface="Montserrat"/>
              <a:sym typeface="Montserrat"/>
            </a:endParaRPr>
          </a:p>
        </p:txBody>
      </p:sp>
      <p:sp>
        <p:nvSpPr>
          <p:cNvPr id="304" name="Google Shape;304;p36"/>
          <p:cNvSpPr/>
          <p:nvPr/>
        </p:nvSpPr>
        <p:spPr>
          <a:xfrm>
            <a:off x="2738889" y="2365941"/>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05" name="Google Shape;305;p36"/>
          <p:cNvSpPr/>
          <p:nvPr/>
        </p:nvSpPr>
        <p:spPr>
          <a:xfrm>
            <a:off x="2738889" y="1731267"/>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06" name="Google Shape;306;p36"/>
          <p:cNvSpPr/>
          <p:nvPr/>
        </p:nvSpPr>
        <p:spPr>
          <a:xfrm>
            <a:off x="2738889" y="2053506"/>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07" name="Google Shape;307;p36"/>
          <p:cNvSpPr/>
          <p:nvPr/>
        </p:nvSpPr>
        <p:spPr>
          <a:xfrm>
            <a:off x="2738889" y="2656607"/>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08" name="Google Shape;308;p36"/>
          <p:cNvSpPr/>
          <p:nvPr/>
        </p:nvSpPr>
        <p:spPr>
          <a:xfrm>
            <a:off x="2738889" y="2976973"/>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44257"/>
              </a:solidFill>
              <a:latin typeface="Arial"/>
              <a:ea typeface="Arial"/>
              <a:cs typeface="Arial"/>
              <a:sym typeface="Arial"/>
            </a:endParaRPr>
          </a:p>
        </p:txBody>
      </p:sp>
      <p:sp>
        <p:nvSpPr>
          <p:cNvPr id="309" name="Google Shape;309;p36"/>
          <p:cNvSpPr/>
          <p:nvPr/>
        </p:nvSpPr>
        <p:spPr>
          <a:xfrm>
            <a:off x="2738889" y="4198422"/>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44257"/>
              </a:solidFill>
              <a:latin typeface="Arial"/>
              <a:ea typeface="Arial"/>
              <a:cs typeface="Arial"/>
              <a:sym typeface="Arial"/>
            </a:endParaRPr>
          </a:p>
        </p:txBody>
      </p:sp>
      <p:sp>
        <p:nvSpPr>
          <p:cNvPr id="310" name="Google Shape;310;p36"/>
          <p:cNvSpPr/>
          <p:nvPr/>
        </p:nvSpPr>
        <p:spPr>
          <a:xfrm>
            <a:off x="2738889" y="3886714"/>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44257"/>
              </a:solidFill>
              <a:latin typeface="Arial"/>
              <a:ea typeface="Arial"/>
              <a:cs typeface="Arial"/>
              <a:sym typeface="Arial"/>
            </a:endParaRPr>
          </a:p>
        </p:txBody>
      </p:sp>
      <p:sp>
        <p:nvSpPr>
          <p:cNvPr id="311" name="Google Shape;311;p36"/>
          <p:cNvSpPr/>
          <p:nvPr/>
        </p:nvSpPr>
        <p:spPr>
          <a:xfrm>
            <a:off x="2738889" y="3585160"/>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44257"/>
              </a:solidFill>
              <a:latin typeface="Arial"/>
              <a:ea typeface="Arial"/>
              <a:cs typeface="Arial"/>
              <a:sym typeface="Arial"/>
            </a:endParaRPr>
          </a:p>
        </p:txBody>
      </p:sp>
      <p:sp>
        <p:nvSpPr>
          <p:cNvPr id="312" name="Google Shape;312;p36"/>
          <p:cNvSpPr/>
          <p:nvPr/>
        </p:nvSpPr>
        <p:spPr>
          <a:xfrm>
            <a:off x="2738889" y="3262917"/>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44257"/>
              </a:solidFill>
              <a:latin typeface="Arial"/>
              <a:ea typeface="Arial"/>
              <a:cs typeface="Arial"/>
              <a:sym typeface="Arial"/>
            </a:endParaRPr>
          </a:p>
        </p:txBody>
      </p:sp>
      <p:sp>
        <p:nvSpPr>
          <p:cNvPr id="313" name="Google Shape;313;p36"/>
          <p:cNvSpPr/>
          <p:nvPr/>
        </p:nvSpPr>
        <p:spPr>
          <a:xfrm>
            <a:off x="2738889"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JUN</a:t>
            </a:r>
            <a:endParaRPr b="1" i="0" sz="700" u="none" cap="none" strike="noStrike">
              <a:solidFill>
                <a:srgbClr val="252827"/>
              </a:solidFill>
              <a:latin typeface="Montserrat"/>
              <a:ea typeface="Montserrat"/>
              <a:cs typeface="Montserrat"/>
              <a:sym typeface="Montserrat"/>
            </a:endParaRPr>
          </a:p>
        </p:txBody>
      </p:sp>
      <p:sp>
        <p:nvSpPr>
          <p:cNvPr id="314" name="Google Shape;314;p36"/>
          <p:cNvSpPr/>
          <p:nvPr/>
        </p:nvSpPr>
        <p:spPr>
          <a:xfrm>
            <a:off x="3169046"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JUL</a:t>
            </a:r>
            <a:endParaRPr b="1" i="0" sz="700" u="none" cap="none" strike="noStrike">
              <a:solidFill>
                <a:srgbClr val="252827"/>
              </a:solidFill>
              <a:latin typeface="Montserrat"/>
              <a:ea typeface="Montserrat"/>
              <a:cs typeface="Montserrat"/>
              <a:sym typeface="Montserrat"/>
            </a:endParaRPr>
          </a:p>
        </p:txBody>
      </p:sp>
      <p:sp>
        <p:nvSpPr>
          <p:cNvPr id="315" name="Google Shape;315;p36"/>
          <p:cNvSpPr/>
          <p:nvPr/>
        </p:nvSpPr>
        <p:spPr>
          <a:xfrm>
            <a:off x="3599204"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AUG</a:t>
            </a:r>
            <a:endParaRPr b="1" i="0" sz="700" u="none" cap="none" strike="noStrike">
              <a:solidFill>
                <a:srgbClr val="252827"/>
              </a:solidFill>
              <a:latin typeface="Montserrat"/>
              <a:ea typeface="Montserrat"/>
              <a:cs typeface="Montserrat"/>
              <a:sym typeface="Montserrat"/>
            </a:endParaRPr>
          </a:p>
        </p:txBody>
      </p:sp>
      <p:sp>
        <p:nvSpPr>
          <p:cNvPr id="316" name="Google Shape;316;p36"/>
          <p:cNvSpPr/>
          <p:nvPr/>
        </p:nvSpPr>
        <p:spPr>
          <a:xfrm>
            <a:off x="4029361"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SEP</a:t>
            </a:r>
            <a:endParaRPr b="1" i="0" sz="700" u="none" cap="none" strike="noStrike">
              <a:solidFill>
                <a:srgbClr val="252827"/>
              </a:solidFill>
              <a:latin typeface="Montserrat"/>
              <a:ea typeface="Montserrat"/>
              <a:cs typeface="Montserrat"/>
              <a:sym typeface="Montserrat"/>
            </a:endParaRPr>
          </a:p>
        </p:txBody>
      </p:sp>
      <p:sp>
        <p:nvSpPr>
          <p:cNvPr id="317" name="Google Shape;317;p36"/>
          <p:cNvSpPr/>
          <p:nvPr/>
        </p:nvSpPr>
        <p:spPr>
          <a:xfrm>
            <a:off x="4450508"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OCT</a:t>
            </a:r>
            <a:endParaRPr b="1" i="0" sz="700" u="none" cap="none" strike="noStrike">
              <a:solidFill>
                <a:srgbClr val="252827"/>
              </a:solidFill>
              <a:latin typeface="Montserrat"/>
              <a:ea typeface="Montserrat"/>
              <a:cs typeface="Montserrat"/>
              <a:sym typeface="Montserrat"/>
            </a:endParaRPr>
          </a:p>
        </p:txBody>
      </p:sp>
      <p:sp>
        <p:nvSpPr>
          <p:cNvPr id="318" name="Google Shape;318;p36"/>
          <p:cNvSpPr/>
          <p:nvPr/>
        </p:nvSpPr>
        <p:spPr>
          <a:xfrm>
            <a:off x="4880666"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NOV</a:t>
            </a:r>
            <a:endParaRPr b="1" i="0" sz="700" u="none" cap="none" strike="noStrike">
              <a:solidFill>
                <a:srgbClr val="252827"/>
              </a:solidFill>
              <a:latin typeface="Montserrat"/>
              <a:ea typeface="Montserrat"/>
              <a:cs typeface="Montserrat"/>
              <a:sym typeface="Montserrat"/>
            </a:endParaRPr>
          </a:p>
        </p:txBody>
      </p:sp>
      <p:sp>
        <p:nvSpPr>
          <p:cNvPr id="319" name="Google Shape;319;p36"/>
          <p:cNvSpPr/>
          <p:nvPr/>
        </p:nvSpPr>
        <p:spPr>
          <a:xfrm>
            <a:off x="5310823"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DEC</a:t>
            </a:r>
            <a:endParaRPr b="1" i="0" sz="700" u="none" cap="none" strike="noStrike">
              <a:solidFill>
                <a:srgbClr val="252827"/>
              </a:solidFill>
              <a:latin typeface="Montserrat"/>
              <a:ea typeface="Montserrat"/>
              <a:cs typeface="Montserrat"/>
              <a:sym typeface="Montserrat"/>
            </a:endParaRPr>
          </a:p>
        </p:txBody>
      </p:sp>
      <p:sp>
        <p:nvSpPr>
          <p:cNvPr id="320" name="Google Shape;320;p36"/>
          <p:cNvSpPr/>
          <p:nvPr/>
        </p:nvSpPr>
        <p:spPr>
          <a:xfrm>
            <a:off x="5740980"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JAN</a:t>
            </a:r>
            <a:endParaRPr b="1" i="0" sz="700" u="none" cap="none" strike="noStrike">
              <a:solidFill>
                <a:srgbClr val="252827"/>
              </a:solidFill>
              <a:latin typeface="Montserrat"/>
              <a:ea typeface="Montserrat"/>
              <a:cs typeface="Montserrat"/>
              <a:sym typeface="Montserrat"/>
            </a:endParaRPr>
          </a:p>
        </p:txBody>
      </p:sp>
      <p:sp>
        <p:nvSpPr>
          <p:cNvPr id="321" name="Google Shape;321;p36"/>
          <p:cNvSpPr/>
          <p:nvPr/>
        </p:nvSpPr>
        <p:spPr>
          <a:xfrm>
            <a:off x="6171137"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FEB</a:t>
            </a:r>
            <a:endParaRPr b="1" i="0" sz="700" u="none" cap="none" strike="noStrike">
              <a:solidFill>
                <a:srgbClr val="252827"/>
              </a:solidFill>
              <a:latin typeface="Montserrat"/>
              <a:ea typeface="Montserrat"/>
              <a:cs typeface="Montserrat"/>
              <a:sym typeface="Montserrat"/>
            </a:endParaRPr>
          </a:p>
        </p:txBody>
      </p:sp>
      <p:sp>
        <p:nvSpPr>
          <p:cNvPr id="322" name="Google Shape;322;p36"/>
          <p:cNvSpPr/>
          <p:nvPr/>
        </p:nvSpPr>
        <p:spPr>
          <a:xfrm>
            <a:off x="6601294"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MAR</a:t>
            </a:r>
            <a:endParaRPr b="1" i="0" sz="700" u="none" cap="none" strike="noStrike">
              <a:solidFill>
                <a:srgbClr val="252827"/>
              </a:solidFill>
              <a:latin typeface="Montserrat"/>
              <a:ea typeface="Montserrat"/>
              <a:cs typeface="Montserrat"/>
              <a:sym typeface="Montserrat"/>
            </a:endParaRPr>
          </a:p>
        </p:txBody>
      </p:sp>
      <p:sp>
        <p:nvSpPr>
          <p:cNvPr id="323" name="Google Shape;323;p36"/>
          <p:cNvSpPr/>
          <p:nvPr/>
        </p:nvSpPr>
        <p:spPr>
          <a:xfrm>
            <a:off x="7031451"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APR</a:t>
            </a:r>
            <a:endParaRPr b="1" i="0" sz="700" u="none" cap="none" strike="noStrike">
              <a:solidFill>
                <a:srgbClr val="252827"/>
              </a:solidFill>
              <a:latin typeface="Montserrat"/>
              <a:ea typeface="Montserrat"/>
              <a:cs typeface="Montserrat"/>
              <a:sym typeface="Montserrat"/>
            </a:endParaRPr>
          </a:p>
        </p:txBody>
      </p:sp>
      <p:sp>
        <p:nvSpPr>
          <p:cNvPr id="324" name="Google Shape;324;p36"/>
          <p:cNvSpPr/>
          <p:nvPr/>
        </p:nvSpPr>
        <p:spPr>
          <a:xfrm>
            <a:off x="7461608"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MAY</a:t>
            </a:r>
            <a:endParaRPr b="1" i="0" sz="700" u="none" cap="none" strike="noStrike">
              <a:solidFill>
                <a:srgbClr val="252827"/>
              </a:solidFill>
              <a:latin typeface="Montserrat"/>
              <a:ea typeface="Montserrat"/>
              <a:cs typeface="Montserrat"/>
              <a:sym typeface="Montserrat"/>
            </a:endParaRPr>
          </a:p>
        </p:txBody>
      </p:sp>
      <p:sp>
        <p:nvSpPr>
          <p:cNvPr id="325" name="Google Shape;325;p36"/>
          <p:cNvSpPr/>
          <p:nvPr/>
        </p:nvSpPr>
        <p:spPr>
          <a:xfrm>
            <a:off x="7891765"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JUN</a:t>
            </a:r>
            <a:endParaRPr b="1" i="0" sz="700" u="none" cap="none" strike="noStrike">
              <a:solidFill>
                <a:srgbClr val="252827"/>
              </a:solidFill>
              <a:latin typeface="Montserrat"/>
              <a:ea typeface="Montserrat"/>
              <a:cs typeface="Montserrat"/>
              <a:sym typeface="Montserrat"/>
            </a:endParaRPr>
          </a:p>
        </p:txBody>
      </p:sp>
      <p:sp>
        <p:nvSpPr>
          <p:cNvPr id="326" name="Google Shape;326;p36"/>
          <p:cNvSpPr/>
          <p:nvPr/>
        </p:nvSpPr>
        <p:spPr>
          <a:xfrm>
            <a:off x="8321922"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JUL</a:t>
            </a:r>
            <a:endParaRPr b="1" i="0" sz="700" u="none" cap="none" strike="noStrike">
              <a:solidFill>
                <a:srgbClr val="252827"/>
              </a:solidFill>
              <a:latin typeface="Montserrat"/>
              <a:ea typeface="Montserrat"/>
              <a:cs typeface="Montserrat"/>
              <a:sym typeface="Montserrat"/>
            </a:endParaRPr>
          </a:p>
        </p:txBody>
      </p:sp>
      <p:sp>
        <p:nvSpPr>
          <p:cNvPr id="327" name="Google Shape;327;p36"/>
          <p:cNvSpPr/>
          <p:nvPr/>
        </p:nvSpPr>
        <p:spPr>
          <a:xfrm>
            <a:off x="2739053" y="1138950"/>
            <a:ext cx="30021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300" u="none" cap="none" strike="noStrike">
                <a:solidFill>
                  <a:srgbClr val="252827"/>
                </a:solidFill>
                <a:latin typeface="Montserrat"/>
                <a:ea typeface="Montserrat"/>
                <a:cs typeface="Montserrat"/>
                <a:sym typeface="Montserrat"/>
              </a:rPr>
              <a:t>2025</a:t>
            </a:r>
            <a:endParaRPr b="1" i="0" sz="1300" u="none" cap="none" strike="noStrike">
              <a:solidFill>
                <a:srgbClr val="252827"/>
              </a:solidFill>
              <a:latin typeface="Montserrat"/>
              <a:ea typeface="Montserrat"/>
              <a:cs typeface="Montserrat"/>
              <a:sym typeface="Montserrat"/>
            </a:endParaRPr>
          </a:p>
        </p:txBody>
      </p:sp>
      <p:sp>
        <p:nvSpPr>
          <p:cNvPr id="328" name="Google Shape;328;p36"/>
          <p:cNvSpPr/>
          <p:nvPr/>
        </p:nvSpPr>
        <p:spPr>
          <a:xfrm>
            <a:off x="5731970" y="1138950"/>
            <a:ext cx="30021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300" u="none" cap="none" strike="noStrike">
                <a:solidFill>
                  <a:srgbClr val="252827"/>
                </a:solidFill>
                <a:latin typeface="Montserrat"/>
                <a:ea typeface="Montserrat"/>
                <a:cs typeface="Montserrat"/>
                <a:sym typeface="Montserrat"/>
              </a:rPr>
              <a:t>2026</a:t>
            </a:r>
            <a:endParaRPr b="1" i="0" sz="1300" u="none" cap="none" strike="noStrike">
              <a:solidFill>
                <a:srgbClr val="252827"/>
              </a:solidFill>
              <a:latin typeface="Montserrat"/>
              <a:ea typeface="Montserrat"/>
              <a:cs typeface="Montserrat"/>
              <a:sym typeface="Montserrat"/>
            </a:endParaRPr>
          </a:p>
        </p:txBody>
      </p:sp>
      <p:sp>
        <p:nvSpPr>
          <p:cNvPr id="329" name="Google Shape;329;p36"/>
          <p:cNvSpPr/>
          <p:nvPr/>
        </p:nvSpPr>
        <p:spPr>
          <a:xfrm>
            <a:off x="2739051" y="1731275"/>
            <a:ext cx="19821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30" name="Google Shape;330;p36"/>
          <p:cNvSpPr/>
          <p:nvPr/>
        </p:nvSpPr>
        <p:spPr>
          <a:xfrm>
            <a:off x="4721150" y="2058150"/>
            <a:ext cx="5142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31" name="Google Shape;331;p36"/>
          <p:cNvSpPr/>
          <p:nvPr/>
        </p:nvSpPr>
        <p:spPr>
          <a:xfrm>
            <a:off x="4721150" y="2358975"/>
            <a:ext cx="19821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32" name="Google Shape;332;p36"/>
          <p:cNvSpPr/>
          <p:nvPr/>
        </p:nvSpPr>
        <p:spPr>
          <a:xfrm flipH="1">
            <a:off x="5832400" y="2656600"/>
            <a:ext cx="11988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33" name="Google Shape;333;p36"/>
          <p:cNvSpPr/>
          <p:nvPr/>
        </p:nvSpPr>
        <p:spPr>
          <a:xfrm flipH="1">
            <a:off x="6601300" y="2959763"/>
            <a:ext cx="4299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24A3B"/>
              </a:solidFill>
              <a:latin typeface="Arial"/>
              <a:ea typeface="Arial"/>
              <a:cs typeface="Arial"/>
              <a:sym typeface="Arial"/>
            </a:endParaRPr>
          </a:p>
        </p:txBody>
      </p:sp>
      <p:sp>
        <p:nvSpPr>
          <p:cNvPr id="334" name="Google Shape;334;p36"/>
          <p:cNvSpPr/>
          <p:nvPr/>
        </p:nvSpPr>
        <p:spPr>
          <a:xfrm>
            <a:off x="6254875" y="3254150"/>
            <a:ext cx="9186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24A3B"/>
              </a:solidFill>
              <a:latin typeface="Arial"/>
              <a:ea typeface="Arial"/>
              <a:cs typeface="Arial"/>
              <a:sym typeface="Arial"/>
            </a:endParaRPr>
          </a:p>
        </p:txBody>
      </p:sp>
      <p:sp>
        <p:nvSpPr>
          <p:cNvPr id="335" name="Google Shape;335;p36"/>
          <p:cNvSpPr/>
          <p:nvPr/>
        </p:nvSpPr>
        <p:spPr>
          <a:xfrm>
            <a:off x="6254875" y="3570450"/>
            <a:ext cx="12672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24A3B"/>
              </a:solidFill>
              <a:latin typeface="Arial"/>
              <a:ea typeface="Arial"/>
              <a:cs typeface="Arial"/>
              <a:sym typeface="Arial"/>
            </a:endParaRPr>
          </a:p>
        </p:txBody>
      </p:sp>
      <p:sp>
        <p:nvSpPr>
          <p:cNvPr id="336" name="Google Shape;336;p36"/>
          <p:cNvSpPr/>
          <p:nvPr/>
        </p:nvSpPr>
        <p:spPr>
          <a:xfrm flipH="1">
            <a:off x="7031450" y="3884425"/>
            <a:ext cx="5142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24A3B"/>
              </a:solidFill>
              <a:latin typeface="Arial"/>
              <a:ea typeface="Arial"/>
              <a:cs typeface="Arial"/>
              <a:sym typeface="Arial"/>
            </a:endParaRPr>
          </a:p>
        </p:txBody>
      </p:sp>
      <p:sp>
        <p:nvSpPr>
          <p:cNvPr id="337" name="Google Shape;337;p36"/>
          <p:cNvSpPr/>
          <p:nvPr/>
        </p:nvSpPr>
        <p:spPr>
          <a:xfrm>
            <a:off x="7545650" y="4203000"/>
            <a:ext cx="5829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24A3B"/>
              </a:solidFill>
              <a:latin typeface="Arial"/>
              <a:ea typeface="Arial"/>
              <a:cs typeface="Arial"/>
              <a:sym typeface="Arial"/>
            </a:endParaRPr>
          </a:p>
        </p:txBody>
      </p:sp>
      <p:sp>
        <p:nvSpPr>
          <p:cNvPr id="338" name="Google Shape;338;p36"/>
          <p:cNvSpPr txBox="1"/>
          <p:nvPr/>
        </p:nvSpPr>
        <p:spPr>
          <a:xfrm>
            <a:off x="401900" y="418400"/>
            <a:ext cx="53706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TENTATIVE WORK PLAN</a:t>
            </a:r>
            <a:endParaRPr b="1" i="0" sz="2300" u="none" cap="none" strike="noStrike">
              <a:solidFill>
                <a:srgbClr val="252827"/>
              </a:solidFill>
              <a:latin typeface="Oswald"/>
              <a:ea typeface="Oswald"/>
              <a:cs typeface="Oswald"/>
              <a:sym typeface="Oswald"/>
            </a:endParaRPr>
          </a:p>
        </p:txBody>
      </p:sp>
      <p:sp>
        <p:nvSpPr>
          <p:cNvPr id="339" name="Google Shape;339;p36"/>
          <p:cNvSpPr/>
          <p:nvPr/>
        </p:nvSpPr>
        <p:spPr>
          <a:xfrm>
            <a:off x="524675" y="307100"/>
            <a:ext cx="9912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4" name="Shape 344"/>
        <p:cNvGrpSpPr/>
        <p:nvPr/>
      </p:nvGrpSpPr>
      <p:grpSpPr>
        <a:xfrm>
          <a:off x="0" y="0"/>
          <a:ext cx="0" cy="0"/>
          <a:chOff x="0" y="0"/>
          <a:chExt cx="0" cy="0"/>
        </a:xfrm>
      </p:grpSpPr>
      <p:sp>
        <p:nvSpPr>
          <p:cNvPr id="348" name="Google Shape;34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49" name="TextBox 348"/>
          <p:cNvSpPr txBox="1"/>
          <p:nvPr/>
        </p:nvSpPr>
        <p:spPr>
          <a:xfrm>
            <a:off x="400000" y="80000"/>
            <a:ext cx="8200000" cy="4700000"/>
          </a:xfrm>
          <a:prstGeom prst="rect">
            <a:avLst/>
          </a:prstGeom>
          <a:noFill/>
        </p:spPr>
        <p:txBody>
          <a:bodyPr wrap="square">
            <a:spAutoFit/>
          </a:bodyPr>
          <a:lstStyle/>
          <a:p>
            <a:pPr>
              <a:spcAft>
                <a:spcPts val="1000"/>
              </a:spcAft>
              <a:defRPr sz="2200" b="1">
                <a:solidFill>
                  <a:srgbClr val="003366"/>
                </a:solidFill>
              </a:defRPr>
            </a:pPr>
            <a:r>
              <a:t>REFERENCES</a:t>
            </a:r>
          </a:p>
          <a:p>
            <a:pPr>
              <a:spcAft>
                <a:spcPts val="300"/>
              </a:spcAft>
              <a:defRPr sz="950">
                <a:solidFill>
                  <a:srgbClr val="323232"/>
                </a:solidFill>
              </a:defRPr>
            </a:pPr>
            <a:r>
              <a:t>[1] Cummins et al. (2015). A Review of Depression and Suicide Risk Assessment Using Speech Analysis. Speech Communication.</a:t>
            </a:r>
          </a:p>
          <a:p>
            <a:pPr>
              <a:spcAft>
                <a:spcPts val="300"/>
              </a:spcAft>
              <a:defRPr sz="950">
                <a:solidFill>
                  <a:srgbClr val="323232"/>
                </a:solidFill>
              </a:defRPr>
            </a:pPr>
            <a:r>
              <a:t>[2] Lee et al. (2024). CACTUS: Towards Psychological Counseling Conversations using CBT. arXiv:2407.03103.</a:t>
            </a:r>
          </a:p>
          <a:p>
            <a:pPr>
              <a:spcAft>
                <a:spcPts val="300"/>
              </a:spcAft>
              <a:defRPr sz="950">
                <a:solidFill>
                  <a:srgbClr val="323232"/>
                </a:solidFill>
              </a:defRPr>
            </a:pPr>
            <a:r>
              <a:t>[3] Shahrokhian et al. (2021). The Effects of CBT in Well-Being and Perceived Stress. Int J Sport Studies Health.</a:t>
            </a:r>
          </a:p>
          <a:p>
            <a:pPr>
              <a:spcAft>
                <a:spcPts val="300"/>
              </a:spcAft>
              <a:defRPr sz="950">
                <a:solidFill>
                  <a:srgbClr val="323232"/>
                </a:solidFill>
              </a:defRPr>
            </a:pPr>
            <a:r>
              <a:t>[4] Sun et al. (2024). Beyond Text: Improving LLMs via Vocal Cues. (Proc. Conference).</a:t>
            </a:r>
          </a:p>
          <a:p>
            <a:pPr>
              <a:spcAft>
                <a:spcPts val="300"/>
              </a:spcAft>
              <a:defRPr sz="950">
                <a:solidFill>
                  <a:srgbClr val="323232"/>
                </a:solidFill>
              </a:defRPr>
            </a:pPr>
            <a:r>
              <a:t>[5] Thirunavukkarasu et al. (2024). Deep Multimodal Fusion for Depression Detection. ACCAI 2024.</a:t>
            </a:r>
          </a:p>
          <a:p>
            <a:pPr>
              <a:spcAft>
                <a:spcPts val="300"/>
              </a:spcAft>
              <a:defRPr sz="950">
                <a:solidFill>
                  <a:srgbClr val="323232"/>
                </a:solidFill>
              </a:defRPr>
            </a:pPr>
            <a:r>
              <a:t>[6] Mitsios et al. (2024). Improved Text Emotion Prediction Using Combined VA Ordinal Classification. NAACL 2024.</a:t>
            </a:r>
          </a:p>
          <a:p>
            <a:pPr>
              <a:spcAft>
                <a:spcPts val="300"/>
              </a:spcAft>
              <a:defRPr sz="950">
                <a:solidFill>
                  <a:srgbClr val="323232"/>
                </a:solidFill>
              </a:defRPr>
            </a:pPr>
            <a:r>
              <a:t>[7] Kim et al. (2025). MIRROR: Multimodal Cognitive Reframing Therapy. EMNLP 2025.</a:t>
            </a:r>
          </a:p>
          <a:p>
            <a:pPr>
              <a:spcAft>
                <a:spcPts val="300"/>
              </a:spcAft>
              <a:defRPr sz="950">
                <a:solidFill>
                  <a:srgbClr val="323232"/>
                </a:solidFill>
              </a:defRPr>
            </a:pPr>
            <a:r>
              <a:t>[8] Yan et al. (2024). Talk With Human-like Agents: PerceptiveAgent. ACL 2024.</a:t>
            </a:r>
          </a:p>
          <a:p>
            <a:pPr>
              <a:spcAft>
                <a:spcPts val="300"/>
              </a:spcAft>
              <a:defRPr sz="950">
                <a:solidFill>
                  <a:srgbClr val="323232"/>
                </a:solidFill>
              </a:defRPr>
            </a:pPr>
            <a:r>
              <a:t>[9] Wang &amp; Wu (2024). Evaluation of Data Inconsistency for Multi-Modal Sentiment Analysis. arXiv:2406.03004.</a:t>
            </a:r>
          </a:p>
          <a:p>
            <a:pPr>
              <a:spcAft>
                <a:spcPts val="300"/>
              </a:spcAft>
              <a:defRPr sz="950">
                <a:solidFill>
                  <a:srgbClr val="323232"/>
                </a:solidFill>
              </a:defRPr>
            </a:pPr>
            <a:r>
              <a:t>[10] Haydarov et al. (2025). Towards AI-Assisted Psychotherapy: Emotion-Guided Generative Interventions. EMNLP 2025.</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id="354" name="Google Shape;354;p38"/>
          <p:cNvPicPr preferRelativeResize="0"/>
          <p:nvPr/>
        </p:nvPicPr>
        <p:blipFill rotWithShape="1">
          <a:blip r:embed="rId3">
            <a:alphaModFix/>
          </a:blip>
          <a:srcRect b="43816" l="41697" r="42378" t="42520"/>
          <a:stretch/>
        </p:blipFill>
        <p:spPr>
          <a:xfrm>
            <a:off x="3886740" y="2571750"/>
            <a:ext cx="1370525" cy="661075"/>
          </a:xfrm>
          <a:prstGeom prst="rect">
            <a:avLst/>
          </a:prstGeom>
          <a:noFill/>
          <a:ln>
            <a:noFill/>
          </a:ln>
        </p:spPr>
      </p:pic>
      <p:sp>
        <p:nvSpPr>
          <p:cNvPr id="355" name="Google Shape;355;p38"/>
          <p:cNvSpPr txBox="1"/>
          <p:nvPr/>
        </p:nvSpPr>
        <p:spPr>
          <a:xfrm>
            <a:off x="3121650" y="3232825"/>
            <a:ext cx="29007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252827"/>
                </a:solidFill>
                <a:latin typeface="Oswald"/>
                <a:ea typeface="Oswald"/>
                <a:cs typeface="Oswald"/>
                <a:sym typeface="Oswald"/>
              </a:rPr>
              <a:t>THANK YOU</a:t>
            </a:r>
            <a:endParaRPr b="1" i="0" sz="2400" u="none" cap="none" strike="noStrike">
              <a:solidFill>
                <a:srgbClr val="252827"/>
              </a:solidFill>
              <a:latin typeface="Oswald"/>
              <a:ea typeface="Oswald"/>
              <a:cs typeface="Oswald"/>
              <a:sym typeface="Oswald"/>
            </a:endParaRPr>
          </a:p>
        </p:txBody>
      </p:sp>
      <p:sp>
        <p:nvSpPr>
          <p:cNvPr id="356" name="Google Shape;356;p38"/>
          <p:cNvSpPr txBox="1"/>
          <p:nvPr/>
        </p:nvSpPr>
        <p:spPr>
          <a:xfrm>
            <a:off x="3121663" y="3643200"/>
            <a:ext cx="2900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1" lang="en" sz="1200" u="none" cap="none" strike="noStrike">
                <a:solidFill>
                  <a:srgbClr val="252827"/>
                </a:solidFill>
                <a:latin typeface="Montserrat"/>
                <a:ea typeface="Montserrat"/>
                <a:cs typeface="Montserrat"/>
                <a:sym typeface="Montserrat"/>
              </a:rPr>
              <a:t>for your attention</a:t>
            </a:r>
            <a:endParaRPr b="0" i="1" sz="1200" u="none" cap="none" strike="noStrike">
              <a:solidFill>
                <a:srgbClr val="252827"/>
              </a:solidFill>
              <a:latin typeface="Montserrat"/>
              <a:ea typeface="Montserrat"/>
              <a:cs typeface="Montserrat"/>
              <a:sym typeface="Montserrat"/>
            </a:endParaRPr>
          </a:p>
        </p:txBody>
      </p:sp>
      <p:sp>
        <p:nvSpPr>
          <p:cNvPr id="357" name="Google Shape;357;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